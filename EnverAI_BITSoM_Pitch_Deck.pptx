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ikh Amaan" userId="a8b21c8d22220733" providerId="LiveId" clId="{59A7FBF2-3DE9-4B30-BC43-C2099D3A45B0}"/>
    <pc:docChg chg="modSld">
      <pc:chgData name="Shaikh Amaan" userId="a8b21c8d22220733" providerId="LiveId" clId="{59A7FBF2-3DE9-4B30-BC43-C2099D3A45B0}" dt="2026-09-05T14:47:45.183" v="107" actId="20577"/>
      <pc:docMkLst>
        <pc:docMk/>
      </pc:docMkLst>
      <pc:sldChg chg="modSp mod">
        <pc:chgData name="Shaikh Amaan" userId="a8b21c8d22220733" providerId="LiveId" clId="{59A7FBF2-3DE9-4B30-BC43-C2099D3A45B0}" dt="2026-09-04T20:26:14.838" v="42" actId="20577"/>
        <pc:sldMkLst>
          <pc:docMk/>
          <pc:sldMk cId="0" sldId="256"/>
        </pc:sldMkLst>
        <pc:spChg chg="mod">
          <ac:chgData name="Shaikh Amaan" userId="a8b21c8d22220733" providerId="LiveId" clId="{59A7FBF2-3DE9-4B30-BC43-C2099D3A45B0}" dt="2026-09-04T20:25:35.803" v="4" actId="20577"/>
          <ac:spMkLst>
            <pc:docMk/>
            <pc:sldMk cId="0" sldId="256"/>
            <ac:spMk id="13" creationId="{00000000-0000-0000-0000-000000000000}"/>
          </ac:spMkLst>
        </pc:spChg>
        <pc:spChg chg="mod">
          <ac:chgData name="Shaikh Amaan" userId="a8b21c8d22220733" providerId="LiveId" clId="{59A7FBF2-3DE9-4B30-BC43-C2099D3A45B0}" dt="2026-09-04T20:26:14.838" v="42" actId="20577"/>
          <ac:spMkLst>
            <pc:docMk/>
            <pc:sldMk cId="0" sldId="256"/>
            <ac:spMk id="16" creationId="{00000000-0000-0000-0000-000000000000}"/>
          </ac:spMkLst>
        </pc:spChg>
      </pc:sldChg>
      <pc:sldChg chg="modSp mod">
        <pc:chgData name="Shaikh Amaan" userId="a8b21c8d22220733" providerId="LiveId" clId="{59A7FBF2-3DE9-4B30-BC43-C2099D3A45B0}" dt="2026-09-04T20:27:55.002" v="92" actId="20577"/>
        <pc:sldMkLst>
          <pc:docMk/>
          <pc:sldMk cId="0" sldId="257"/>
        </pc:sldMkLst>
        <pc:spChg chg="mod">
          <ac:chgData name="Shaikh Amaan" userId="a8b21c8d22220733" providerId="LiveId" clId="{59A7FBF2-3DE9-4B30-BC43-C2099D3A45B0}" dt="2026-09-04T20:26:44.153" v="55" actId="20577"/>
          <ac:spMkLst>
            <pc:docMk/>
            <pc:sldMk cId="0" sldId="257"/>
            <ac:spMk id="12" creationId="{00000000-0000-0000-0000-000000000000}"/>
          </ac:spMkLst>
        </pc:spChg>
        <pc:spChg chg="mod">
          <ac:chgData name="Shaikh Amaan" userId="a8b21c8d22220733" providerId="LiveId" clId="{59A7FBF2-3DE9-4B30-BC43-C2099D3A45B0}" dt="2026-09-04T20:27:30.767" v="84" actId="20577"/>
          <ac:spMkLst>
            <pc:docMk/>
            <pc:sldMk cId="0" sldId="257"/>
            <ac:spMk id="21" creationId="{00000000-0000-0000-0000-000000000000}"/>
          </ac:spMkLst>
        </pc:spChg>
        <pc:spChg chg="mod">
          <ac:chgData name="Shaikh Amaan" userId="a8b21c8d22220733" providerId="LiveId" clId="{59A7FBF2-3DE9-4B30-BC43-C2099D3A45B0}" dt="2026-09-04T20:27:55.002" v="92" actId="20577"/>
          <ac:spMkLst>
            <pc:docMk/>
            <pc:sldMk cId="0" sldId="257"/>
            <ac:spMk id="26" creationId="{00000000-0000-0000-0000-000000000000}"/>
          </ac:spMkLst>
        </pc:spChg>
      </pc:sldChg>
      <pc:sldChg chg="modSp mod">
        <pc:chgData name="Shaikh Amaan" userId="a8b21c8d22220733" providerId="LiveId" clId="{59A7FBF2-3DE9-4B30-BC43-C2099D3A45B0}" dt="2026-09-05T14:47:26.396" v="105" actId="20577"/>
        <pc:sldMkLst>
          <pc:docMk/>
          <pc:sldMk cId="0" sldId="267"/>
        </pc:sldMkLst>
        <pc:spChg chg="mod">
          <ac:chgData name="Shaikh Amaan" userId="a8b21c8d22220733" providerId="LiveId" clId="{59A7FBF2-3DE9-4B30-BC43-C2099D3A45B0}" dt="2026-09-05T14:47:26.396" v="105" actId="20577"/>
          <ac:spMkLst>
            <pc:docMk/>
            <pc:sldMk cId="0" sldId="267"/>
            <ac:spMk id="26" creationId="{00000000-0000-0000-0000-000000000000}"/>
          </ac:spMkLst>
        </pc:spChg>
      </pc:sldChg>
      <pc:sldChg chg="modSp mod">
        <pc:chgData name="Shaikh Amaan" userId="a8b21c8d22220733" providerId="LiveId" clId="{59A7FBF2-3DE9-4B30-BC43-C2099D3A45B0}" dt="2026-09-05T14:47:45.183" v="107" actId="20577"/>
        <pc:sldMkLst>
          <pc:docMk/>
          <pc:sldMk cId="0" sldId="268"/>
        </pc:sldMkLst>
        <pc:spChg chg="mod">
          <ac:chgData name="Shaikh Amaan" userId="a8b21c8d22220733" providerId="LiveId" clId="{59A7FBF2-3DE9-4B30-BC43-C2099D3A45B0}" dt="2026-09-05T14:47:45.183" v="107" actId="20577"/>
          <ac:spMkLst>
            <pc:docMk/>
            <pc:sldMk cId="0" sldId="268"/>
            <ac:spMk id="9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6656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BITSoM vertex  |  H2S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858000" y="411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0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Builders Pitch Fest 2026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0" y="3063240"/>
            <a:ext cx="12191695" cy="73152"/>
          </a:xfrm>
          <a:prstGeom prst="rect">
            <a:avLst/>
          </a:prstGeom>
          <a:solidFill>
            <a:srgbClr val="F05A28"/>
          </a:solidFill>
          <a:ln w="12700">
            <a:solidFill>
              <a:srgbClr val="F05A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31520" y="1051560"/>
            <a:ext cx="7315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4200"/>
              </a:lnSpc>
              <a:buNone/>
            </a:pPr>
            <a:r>
              <a:rPr lang="en-US" sz="3800" b="1" dirty="0">
                <a:solidFill>
                  <a:srgbClr val="F0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Builders</a:t>
            </a:r>
            <a:endParaRPr lang="en-US" sz="3800" dirty="0"/>
          </a:p>
          <a:p>
            <a:pPr marL="0" indent="0">
              <a:lnSpc>
                <a:spcPts val="4200"/>
              </a:lnSpc>
              <a:buNone/>
            </a:pPr>
            <a:r>
              <a:rPr lang="en-US" sz="3800" b="1" dirty="0">
                <a:solidFill>
                  <a:srgbClr val="F0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Fest 2026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731520" y="3337560"/>
            <a:ext cx="10728655" cy="2926080"/>
          </a:xfrm>
          <a:prstGeom prst="roundRect">
            <a:avLst>
              <a:gd name="adj" fmla="val 3750"/>
            </a:avLst>
          </a:prstGeom>
          <a:solidFill>
            <a:srgbClr val="F8FAFC"/>
          </a:solidFill>
          <a:ln w="1524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1097280" y="3566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SUBMISSION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97280" y="3886200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EnverAI Artificer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097280" y="4526280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Multi-Agent Alternate-Data Underwriting Citadel for New-to-Credit (NTC) MSMEs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97280" y="5166360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1097280" y="5166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Vertex AI &amp; Gemini 2.5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3360" y="5166360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4023360" y="5166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TAT: &lt; 150 Seconds (vs 14 Days)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40880" y="5166360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7040880" y="5166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Extraction on 1,000+ Records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97280" y="5715000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Presenter: EnverAI Tech Pvt Ltd. • Team Enver-AI • Contact: hanabi@enveraitech.com • Website: enveraitech.com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05A28"/>
          </a:solidFill>
          <a:ln w="12700">
            <a:solidFill>
              <a:srgbClr val="F05A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9260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BITSoM vertex  |  H2S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858000" y="29260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0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Builders Pitch Fest 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658368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IMPORTANT — Submission Framework &amp; Evaluation Alignment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05A28"/>
          </a:solidFill>
          <a:ln w="12700">
            <a:solidFill>
              <a:srgbClr val="F05A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731520" y="1371600"/>
            <a:ext cx="10728655" cy="5120640"/>
          </a:xfrm>
          <a:prstGeom prst="roundRect">
            <a:avLst>
              <a:gd name="adj" fmla="val 2143"/>
            </a:avLst>
          </a:prstGeom>
          <a:solidFill>
            <a:srgbClr val="F8FAFC"/>
          </a:solidFill>
          <a:ln w="1524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005840" y="1554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BITSoM Vertex Evaluation Standard &amp; Prototype Alignment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05840" y="19202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deck rigorously evaluates EnverAI Artificer against the 6 evaluation pillars prescribed by the BITSoM Vertex review board, grounded in our working prototype, verified telemetry, and empirical data: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05840" y="2423160"/>
            <a:ext cx="49377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1143000" y="2532888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Clearly Validated Problem &amp; Market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143000" y="2807208"/>
            <a:ext cx="4663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Addresses the $300B+ credit deficit for 63M Indian MSMEs where 70% of NTC applicants are rejected by legacy CIBIL bureau scoring(ours incl).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2423160"/>
            <a:ext cx="49377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263640" y="2532888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Meaningful &amp; Responsible AI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263640" y="2807208"/>
            <a:ext cx="4663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3-agent persona segregation (Fetcha, Geek, Orc) with Gemini 2.5, deterministic financial math, and NeMo zero-hallucination guardrails.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005840" y="3703320"/>
            <a:ext cx="49377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1143000" y="3813048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Scalable Technical Depth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43000" y="4087368"/>
            <a:ext cx="4663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Decoupled enterprise architecture (Node.js/Express, React 19, Google Vertex AI) with Server-Sent Events (SSE) and line-item audit trails.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26480" y="3703320"/>
            <a:ext cx="49377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6263640" y="3813048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Product Maturity &amp; Traction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263640" y="4087368"/>
            <a:ext cx="4663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 across IDBI Indian bank records &amp; GST returns (AgamiAI open dataset) with 100% extraction accuracy and live SaaS portal.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005840" y="4983480"/>
            <a:ext cx="49377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1143000" y="5093208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Sustainable Business Model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43000" y="5367528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High-margin B2B API pricing ($0.50-$2.00/evaluation) vs $0.05 LLM cost (92%+ gross margin), delivering 99% cost reduction to banks.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26480" y="4983480"/>
            <a:ext cx="49377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6263640" y="5093208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Growth via </a:t>
            </a:r>
            <a:r>
              <a:rPr lang="en-US" sz="1150" b="1" dirty="0" err="1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BITSoM</a:t>
            </a:r>
            <a:r>
              <a:rPr lang="en-US" sz="11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Vertex &amp; Hub71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263640" y="5367528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Leveraging incubator network to navigate 6-month enterprise bank procurement cycles and access live shadow-underwriting sandboxes.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9260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BITSoM vertex  |  H2S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858000" y="29260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0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Builders Pitch Fest 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658368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Snapshot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05A28"/>
          </a:solidFill>
          <a:ln w="12700">
            <a:solidFill>
              <a:srgbClr val="F05A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731520" y="1371600"/>
            <a:ext cx="5212080" cy="5120640"/>
          </a:xfrm>
          <a:prstGeom prst="roundRect">
            <a:avLst>
              <a:gd name="adj" fmla="val 2143"/>
            </a:avLst>
          </a:prstGeom>
          <a:solidFill>
            <a:srgbClr val="F8FAFC"/>
          </a:solidFill>
          <a:ln w="1524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005840" y="1554480"/>
            <a:ext cx="4663440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1097280" y="1554480"/>
            <a:ext cx="4480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WHAT DOES YOUR STARTUP DO?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5840" y="201168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MSME Credit Intelligence &amp; Underwriting Citadel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2560320"/>
            <a:ext cx="466344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Core Value Proposition: </a:t>
            </a: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EnverAI Artificer is an autonomous, multi-agent underwriting platform engineered specifically for New-to-Credit (NTC) MSMEs.
</a:t>
            </a: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Ingests Unstructured Alternate Data: </a:t>
            </a: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Eliminates manual file audits by reconciling multi-page bank statements (PDF/CSV), Account Aggregator (AA / Sahamati) JSON feeds, GST returns (GSTR-1, GSTR-3B), and public regulatory records (MCA21, litigation databases).
</a:t>
            </a: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Instant Verifiable Health Card: </a:t>
            </a: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Synthesizes an institutional-grade Credit Health Card (Score: 300–900, Risk Tier: LOW/MED/HIGH, quantitative debt/liquidity ratios, and forensic line-item citations) in under 55 seconds, reducing decision latency by 99.5%.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48095" y="1371600"/>
            <a:ext cx="5212080" cy="5120640"/>
          </a:xfrm>
          <a:prstGeom prst="roundRect">
            <a:avLst>
              <a:gd name="adj" fmla="val 2143"/>
            </a:avLst>
          </a:prstGeom>
          <a:solidFill>
            <a:srgbClr val="F8FAFC"/>
          </a:solidFill>
          <a:ln w="1524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6522415" y="1554480"/>
            <a:ext cx="4663440" cy="347472"/>
          </a:xfrm>
          <a:prstGeom prst="roundRect">
            <a:avLst>
              <a:gd name="adj" fmla="val 15789"/>
            </a:avLst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613855" y="1554480"/>
            <a:ext cx="4480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WHAT MILESTONE BEST REPRESENTS YOUR PROGRESS SO FAR?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522415" y="201168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Multi-Agent Pipeline Validated on 1,000+ Indian Financial Datasets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522415" y="2560320"/>
            <a:ext cx="466344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Functional Multi-Agent Google Gemini Engine: </a:t>
            </a: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and benchmarked our 3-agent pipeline using Gemini 2.5 Flash (Fetcha) for sub-second ingestion/OCR and Gemini 2.5 Pro (Geek &amp; Orc) for mathematical ratio verification and synthesis.
</a:t>
            </a: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100% Extraction Accuracy across 1,000+ Records: </a:t>
            </a: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Tested and validated on real-world Indian bank statements and GST filings from the AgamiAI open dataset with zero hallucinations and exact line-item source traceability.
</a:t>
            </a: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Deployed Production-Ready Underwriting Cockpit: </a:t>
            </a: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web application featuring real-time Server-Sent Events (SSE) telemetry, Conversational XAI Underwriter Drawer, and enterprise security domain gating.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9260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BITSoM vertex  |  H2S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858000" y="29260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0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Builders Pitch Fest 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658368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Understanding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05A28"/>
          </a:solidFill>
          <a:ln w="12700">
            <a:solidFill>
              <a:srgbClr val="F05A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731520" y="1371600"/>
            <a:ext cx="5212080" cy="5120640"/>
          </a:xfrm>
          <a:prstGeom prst="roundRect">
            <a:avLst>
              <a:gd name="adj" fmla="val 2143"/>
            </a:avLst>
          </a:prstGeom>
          <a:solidFill>
            <a:srgbClr val="F8FAFC"/>
          </a:solidFill>
          <a:ln w="1524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005840" y="1554480"/>
            <a:ext cx="4663440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1097280" y="1554480"/>
            <a:ext cx="4480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WHAT PROBLEM ARE YOU SOLVING, AND WHO EXPERIENCES IT?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05840" y="201168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 Bureaus Exclude 70% of Creditworthy NTC MSMEs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2560320"/>
            <a:ext cx="466344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Problem:
</a:t>
            </a: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$300B+ MSME Credit Void: </a:t>
            </a: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63M+ Indian MSMEs generate 30% of GDP, yet 70% of New-to-Credit applicants are rejected due to zero legacy CIBIL/bureau repayment footprints.
</a:t>
            </a: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5 to 14 Days Underwriting Turnaround (TAT): </a:t>
            </a: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Lenders rely on slow, manual CA cross-verification, physical shop audits, and line-by-line bank PDF scanning.
</a:t>
            </a: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High Unit Cost ($25-$50 / ₹2,000-₹4,000): </a:t>
            </a: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processing makes small-ticket working capital loans (&lt;₹10 Lakhs) commercially unviable for banks.
</a:t>
            </a:r>
            <a:r>
              <a:rPr lang="en-US" sz="1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Experiences It Most Acutely:
</a:t>
            </a: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63M+ Indian MSME Owners: Starved of formal credit, forced into predatory informal lenders charging 30-60% annual interest.</a:t>
            </a: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Commercial Banks, SFBs &amp; NBFCs: Credit officers overwhelmed with paperwork, missing loan growth targets.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48095" y="1371600"/>
            <a:ext cx="5212080" cy="5120640"/>
          </a:xfrm>
          <a:prstGeom prst="roundRect">
            <a:avLst>
              <a:gd name="adj" fmla="val 2143"/>
            </a:avLst>
          </a:prstGeom>
          <a:solidFill>
            <a:srgbClr val="F8FAFC"/>
          </a:solidFill>
          <a:ln w="1524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6522415" y="1554480"/>
            <a:ext cx="4663440" cy="347472"/>
          </a:xfrm>
          <a:prstGeom prst="roundRect">
            <a:avLst>
              <a:gd name="adj" fmla="val 15789"/>
            </a:avLst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613855" y="1554480"/>
            <a:ext cx="4480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WHAT EVIDENCE VALIDATES THIS AS A MEANINGFUL PROBLEM?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522415" y="201168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Documented Macro Gap Meets India Stack Opportunity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522415" y="2560320"/>
            <a:ext cx="466344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Empirical Evidence &amp; Market Validation:
</a:t>
            </a: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$350B+ Documented Addressable Credit Gap: </a:t>
            </a: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Documented in exhaustive research by the Reserve Bank of India (U.K. Sinha Committee) and the International Finance Corporation (IFC).
</a:t>
            </a: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Data-Rich but Intelligence-Poor: </a:t>
            </a: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India Stack (Account Aggregator / Sahamati, GSTN, ULI) makes raw transactional data digitally accessible via API, yet 85%+ of financial institutions lack automated cognitive software to synthesize and audit it.
</a:t>
            </a: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Strict Regulatory XAI Mandate: </a:t>
            </a: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RBI Digital Lending Guidelines strictly prohibit 'black-box' opaque AI scoring. Lenders are legally required to provide verifiable reasons and audit trails for every credit decision — which Artificer natively provides through exact line-item citations.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9260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BITSoM vertex  |  H2S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858000" y="29260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0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Builders Pitch Fest 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658368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&amp; Market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05A28"/>
          </a:solidFill>
          <a:ln w="12700">
            <a:solidFill>
              <a:srgbClr val="F05A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731520" y="1371600"/>
            <a:ext cx="5212080" cy="5120640"/>
          </a:xfrm>
          <a:prstGeom prst="roundRect">
            <a:avLst>
              <a:gd name="adj" fmla="val 2143"/>
            </a:avLst>
          </a:prstGeom>
          <a:solidFill>
            <a:srgbClr val="F8FAFC"/>
          </a:solidFill>
          <a:ln w="1524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005840" y="1554480"/>
            <a:ext cx="4663440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1097280" y="1554480"/>
            <a:ext cx="4480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WHO IS YOUR IDEAL CUSTOMER &amp; WHO MAKES BUYING DECISIONS?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05840" y="201168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Institutional Lenders &amp; Digital Co-Lending Ecosystem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2560320"/>
            <a:ext cx="466344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Customer Profile (ICP):
</a:t>
            </a: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Tier 1 &amp; 2 Commercial Banks: </a:t>
            </a: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and private sector lenders (IDBI, SBI, HDFC, ICICI) seeking to fulfill mandatory MSME Priority Sector Lending (PSL) quotas efficiently.
</a:t>
            </a: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Small Finance Banks (SFBs) &amp; NBFCs: </a:t>
            </a: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 Small Finance, Equitas, Tata Capital, Aditya Birla Capital scaling unsecured business loans.
</a:t>
            </a: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Digital Fintech Co-Lenders: </a:t>
            </a: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OCEN &amp; ULI platforms needing sub-minute pre-underwriting APIs.
</a:t>
            </a:r>
            <a:r>
              <a:rPr lang="en-US" sz="1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 Buyers &amp; Stakeholders:
</a:t>
            </a: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Chief Risk Officer (CRO) &amp; Chief Credit Officer (CCO): Require default prevention, mathematical accuracy, and RBI audit compliance.</a:t>
            </a: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Head of MSME / Digital Lending: Drives loan disbursement volume and lower cost-per-file.</a:t>
            </a: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User Personas: Credit Underwriters &amp; Loan Officers.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48095" y="1371600"/>
            <a:ext cx="5212080" cy="5120640"/>
          </a:xfrm>
          <a:prstGeom prst="roundRect">
            <a:avLst>
              <a:gd name="adj" fmla="val 2143"/>
            </a:avLst>
          </a:prstGeom>
          <a:solidFill>
            <a:srgbClr val="F8FAFC"/>
          </a:solidFill>
          <a:ln w="1524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6522415" y="1554480"/>
            <a:ext cx="4663440" cy="347472"/>
          </a:xfrm>
          <a:prstGeom prst="roundRect">
            <a:avLst>
              <a:gd name="adj" fmla="val 15789"/>
            </a:avLst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613855" y="1554480"/>
            <a:ext cx="4480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HOW LARGE IS THE OPPORTUNITY YOU ARE TARGETING?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522415" y="201168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$1.2B SAM in Indian MSME Underwriting Intelligence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522415" y="2606040"/>
            <a:ext cx="46634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6659575" y="269748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TAM: $530 Billion (₹44 Lakh Cr)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659575" y="2953512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Indian MSME commercial credit market opportunity.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522415" y="3520440"/>
            <a:ext cx="46634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6659575" y="361188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SAM: $1.2 Billion (₹10,000 Cr)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59575" y="3867912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technology spend on credit underwriting, appraisal software &amp; financial data ingestion across 1,200+ regulated lending entities processing ~50M files/yr.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522415" y="4434840"/>
            <a:ext cx="46634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6659575" y="452628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SOM: $45 Million ARR (₹375 Cr)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59575" y="4782312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Capturing 3-5% of digital MSME loan origination volume across Indian commercial banks &amp; SFBs within 4 years.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522415" y="544068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Monetization: ₹50 ($0.60)/API call (92%+ gross margin over $0.05 LLM cost) + $25k-$100k/yr enterprise licenses.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9260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BITSoM vertex  |  H2S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858000" y="29260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0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Builders Pitch Fest 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658368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Overview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05A28"/>
          </a:solidFill>
          <a:ln w="12700">
            <a:solidFill>
              <a:srgbClr val="F05A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731520" y="1371600"/>
            <a:ext cx="10728655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524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005840" y="148132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WHAT IS YOUR SOLUTION, AND HOW DOES IT SOLVE THE IDENTIFIED PROBLEM?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005840" y="1755648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EnverAI Artificer is an autonomous multi-agent underwriting citadel that replaces slow, manual 14-day loan evaluations with a 55-second multi-modal computational audit.</a:t>
            </a:r>
            <a:endParaRPr lang="en-US" sz="10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eliminates credit officer paper-pushing by ingesting multi-modal operational data (Bank statements, GST returns, MCA21 registries), deterministically computing financial ratios, and synthesizing a verifiable MSME Health Card (300-900 score) with line-item audit proof.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6217920" cy="3657600"/>
          </a:xfrm>
          <a:prstGeom prst="roundRect">
            <a:avLst>
              <a:gd name="adj" fmla="val 2500"/>
            </a:avLst>
          </a:prstGeom>
          <a:solidFill>
            <a:srgbClr val="F8FAFC"/>
          </a:solidFill>
          <a:ln w="1524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914400" y="297180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CORE CAPABILITIES OF THE PRODUCT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3291840"/>
            <a:ext cx="5852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98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Multi-Modal Ingestion &amp; Normalization: </a:t>
            </a:r>
            <a:r>
              <a:rPr lang="en-US" sz="98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Auto-parses bank statements (PDF/CSV), Account Aggregator JSON, and GSTR-1/3B filings without manual data entry.</a:t>
            </a:r>
            <a:endParaRPr lang="en-US" sz="980" dirty="0"/>
          </a:p>
        </p:txBody>
      </p:sp>
      <p:sp>
        <p:nvSpPr>
          <p:cNvPr id="13" name="Text 11"/>
          <p:cNvSpPr/>
          <p:nvPr/>
        </p:nvSpPr>
        <p:spPr>
          <a:xfrm>
            <a:off x="914400" y="3858768"/>
            <a:ext cx="5852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98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Deterministic Ratio Modeling: </a:t>
            </a:r>
            <a:r>
              <a:rPr lang="en-US" sz="98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Computes Cash Buffer Ratio (&gt;0.15x safety), Annualized Run Rate, and Inward NACH bounce friction.</a:t>
            </a:r>
            <a:endParaRPr lang="en-US" sz="980" dirty="0"/>
          </a:p>
        </p:txBody>
      </p:sp>
      <p:sp>
        <p:nvSpPr>
          <p:cNvPr id="14" name="Text 12"/>
          <p:cNvSpPr/>
          <p:nvPr/>
        </p:nvSpPr>
        <p:spPr>
          <a:xfrm>
            <a:off x="914400" y="4425696"/>
            <a:ext cx="5852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98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GSTR Tax Reconciliation: </a:t>
            </a:r>
            <a:r>
              <a:rPr lang="en-US" sz="98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Cross-checks declared outward sales (GSTR-1) against tax paid (GSTR-3B) to detect turnover misrepresentation.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914400" y="4992624"/>
            <a:ext cx="5852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98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Live Registry Web Scraper: </a:t>
            </a:r>
            <a:r>
              <a:rPr lang="en-US" sz="98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Pulls real-time GSTIN validation, MCA21 director tracking, and court litigation records.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914400" y="5559552"/>
            <a:ext cx="5852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98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Conversational XAI Underwriter Drawer: </a:t>
            </a:r>
            <a:r>
              <a:rPr lang="en-US" sz="98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drawer allowing loan officers to cross-examine decisions with zero hallucinations.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132320" y="2834640"/>
            <a:ext cx="4327855" cy="3657600"/>
          </a:xfrm>
          <a:prstGeom prst="roundRect">
            <a:avLst>
              <a:gd name="adj" fmla="val 2500"/>
            </a:avLst>
          </a:prstGeom>
          <a:solidFill>
            <a:srgbClr val="F8FAFC"/>
          </a:solidFill>
          <a:ln w="1524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7315200" y="297180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MEASURABLE VALUE DELIVERED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0" y="3337560"/>
            <a:ext cx="3962095" cy="658368"/>
          </a:xfrm>
          <a:prstGeom prst="roundRect">
            <a:avLst>
              <a:gd name="adj" fmla="val 11111"/>
            </a:avLst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7452360" y="34107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99.5% TAT Reduction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452360" y="366674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days down to &lt; 55 seconds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315200" y="4069080"/>
            <a:ext cx="3962095" cy="658368"/>
          </a:xfrm>
          <a:prstGeom prst="roundRect">
            <a:avLst>
              <a:gd name="adj" fmla="val 11111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7452360" y="41422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99.8% Cost Savings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452360" y="439826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₹4,000 manual cost to ₹4.20 ($0.05)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315200" y="4800600"/>
            <a:ext cx="3962095" cy="658368"/>
          </a:xfrm>
          <a:prstGeom prst="roundRect">
            <a:avLst>
              <a:gd name="adj" fmla="val 11111"/>
            </a:avLst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7452360" y="48737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(0%) Hallucinations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452360" y="512978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deterministic line-item citations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315200" y="5532120"/>
            <a:ext cx="39620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7452360" y="560527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+25% to +40% NTC Approvals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452360" y="58613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Expands credit pool without default risk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9260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BITSoM vertex  |  H2S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858000" y="29260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0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Builders Pitch Fest 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658368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&amp; AI Architecture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05A28"/>
          </a:solidFill>
          <a:ln w="12700">
            <a:solidFill>
              <a:srgbClr val="F05A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731520" y="1371600"/>
            <a:ext cx="6217920" cy="5120640"/>
          </a:xfrm>
          <a:prstGeom prst="roundRect">
            <a:avLst>
              <a:gd name="adj" fmla="val 2143"/>
            </a:avLst>
          </a:prstGeom>
          <a:solidFill>
            <a:srgbClr val="F8FAFC"/>
          </a:solidFill>
          <a:ln w="1524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14400" y="155448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END-TO-END ARCHITECTURE &amp; DATA FLOW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1874520"/>
            <a:ext cx="58521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98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Ingestion &amp; Buffer Layer: </a:t>
            </a:r>
            <a:r>
              <a:rPr lang="en-US" sz="98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 client streams statements/CSVs to Node.js/Express API; temporary in-memory buffering with zero-trace post-processing scrubbing.
</a:t>
            </a:r>
            <a:r>
              <a:rPr lang="en-US" sz="98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Agent 1 - FETCHA (Gemini 2.5 Flash): </a:t>
            </a:r>
            <a:r>
              <a:rPr lang="en-US" sz="98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Parses high-density tabular statements in ~5.8s; executes live scraping for GSTIN status and MCA21 corporate registry data.
</a:t>
            </a:r>
            <a:r>
              <a:rPr lang="en-US" sz="98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Agent 2 - GEEK (Gemini 2.5 Pro): </a:t>
            </a:r>
            <a:r>
              <a:rPr lang="en-US" sz="98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Mathematical ratio matrix calculating Cash Buffer, Debt Service Capacity, and GSTR-1 vs 3B turnover alignment.
</a:t>
            </a:r>
            <a:r>
              <a:rPr lang="en-US" sz="98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Agent 3 - ORC (Gemini 2.5 Pro): </a:t>
            </a:r>
            <a:r>
              <a:rPr lang="en-US" sz="98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Chief Credit Officer orchestrating final 300-900 score, risk categorization, and immutable line-item evidence ledger.
</a:t>
            </a:r>
            <a:r>
              <a:rPr lang="en-US" sz="98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Real-Time Cockpit: </a:t>
            </a:r>
            <a:r>
              <a:rPr lang="en-US" sz="98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Server-Sent Events (SSE) stream agent updates to React dashboard.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914400" y="4206240"/>
            <a:ext cx="5852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914400" y="434340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ROLE OF AI &amp; WORKFLOWS POWERED BY IT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4663440"/>
            <a:ext cx="5852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98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Unstructured Tabular Normalization: </a:t>
            </a:r>
            <a:r>
              <a:rPr lang="en-US" sz="98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Handles 50+ divergent Indian bank statement layouts, removing malformed OCR artifacts without data loss.
</a:t>
            </a:r>
            <a:r>
              <a:rPr lang="en-US" sz="98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Multi-Source Anomaly Synthesis: </a:t>
            </a:r>
            <a:r>
              <a:rPr lang="en-US" sz="98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Reconciles mismatches between declared tax turnover vs bank cash deposits.
</a:t>
            </a:r>
            <a:r>
              <a:rPr lang="en-US" sz="98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Conversational XAI Drawer: </a:t>
            </a:r>
            <a:r>
              <a:rPr lang="en-US" sz="98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Empowers underwriters to cross-examine loan decisions via natural language Q&amp;A with direct ledger citations.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7132320" y="1371600"/>
            <a:ext cx="4327855" cy="5120640"/>
          </a:xfrm>
          <a:prstGeom prst="roundRect">
            <a:avLst>
              <a:gd name="adj" fmla="val 2535"/>
            </a:avLst>
          </a:prstGeom>
          <a:solidFill>
            <a:srgbClr val="F8FAFC"/>
          </a:solidFill>
          <a:ln w="1524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7315200" y="155448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CITADEL PIPELINE ARCHITECTURE</a:t>
            </a:r>
            <a:endParaRPr lang="en-US" sz="1100" dirty="0"/>
          </a:p>
        </p:txBody>
      </p:sp>
      <p:pic>
        <p:nvPicPr>
          <p:cNvPr id="15" name="Image 0" descr="C:\Users\dbleg\OneDrive\Desktop\IDBI\assets\deck_images\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920240"/>
            <a:ext cx="3962095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9260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BITSoM vertex  |  H2S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858000" y="29260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0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Builders Pitch Fest 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658368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Advantage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05A28"/>
          </a:solidFill>
          <a:ln w="12700">
            <a:solidFill>
              <a:srgbClr val="F05A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731520" y="1371600"/>
            <a:ext cx="5212080" cy="5120640"/>
          </a:xfrm>
          <a:prstGeom prst="roundRect">
            <a:avLst>
              <a:gd name="adj" fmla="val 2143"/>
            </a:avLst>
          </a:prstGeom>
          <a:solidFill>
            <a:srgbClr val="F8FAFC"/>
          </a:solidFill>
          <a:ln w="1524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005840" y="1554480"/>
            <a:ext cx="4663440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1097280" y="1554480"/>
            <a:ext cx="4480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WHAT ALTERNATIVES EXIST TODAY &amp; HOW DO WE COMPARE?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05840" y="201168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 Bureaus &amp; Brittle OCR vs. Agentic Intelligence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1005840" y="2606040"/>
            <a:ext cx="466344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1143000" y="2679192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 Bureaus (CIBIL/Experian):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143000" y="2935224"/>
            <a:ext cx="4389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92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 2+ years of formal repayment history. Exclude NTC borrowers completely. Artificer evaluates real-time cash flows with 0 bureau track record.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1005840" y="3566160"/>
            <a:ext cx="466344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1143000" y="3639312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Rule Engines (Perfios, Karza):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143000" y="3895344"/>
            <a:ext cx="4389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92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Rigid regex/keyword parsers that break on novel bank statement formats; lack holistic reasoning or tax reconciliation context.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1005840" y="4526280"/>
            <a:ext cx="466344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1143000" y="4599432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LLM Wrappers: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143000" y="4855464"/>
            <a:ext cx="4389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92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Suffer from catastrophic arithmetic hallucinations, ungrounded scoring, and lack banking compliance security.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1005840" y="5486400"/>
            <a:ext cx="466344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1143000" y="5559552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EnverAI Artificer Citadel: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43000" y="5815584"/>
            <a:ext cx="4389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92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Combines high-speed agentic parsing, deterministic ratio math, NeMo guardrails, and line-item evidence citations in &lt; 55s.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6248095" y="1371600"/>
            <a:ext cx="5212080" cy="5120640"/>
          </a:xfrm>
          <a:prstGeom prst="roundRect">
            <a:avLst>
              <a:gd name="adj" fmla="val 2143"/>
            </a:avLst>
          </a:prstGeom>
          <a:solidFill>
            <a:srgbClr val="F8FAFC"/>
          </a:solidFill>
          <a:ln w="1524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6522415" y="1554480"/>
            <a:ext cx="4663440" cy="347472"/>
          </a:xfrm>
          <a:prstGeom prst="roundRect">
            <a:avLst>
              <a:gd name="adj" fmla="val 15789"/>
            </a:avLst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6613855" y="1554480"/>
            <a:ext cx="4480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IF A FOUNDATION MODEL SHIPS THIS TOMORROW, WHY DO WE WIN?</a:t>
            </a:r>
            <a:endParaRPr lang="en-US" sz="920" dirty="0"/>
          </a:p>
        </p:txBody>
      </p:sp>
      <p:sp>
        <p:nvSpPr>
          <p:cNvPr id="26" name="Text 24"/>
          <p:cNvSpPr/>
          <p:nvPr/>
        </p:nvSpPr>
        <p:spPr>
          <a:xfrm>
            <a:off x="6522415" y="201168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Stack Moat, Decoupled Math &amp; Institutional Trust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6522415" y="2560320"/>
            <a:ext cx="466344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Defensibility Moats Against Foundation Models:
</a:t>
            </a: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India Stack &amp; Regulatory Domain Moat: </a:t>
            </a: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LLMs do not understand RBI Fair Lending mandates, Account Aggregator consent flows, or Indian tax nuances (GSTR-1 vs 3B turnover reconciliation).
</a:t>
            </a: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Decoupled Persona Architecture: </a:t>
            </a: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LLM prompt fails on high-density financial arithmetic. We decouple ingestion (Fetcha), deterministic math (Geek), and synthesis (Orc).
</a:t>
            </a: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Enterprise Security Citadel: </a:t>
            </a: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Turnkey enterprise governance: Google SSO domain locks, Citadel password walls, 5-minute silent sentinels, and Slack SecOps alerts.
</a:t>
            </a: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Fine-Tuned Domain Data Flywheel: </a:t>
            </a: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Continually tuned on Indian MSME transactional ledgers and loan default correlation benchmarks.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9260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BITSoM vertex  |  H2S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858000" y="29260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0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Builders Pitch Fest 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658368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 &amp; Roadmap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05A28"/>
          </a:solidFill>
          <a:ln w="12700">
            <a:solidFill>
              <a:srgbClr val="F05A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731520" y="1371600"/>
            <a:ext cx="5212080" cy="5120640"/>
          </a:xfrm>
          <a:prstGeom prst="roundRect">
            <a:avLst>
              <a:gd name="adj" fmla="val 2143"/>
            </a:avLst>
          </a:prstGeom>
          <a:solidFill>
            <a:srgbClr val="F8FAFC"/>
          </a:solidFill>
          <a:ln w="1524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005840" y="1554480"/>
            <a:ext cx="4663440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1097280" y="1554480"/>
            <a:ext cx="4480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WHAT ARE YOUR NEXT MAJOR PRODUCT &amp; BUSINESS MILESTONES?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05840" y="201168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12-Month Institutional Scaling Trajectory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005840" y="2606040"/>
            <a:ext cx="46634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1143000" y="269748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2026: Production Certification &amp; AA Integration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43000" y="2990088"/>
            <a:ext cx="4389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Direct SDK integration with Sahamati Account Aggregators (Setu, Anumati, Finvu).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Complete SOC2 Type II and ISO 27001 banking security audits.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005840" y="3840480"/>
            <a:ext cx="46634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1143000" y="393192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2026: Institutional Pilot Deployments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43000" y="4224528"/>
            <a:ext cx="4389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Launch paid shadow-underwriting pilots with 3 Small Finance Banks (SFBs) &amp; NBFCs.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Evaluate 50,000 live NTC loan files in parallel with human underwriters.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005840" y="5074920"/>
            <a:ext cx="46634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1143000" y="516636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Q1-Q2 2027: Ecosystem Expansion (OCEN &amp; ULI)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43000" y="5458968"/>
            <a:ext cx="4389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Release real-time pre-underwriting API for RBI Unified Lending Interface (ULI) and OCEN 4.0.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Deploy automated post-disbursal early-warning covenant tracking.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248095" y="1371600"/>
            <a:ext cx="5212080" cy="5120640"/>
          </a:xfrm>
          <a:prstGeom prst="roundRect">
            <a:avLst>
              <a:gd name="adj" fmla="val 2143"/>
            </a:avLst>
          </a:prstGeom>
          <a:solidFill>
            <a:srgbClr val="F8FAFC"/>
          </a:solidFill>
          <a:ln w="1524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6522415" y="1554480"/>
            <a:ext cx="4663440" cy="347472"/>
          </a:xfrm>
          <a:prstGeom prst="roundRect">
            <a:avLst>
              <a:gd name="adj" fmla="val 15789"/>
            </a:avLst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6613855" y="1554480"/>
            <a:ext cx="4480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WHAT IS YOUR LONG-TERM VISION FOR THE STARTUP?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522415" y="201168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Autonomous Credit Operating System for Emerging Markets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22415" y="2606040"/>
            <a:ext cx="46634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Global Emerging Markets Expansion: </a:t>
            </a: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Artificer's alternate-data underwriting engine across Southeast Asia, Middle East, and Latin America where MSME credit deficits exceed $1.5 Trillion.
</a:t>
            </a: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Democratizing $100 Billion+ in Inclusive Capital: </a:t>
            </a: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Eliminate collateral requirements for creditworthy small businesses, enabling 100 million micro-merchants to access formal credit at fair interest rates.
</a:t>
            </a: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Ubiquitous Financial Risk Infrastructure: </a:t>
            </a: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the EnverAI Agent OS from origination underwriting into automated loan servicing, dynamic credit line adjustments, and real-time fraud mitigation.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9260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BITSoM vertex  |  H2S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858000" y="29260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0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Builders Pitch Fest 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658368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05A28"/>
          </a:solidFill>
          <a:ln w="12700">
            <a:solidFill>
              <a:srgbClr val="F05A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731520" y="1371600"/>
            <a:ext cx="5212080" cy="5120640"/>
          </a:xfrm>
          <a:prstGeom prst="roundRect">
            <a:avLst>
              <a:gd name="adj" fmla="val 2143"/>
            </a:avLst>
          </a:prstGeom>
          <a:solidFill>
            <a:srgbClr val="F8FAFC"/>
          </a:solidFill>
          <a:ln w="1524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005840" y="1554480"/>
            <a:ext cx="4663440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1097280" y="1554480"/>
            <a:ext cx="4480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WHY IS YOUR TEAM UNIQUELY POSITIONED TO SOLVE THIS?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05840" y="201168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Rare Intersection of FinTech, Multi-Agent AI &amp; System Rigor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005840" y="2560320"/>
            <a:ext cx="466344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2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Proven Execution Velocity: </a:t>
            </a:r>
            <a:r>
              <a:rPr lang="en-US" sz="102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Designed, engineered, benchmarked, and deployed a production-grade multi-agent underwriting platform in record time, validated on 1,000+ real-world financial records.
</a:t>
            </a:r>
            <a:r>
              <a:rPr lang="en-US" sz="102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Obsession with Explainable AI &amp; Zero Hallucinations: </a:t>
            </a:r>
            <a:r>
              <a:rPr lang="en-US" sz="102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Unlike teams building generic chatbots, we engineered isolated persona segregation and deterministic mathematical guardrails to satisfy stringent banking audit standards.
</a:t>
            </a:r>
            <a:r>
              <a:rPr lang="en-US" sz="102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Deep Understanding of Credit Realities: </a:t>
            </a:r>
            <a:r>
              <a:rPr lang="en-US" sz="102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understand that MSME lending isn't just about parsing text — it requires evaluating liquidity buffers, tax compliance regularities, and business resilience under macro stress.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6248095" y="1371600"/>
            <a:ext cx="5212080" cy="5120640"/>
          </a:xfrm>
          <a:prstGeom prst="roundRect">
            <a:avLst>
              <a:gd name="adj" fmla="val 2143"/>
            </a:avLst>
          </a:prstGeom>
          <a:solidFill>
            <a:srgbClr val="F8FAFC"/>
          </a:solidFill>
          <a:ln w="1524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6522415" y="1554480"/>
            <a:ext cx="4663440" cy="347472"/>
          </a:xfrm>
          <a:prstGeom prst="roundRect">
            <a:avLst>
              <a:gd name="adj" fmla="val 15789"/>
            </a:avLst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613855" y="1554480"/>
            <a:ext cx="4480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WHAT DOMAIN &amp; TECHNICAL EXPERTISE DOES THE TEAM BRING?</a:t>
            </a:r>
            <a:endParaRPr lang="en-US" sz="920" dirty="0"/>
          </a:p>
        </p:txBody>
      </p:sp>
      <p:sp>
        <p:nvSpPr>
          <p:cNvPr id="15" name="Text 13"/>
          <p:cNvSpPr/>
          <p:nvPr/>
        </p:nvSpPr>
        <p:spPr>
          <a:xfrm>
            <a:off x="6522415" y="201168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Depth Across Google Vertex AI &amp; Banking Tech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522415" y="2606040"/>
            <a:ext cx="46634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6659575" y="269748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AI &amp; LLM Engineering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59575" y="2990088"/>
            <a:ext cx="4389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Expertise in Google Gemini 2.5 Flash &amp; Pro, Vertex AI SDK, prompt isolation, NeMo guardrail implementations, and structured JSON output guarantees.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522415" y="3840480"/>
            <a:ext cx="46634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6659575" y="393192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Enterprise Cloud Architecture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659575" y="4224528"/>
            <a:ext cx="4389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High-throughput Node.js/Express backends, React 19 frontends, Server-Sent Events (SSE) telemetry, Firebase, and enterprise Docker/VPC deployments.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522415" y="5074920"/>
            <a:ext cx="46634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6659575" y="516636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 FinTech &amp; Regulatory Mastery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59575" y="5458968"/>
            <a:ext cx="4389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Comprehensive knowledge of RBI digital lending regulations, Account Aggregator consent models, GSTN schemas, and banking core integration.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9260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BITSoM vertex  |  H2S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858000" y="29260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0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Builders Pitch Fest 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658368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BITSoM Vertex?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05A28"/>
          </a:solidFill>
          <a:ln w="12700">
            <a:solidFill>
              <a:srgbClr val="F05A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731520" y="1371600"/>
            <a:ext cx="5212080" cy="5120640"/>
          </a:xfrm>
          <a:prstGeom prst="roundRect">
            <a:avLst>
              <a:gd name="adj" fmla="val 2143"/>
            </a:avLst>
          </a:prstGeom>
          <a:solidFill>
            <a:srgbClr val="F8FAFC"/>
          </a:solidFill>
          <a:ln w="1524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005840" y="1554480"/>
            <a:ext cx="4663440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1097280" y="1554480"/>
            <a:ext cx="4480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WHY HAVE YOU APPLIED TO THE BITSOM VERTEX PROGRAMME?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05840" y="201168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Institutional Mentorship &amp; Banking Network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2560320"/>
            <a:ext cx="466344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Mentorship from Senior Banking Leaders: </a:t>
            </a: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guidance from veteran Chief Risk Officers (CROs) and FinTech leaders to refine our 300-900 scoring calibration and enterprise GTM playbook.
</a:t>
            </a: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Institutional Pedigree &amp; Trust: </a:t>
            </a: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banks and SFBs are risk-averse institutions. Incubation with BITSoM Vertex establishes the corporate credibility necessary to close enterprise pilot contracts.
</a:t>
            </a: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Regulatory Sandbox Navigation: </a:t>
            </a: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mentorship to fast-track inclusion into RBI regulatory sandbox cohorts and structured institutional co-lending partnerships.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48095" y="1371600"/>
            <a:ext cx="5212080" cy="5120640"/>
          </a:xfrm>
          <a:prstGeom prst="roundRect">
            <a:avLst>
              <a:gd name="adj" fmla="val 2143"/>
            </a:avLst>
          </a:prstGeom>
          <a:solidFill>
            <a:srgbClr val="F8FAFC"/>
          </a:solidFill>
          <a:ln w="1524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6522415" y="1554480"/>
            <a:ext cx="4663440" cy="347472"/>
          </a:xfrm>
          <a:prstGeom prst="roundRect">
            <a:avLst>
              <a:gd name="adj" fmla="val 15789"/>
            </a:avLst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613855" y="1554480"/>
            <a:ext cx="4480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WHICH CHALLENGE IS CURRENTLY LIMITING YOUR GROWTH?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22415" y="201168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Banking Procurement Cycles &amp; Live Sandbox Access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522415" y="2560320"/>
            <a:ext cx="466344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2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Long Enterprise Sales Cycles (6 to 9 Months): </a:t>
            </a:r>
            <a:r>
              <a:rPr lang="en-US" sz="102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Selling to commercial banks requires navigating bureaucratic committee procurement. BITSoM Vertex provides executive access to CROs/CCOs, shrinking sales cycles from months to weeks.
</a:t>
            </a:r>
            <a:r>
              <a:rPr lang="en-US" sz="102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Access to Live Institutional Shadow-Underwriting: </a:t>
            </a:r>
            <a:r>
              <a:rPr lang="en-US" sz="102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our engine is validated on 1,000+ real records, we need formal banking sandbox partnerships to evaluate live loan files in parallel with human underwriting teams to establish statistical default-prediction proofs.
</a:t>
            </a:r>
            <a:r>
              <a:rPr lang="en-US" sz="102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Catalytic Value: </a:t>
            </a:r>
            <a:r>
              <a:rPr lang="en-US" sz="102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Provides the ecosystem backing to transition Artificer from validated prototype to deployed banking infrastructure.</a:t>
            </a:r>
            <a:endParaRPr lang="en-US" sz="10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9260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BITSoM vertex  |  H2S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858000" y="29260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0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Builders Pitch Fest 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658368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Material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05A28"/>
          </a:solidFill>
          <a:ln w="12700">
            <a:solidFill>
              <a:srgbClr val="F05A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731520" y="1371600"/>
            <a:ext cx="10728655" cy="5120640"/>
          </a:xfrm>
          <a:prstGeom prst="roundRect">
            <a:avLst>
              <a:gd name="adj" fmla="val 2143"/>
            </a:avLst>
          </a:prstGeom>
          <a:solidFill>
            <a:srgbClr val="F8FAFC"/>
          </a:solidFill>
          <a:ln w="1524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005840" y="15544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ARTIFACTS, LIVE PROTOTYPE &amp; VERIFICATION LINKS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05840" y="1965960"/>
            <a:ext cx="1018001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1188720" y="203911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Project Link: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188720" y="2295144"/>
            <a:ext cx="9692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https://enveraitech.in/artificer (Local Development: http://localhost:5173)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005840" y="2715768"/>
            <a:ext cx="1018001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1188720" y="278892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Demo Video (3–5 Minutes):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88720" y="3044952"/>
            <a:ext cx="9692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High-definition walkthrough showcasing multi-agent ingestion, financial ratio matrix, and Conversational XAI Drawer.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005840" y="3465576"/>
            <a:ext cx="1018001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1188720" y="353872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88720" y="3794760"/>
            <a:ext cx="9692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https://enveraitech.com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05840" y="4215384"/>
            <a:ext cx="1018001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1188720" y="428853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Repository: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88720" y="4544568"/>
            <a:ext cx="9692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https://github.com/Amaan-cmd/IDBI-Artificer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05840" y="4965192"/>
            <a:ext cx="1018001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1188720" y="503834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Documentation: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88720" y="5294376"/>
            <a:ext cx="9692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Comprehensive technical specifications in repository root (ARTIFICER.md, IDBI_ARTIFICER_EXPLAINER.md, PRD.md, TRD.md)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005840" y="5715000"/>
            <a:ext cx="1018001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1188720" y="57881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Details: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188720" y="6044184"/>
            <a:ext cx="9692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Founding Team • daddy@enveraitech.com / hanabi@enveraitech.com • EnverAI Tech Inc.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BITSoM vertex  |  H2S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858000" y="411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0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Builders Pitch Fest 2026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0" y="2971800"/>
            <a:ext cx="12191695" cy="73152"/>
          </a:xfrm>
          <a:prstGeom prst="rect">
            <a:avLst/>
          </a:prstGeom>
          <a:solidFill>
            <a:srgbClr val="F05A28"/>
          </a:solidFill>
          <a:ln w="12700">
            <a:solidFill>
              <a:srgbClr val="F05A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7315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4200"/>
              </a:lnSpc>
              <a:buNone/>
            </a:pPr>
            <a:r>
              <a:rPr lang="en-US" sz="3800" b="1" dirty="0">
                <a:solidFill>
                  <a:srgbClr val="F0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Builders</a:t>
            </a:r>
            <a:endParaRPr lang="en-US" sz="3800" dirty="0"/>
          </a:p>
          <a:p>
            <a:pPr marL="0" indent="0">
              <a:lnSpc>
                <a:spcPts val="4200"/>
              </a:lnSpc>
              <a:buNone/>
            </a:pPr>
            <a:r>
              <a:rPr lang="en-US" sz="3800" b="1" dirty="0">
                <a:solidFill>
                  <a:srgbClr val="F0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Fest 2026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731520" y="3246120"/>
            <a:ext cx="10728655" cy="3017520"/>
          </a:xfrm>
          <a:prstGeom prst="roundRect">
            <a:avLst>
              <a:gd name="adj" fmla="val 3636"/>
            </a:avLst>
          </a:prstGeom>
          <a:solidFill>
            <a:srgbClr val="F8FAFC"/>
          </a:solidFill>
          <a:ln w="1524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1097280" y="35204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097280" y="4297680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EnverAI Artificer: Autonomous, Explainable MSME Credit Intelligence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97280" y="480060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excited to partner with BITSoM Vertex to </a:t>
            </a:r>
            <a:r>
              <a:rPr lang="en-US" sz="120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unlock Billions </a:t>
            </a: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MSME credit.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for reviewer questions, prototype demonstration, and deep-dive technical evaluation.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" y="5669280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Contact: daddy@enveraitech.com • Website: enveraitech.com • GitHub: github.com/Amaan-cmd/IDBI-Artificer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05A28"/>
          </a:solidFill>
          <a:ln w="12700">
            <a:solidFill>
              <a:srgbClr val="F05A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1102</TotalTime>
  <Words>2959</Words>
  <Application>Microsoft Office PowerPoint</Application>
  <PresentationFormat>Widescreen</PresentationFormat>
  <Paragraphs>187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5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EnverAI Tech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EnverAI Artificer - BITSoM Vertex Builders Pitch Fest 2026</dc:title>
  <dc:subject>Autonomous MSME Credit Intelligence &amp; Underwriting Citadel</dc:subject>
  <dc:creator>EnverAI Tech Inc.</dc:creator>
  <cp:lastModifiedBy>Shaikh Amaan</cp:lastModifiedBy>
  <cp:revision>1</cp:revision>
  <dcterms:created xsi:type="dcterms:W3CDTF">2026-09-04T20:24:05Z</dcterms:created>
  <dcterms:modified xsi:type="dcterms:W3CDTF">2026-09-05T14:47:50Z</dcterms:modified>
</cp:coreProperties>
</file>