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6A445A-9E0F-4427-8168-6D253F973478}" v="2" dt="2026-09-06T06:28:18.2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ikh Amaan" userId="a8b21c8d22220733" providerId="LiveId" clId="{59A7FBF2-3DE9-4B30-BC43-C2099D3A45B0}"/>
    <pc:docChg chg="modSld">
      <pc:chgData name="Shaikh Amaan" userId="a8b21c8d22220733" providerId="LiveId" clId="{59A7FBF2-3DE9-4B30-BC43-C2099D3A45B0}" dt="2026-09-06T06:33:33.143" v="118" actId="20577"/>
      <pc:docMkLst>
        <pc:docMk/>
      </pc:docMkLst>
      <pc:sldChg chg="modSp mod">
        <pc:chgData name="Shaikh Amaan" userId="a8b21c8d22220733" providerId="LiveId" clId="{59A7FBF2-3DE9-4B30-BC43-C2099D3A45B0}" dt="2026-09-06T06:11:39.826" v="36" actId="20577"/>
        <pc:sldMkLst>
          <pc:docMk/>
          <pc:sldMk cId="0" sldId="256"/>
        </pc:sldMkLst>
        <pc:spChg chg="mod">
          <ac:chgData name="Shaikh Amaan" userId="a8b21c8d22220733" providerId="LiveId" clId="{59A7FBF2-3DE9-4B30-BC43-C2099D3A45B0}" dt="2026-09-06T06:11:39.826" v="36" actId="20577"/>
          <ac:spMkLst>
            <pc:docMk/>
            <pc:sldMk cId="0" sldId="256"/>
            <ac:spMk id="16" creationId="{00000000-0000-0000-0000-000000000000}"/>
          </ac:spMkLst>
        </pc:spChg>
      </pc:sldChg>
      <pc:sldChg chg="modSp mod">
        <pc:chgData name="Shaikh Amaan" userId="a8b21c8d22220733" providerId="LiveId" clId="{59A7FBF2-3DE9-4B30-BC43-C2099D3A45B0}" dt="2026-09-06T06:15:56.847" v="43" actId="20577"/>
        <pc:sldMkLst>
          <pc:docMk/>
          <pc:sldMk cId="0" sldId="261"/>
        </pc:sldMkLst>
        <pc:spChg chg="mod">
          <ac:chgData name="Shaikh Amaan" userId="a8b21c8d22220733" providerId="LiveId" clId="{59A7FBF2-3DE9-4B30-BC43-C2099D3A45B0}" dt="2026-09-06T06:15:49.011" v="41" actId="20577"/>
          <ac:spMkLst>
            <pc:docMk/>
            <pc:sldMk cId="0" sldId="261"/>
            <ac:spMk id="21" creationId="{00000000-0000-0000-0000-000000000000}"/>
          </ac:spMkLst>
        </pc:spChg>
        <pc:spChg chg="mod">
          <ac:chgData name="Shaikh Amaan" userId="a8b21c8d22220733" providerId="LiveId" clId="{59A7FBF2-3DE9-4B30-BC43-C2099D3A45B0}" dt="2026-09-06T06:15:56.847" v="43" actId="20577"/>
          <ac:spMkLst>
            <pc:docMk/>
            <pc:sldMk cId="0" sldId="261"/>
            <ac:spMk id="24" creationId="{00000000-0000-0000-0000-000000000000}"/>
          </ac:spMkLst>
        </pc:spChg>
      </pc:sldChg>
      <pc:sldChg chg="modSp mod">
        <pc:chgData name="Shaikh Amaan" userId="a8b21c8d22220733" providerId="LiveId" clId="{59A7FBF2-3DE9-4B30-BC43-C2099D3A45B0}" dt="2026-09-06T06:25:51.172" v="44" actId="20577"/>
        <pc:sldMkLst>
          <pc:docMk/>
          <pc:sldMk cId="0" sldId="263"/>
        </pc:sldMkLst>
        <pc:spChg chg="mod">
          <ac:chgData name="Shaikh Amaan" userId="a8b21c8d22220733" providerId="LiveId" clId="{59A7FBF2-3DE9-4B30-BC43-C2099D3A45B0}" dt="2026-09-06T06:25:51.172" v="44" actId="20577"/>
          <ac:spMkLst>
            <pc:docMk/>
            <pc:sldMk cId="0" sldId="263"/>
            <ac:spMk id="22" creationId="{00000000-0000-0000-0000-000000000000}"/>
          </ac:spMkLst>
        </pc:spChg>
      </pc:sldChg>
      <pc:sldChg chg="modSp mod">
        <pc:chgData name="Shaikh Amaan" userId="a8b21c8d22220733" providerId="LiveId" clId="{59A7FBF2-3DE9-4B30-BC43-C2099D3A45B0}" dt="2026-09-06T06:33:33.143" v="118" actId="20577"/>
        <pc:sldMkLst>
          <pc:docMk/>
          <pc:sldMk cId="0" sldId="267"/>
        </pc:sldMkLst>
        <pc:spChg chg="mod">
          <ac:chgData name="Shaikh Amaan" userId="a8b21c8d22220733" providerId="LiveId" clId="{59A7FBF2-3DE9-4B30-BC43-C2099D3A45B0}" dt="2026-09-06T06:28:12.098" v="47" actId="1076"/>
          <ac:spMkLst>
            <pc:docMk/>
            <pc:sldMk cId="0" sldId="267"/>
            <ac:spMk id="9" creationId="{00000000-0000-0000-0000-000000000000}"/>
          </ac:spMkLst>
        </pc:spChg>
        <pc:spChg chg="mod">
          <ac:chgData name="Shaikh Amaan" userId="a8b21c8d22220733" providerId="LiveId" clId="{59A7FBF2-3DE9-4B30-BC43-C2099D3A45B0}" dt="2026-09-06T06:28:18.238" v="49"/>
          <ac:spMkLst>
            <pc:docMk/>
            <pc:sldMk cId="0" sldId="267"/>
            <ac:spMk id="11" creationId="{00000000-0000-0000-0000-000000000000}"/>
          </ac:spMkLst>
        </pc:spChg>
        <pc:spChg chg="mod">
          <ac:chgData name="Shaikh Amaan" userId="a8b21c8d22220733" providerId="LiveId" clId="{59A7FBF2-3DE9-4B30-BC43-C2099D3A45B0}" dt="2026-09-06T06:33:15.195" v="97" actId="20577"/>
          <ac:spMkLst>
            <pc:docMk/>
            <pc:sldMk cId="0" sldId="267"/>
            <ac:spMk id="23" creationId="{00000000-0000-0000-0000-000000000000}"/>
          </ac:spMkLst>
        </pc:spChg>
        <pc:spChg chg="mod">
          <ac:chgData name="Shaikh Amaan" userId="a8b21c8d22220733" providerId="LiveId" clId="{59A7FBF2-3DE9-4B30-BC43-C2099D3A45B0}" dt="2026-09-06T06:33:33.143" v="118" actId="20577"/>
          <ac:spMkLst>
            <pc:docMk/>
            <pc:sldMk cId="0" sldId="267"/>
            <ac:spMk id="2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8776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411480"/>
            <a:ext cx="4572000" cy="365760"/>
          </a:xfrm>
          <a:prstGeom prst="rect">
            <a:avLst/>
          </a:prstGeom>
          <a:noFill/>
          <a:ln/>
        </p:spPr>
        <p:txBody>
          <a:bodyPr wrap="square" rtlCol="0" anchor="ctr"/>
          <a:lstStyle/>
          <a:p>
            <a:pPr marL="0" indent="0">
              <a:buNone/>
            </a:pPr>
            <a:r>
              <a:rPr lang="en-US" sz="1500" b="1" dirty="0">
                <a:solidFill>
                  <a:srgbClr val="1E293B"/>
                </a:solidFill>
                <a:latin typeface="Arial" pitchFamily="34" charset="0"/>
                <a:ea typeface="Arial" pitchFamily="34" charset="-122"/>
                <a:cs typeface="Arial" pitchFamily="34" charset="-120"/>
              </a:rPr>
              <a:t>BITSoM vertex  |  H2S</a:t>
            </a:r>
            <a:endParaRPr lang="en-US" sz="1500" dirty="0"/>
          </a:p>
        </p:txBody>
      </p:sp>
      <p:sp>
        <p:nvSpPr>
          <p:cNvPr id="3" name="Text 1"/>
          <p:cNvSpPr/>
          <p:nvPr/>
        </p:nvSpPr>
        <p:spPr>
          <a:xfrm>
            <a:off x="6858000" y="411480"/>
            <a:ext cx="4572000" cy="365760"/>
          </a:xfrm>
          <a:prstGeom prst="rect">
            <a:avLst/>
          </a:prstGeom>
          <a:noFill/>
          <a:ln/>
        </p:spPr>
        <p:txBody>
          <a:bodyPr wrap="square" rtlCol="0" anchor="ctr"/>
          <a:lstStyle/>
          <a:p>
            <a:pPr marL="0" indent="0" algn="r">
              <a:buNone/>
            </a:pPr>
            <a:r>
              <a:rPr lang="en-US" sz="1500" b="1" dirty="0">
                <a:solidFill>
                  <a:srgbClr val="F05A28"/>
                </a:solidFill>
                <a:latin typeface="Arial" pitchFamily="34" charset="0"/>
                <a:ea typeface="Arial" pitchFamily="34" charset="-122"/>
                <a:cs typeface="Arial" pitchFamily="34" charset="-120"/>
              </a:rPr>
              <a:t>Builders Pitch Fest 2026</a:t>
            </a:r>
            <a:endParaRPr lang="en-US" sz="1500" dirty="0"/>
          </a:p>
        </p:txBody>
      </p:sp>
      <p:sp>
        <p:nvSpPr>
          <p:cNvPr id="4" name="Shape 2"/>
          <p:cNvSpPr/>
          <p:nvPr/>
        </p:nvSpPr>
        <p:spPr>
          <a:xfrm>
            <a:off x="0" y="3063240"/>
            <a:ext cx="12191695" cy="73152"/>
          </a:xfrm>
          <a:prstGeom prst="rect">
            <a:avLst/>
          </a:prstGeom>
          <a:solidFill>
            <a:srgbClr val="F05A28"/>
          </a:solidFill>
          <a:ln w="12700">
            <a:solidFill>
              <a:srgbClr val="F05A28"/>
            </a:solidFill>
            <a:prstDash val="solid"/>
          </a:ln>
        </p:spPr>
        <p:txBody>
          <a:bodyPr/>
          <a:lstStyle/>
          <a:p>
            <a:endParaRPr lang="en-IN"/>
          </a:p>
        </p:txBody>
      </p:sp>
      <p:sp>
        <p:nvSpPr>
          <p:cNvPr id="5" name="Text 3"/>
          <p:cNvSpPr/>
          <p:nvPr/>
        </p:nvSpPr>
        <p:spPr>
          <a:xfrm>
            <a:off x="731520" y="1051560"/>
            <a:ext cx="7315200" cy="1645920"/>
          </a:xfrm>
          <a:prstGeom prst="rect">
            <a:avLst/>
          </a:prstGeom>
          <a:noFill/>
          <a:ln/>
        </p:spPr>
        <p:txBody>
          <a:bodyPr wrap="square" rtlCol="0" anchor="ctr"/>
          <a:lstStyle/>
          <a:p>
            <a:pPr marL="0" indent="0">
              <a:lnSpc>
                <a:spcPts val="4200"/>
              </a:lnSpc>
              <a:buNone/>
            </a:pPr>
            <a:r>
              <a:rPr lang="en-US" sz="3800" b="1" dirty="0">
                <a:solidFill>
                  <a:srgbClr val="F05A28"/>
                </a:solidFill>
                <a:latin typeface="Arial" pitchFamily="34" charset="0"/>
                <a:ea typeface="Arial" pitchFamily="34" charset="-122"/>
                <a:cs typeface="Arial" pitchFamily="34" charset="-120"/>
              </a:rPr>
              <a:t>Builders</a:t>
            </a:r>
            <a:endParaRPr lang="en-US" sz="3800" dirty="0"/>
          </a:p>
          <a:p>
            <a:pPr marL="0" indent="0">
              <a:lnSpc>
                <a:spcPts val="4200"/>
              </a:lnSpc>
              <a:buNone/>
            </a:pPr>
            <a:r>
              <a:rPr lang="en-US" sz="3800" b="1" dirty="0">
                <a:solidFill>
                  <a:srgbClr val="F05A28"/>
                </a:solidFill>
                <a:latin typeface="Arial" pitchFamily="34" charset="0"/>
                <a:ea typeface="Arial" pitchFamily="34" charset="-122"/>
                <a:cs typeface="Arial" pitchFamily="34" charset="-120"/>
              </a:rPr>
              <a:t>Pitch Fest 2026</a:t>
            </a:r>
            <a:endParaRPr lang="en-US" sz="3800" dirty="0"/>
          </a:p>
        </p:txBody>
      </p:sp>
      <p:sp>
        <p:nvSpPr>
          <p:cNvPr id="6" name="Shape 4"/>
          <p:cNvSpPr/>
          <p:nvPr/>
        </p:nvSpPr>
        <p:spPr>
          <a:xfrm>
            <a:off x="731520" y="3337560"/>
            <a:ext cx="10728655" cy="2926080"/>
          </a:xfrm>
          <a:prstGeom prst="roundRect">
            <a:avLst>
              <a:gd name="adj" fmla="val 3750"/>
            </a:avLst>
          </a:prstGeom>
          <a:solidFill>
            <a:srgbClr val="F8FAFC"/>
          </a:solidFill>
          <a:ln w="15240">
            <a:solidFill>
              <a:srgbClr val="E2E8F0"/>
            </a:solidFill>
            <a:prstDash val="solid"/>
          </a:ln>
        </p:spPr>
        <p:txBody>
          <a:bodyPr/>
          <a:lstStyle/>
          <a:p>
            <a:endParaRPr lang="en-IN"/>
          </a:p>
        </p:txBody>
      </p:sp>
      <p:sp>
        <p:nvSpPr>
          <p:cNvPr id="7" name="Text 5"/>
          <p:cNvSpPr/>
          <p:nvPr/>
        </p:nvSpPr>
        <p:spPr>
          <a:xfrm>
            <a:off x="1097280" y="3566160"/>
            <a:ext cx="5486400" cy="274320"/>
          </a:xfrm>
          <a:prstGeom prst="rect">
            <a:avLst/>
          </a:prstGeom>
          <a:noFill/>
          <a:ln/>
        </p:spPr>
        <p:txBody>
          <a:bodyPr wrap="square" rtlCol="0" anchor="ctr"/>
          <a:lstStyle/>
          <a:p>
            <a:pPr marL="0" indent="0">
              <a:buNone/>
            </a:pPr>
            <a:r>
              <a:rPr lang="en-US" sz="1100" b="1" dirty="0">
                <a:solidFill>
                  <a:srgbClr val="C2410C"/>
                </a:solidFill>
                <a:latin typeface="Arial" pitchFamily="34" charset="0"/>
                <a:ea typeface="Arial" pitchFamily="34" charset="-122"/>
                <a:cs typeface="Arial" pitchFamily="34" charset="-120"/>
              </a:rPr>
              <a:t>STARTUP SUBMISSION</a:t>
            </a:r>
            <a:endParaRPr lang="en-US" sz="1100" dirty="0"/>
          </a:p>
        </p:txBody>
      </p:sp>
      <p:sp>
        <p:nvSpPr>
          <p:cNvPr id="8" name="Text 6"/>
          <p:cNvSpPr/>
          <p:nvPr/>
        </p:nvSpPr>
        <p:spPr>
          <a:xfrm>
            <a:off x="1097280" y="3886200"/>
            <a:ext cx="7772400" cy="594360"/>
          </a:xfrm>
          <a:prstGeom prst="rect">
            <a:avLst/>
          </a:prstGeom>
          <a:noFill/>
          <a:ln/>
        </p:spPr>
        <p:txBody>
          <a:bodyPr wrap="square" rtlCol="0" anchor="ctr"/>
          <a:lstStyle/>
          <a:p>
            <a:pPr marL="0" indent="0">
              <a:buNone/>
            </a:pPr>
            <a:r>
              <a:rPr lang="en-US" sz="3200" b="1" dirty="0">
                <a:solidFill>
                  <a:srgbClr val="0F172A"/>
                </a:solidFill>
                <a:latin typeface="Arial" pitchFamily="34" charset="0"/>
                <a:ea typeface="Arial" pitchFamily="34" charset="-122"/>
                <a:cs typeface="Arial" pitchFamily="34" charset="-120"/>
              </a:rPr>
              <a:t>EnverAI Artificer</a:t>
            </a:r>
            <a:endParaRPr lang="en-US" sz="3200" dirty="0"/>
          </a:p>
        </p:txBody>
      </p:sp>
      <p:sp>
        <p:nvSpPr>
          <p:cNvPr id="9" name="Text 7"/>
          <p:cNvSpPr/>
          <p:nvPr/>
        </p:nvSpPr>
        <p:spPr>
          <a:xfrm>
            <a:off x="1097280" y="4526280"/>
            <a:ext cx="9875520" cy="502920"/>
          </a:xfrm>
          <a:prstGeom prst="rect">
            <a:avLst/>
          </a:prstGeom>
          <a:noFill/>
          <a:ln/>
        </p:spPr>
        <p:txBody>
          <a:bodyPr wrap="square" rtlCol="0" anchor="ctr"/>
          <a:lstStyle/>
          <a:p>
            <a:pPr marL="0" indent="0">
              <a:buNone/>
            </a:pPr>
            <a:r>
              <a:rPr lang="en-US" sz="1500" b="1" dirty="0">
                <a:solidFill>
                  <a:srgbClr val="334155"/>
                </a:solidFill>
                <a:latin typeface="Arial" pitchFamily="34" charset="0"/>
                <a:ea typeface="Arial" pitchFamily="34" charset="-122"/>
                <a:cs typeface="Arial" pitchFamily="34" charset="-120"/>
              </a:rPr>
              <a:t>Autonomous Multi-Agent Alternate-Data Underwriting Citadel for New-to-Credit (NTC) MSMEs</a:t>
            </a:r>
            <a:endParaRPr lang="en-US" sz="1500" dirty="0"/>
          </a:p>
        </p:txBody>
      </p:sp>
      <p:sp>
        <p:nvSpPr>
          <p:cNvPr id="10" name="Shape 8"/>
          <p:cNvSpPr/>
          <p:nvPr/>
        </p:nvSpPr>
        <p:spPr>
          <a:xfrm>
            <a:off x="1097280" y="5166360"/>
            <a:ext cx="2743200" cy="365760"/>
          </a:xfrm>
          <a:prstGeom prst="roundRect">
            <a:avLst>
              <a:gd name="adj" fmla="val 20000"/>
            </a:avLst>
          </a:prstGeom>
          <a:solidFill>
            <a:srgbClr val="EFF6FF"/>
          </a:solidFill>
          <a:ln w="12700">
            <a:solidFill>
              <a:srgbClr val="E2E8F0"/>
            </a:solidFill>
            <a:prstDash val="solid"/>
          </a:ln>
        </p:spPr>
        <p:txBody>
          <a:bodyPr/>
          <a:lstStyle/>
          <a:p>
            <a:endParaRPr lang="en-IN"/>
          </a:p>
        </p:txBody>
      </p:sp>
      <p:sp>
        <p:nvSpPr>
          <p:cNvPr id="11" name="Text 9"/>
          <p:cNvSpPr/>
          <p:nvPr/>
        </p:nvSpPr>
        <p:spPr>
          <a:xfrm>
            <a:off x="1097280" y="5166360"/>
            <a:ext cx="2743200" cy="365760"/>
          </a:xfrm>
          <a:prstGeom prst="rect">
            <a:avLst/>
          </a:prstGeom>
          <a:noFill/>
          <a:ln/>
        </p:spPr>
        <p:txBody>
          <a:bodyPr wrap="square" rtlCol="0" anchor="ctr"/>
          <a:lstStyle/>
          <a:p>
            <a:pPr marL="0" indent="0" algn="ctr">
              <a:buNone/>
            </a:pPr>
            <a:r>
              <a:rPr lang="en-US" sz="1000" b="1" dirty="0">
                <a:solidFill>
                  <a:srgbClr val="1E40AF"/>
                </a:solidFill>
                <a:latin typeface="Arial" pitchFamily="34" charset="0"/>
                <a:ea typeface="Arial" pitchFamily="34" charset="-122"/>
                <a:cs typeface="Arial" pitchFamily="34" charset="-120"/>
              </a:rPr>
              <a:t>Google Vertex AI &amp; Gemini 2.5</a:t>
            </a:r>
            <a:endParaRPr lang="en-US" sz="1000" dirty="0"/>
          </a:p>
        </p:txBody>
      </p:sp>
      <p:sp>
        <p:nvSpPr>
          <p:cNvPr id="12" name="Shape 10"/>
          <p:cNvSpPr/>
          <p:nvPr/>
        </p:nvSpPr>
        <p:spPr>
          <a:xfrm>
            <a:off x="4023360" y="5166360"/>
            <a:ext cx="2743200" cy="365760"/>
          </a:xfrm>
          <a:prstGeom prst="roundRect">
            <a:avLst>
              <a:gd name="adj" fmla="val 20000"/>
            </a:avLst>
          </a:prstGeom>
          <a:solidFill>
            <a:srgbClr val="FFF7ED"/>
          </a:solidFill>
          <a:ln w="12700">
            <a:solidFill>
              <a:srgbClr val="E2E8F0"/>
            </a:solidFill>
            <a:prstDash val="solid"/>
          </a:ln>
        </p:spPr>
        <p:txBody>
          <a:bodyPr/>
          <a:lstStyle/>
          <a:p>
            <a:endParaRPr lang="en-IN"/>
          </a:p>
        </p:txBody>
      </p:sp>
      <p:sp>
        <p:nvSpPr>
          <p:cNvPr id="13" name="Text 11"/>
          <p:cNvSpPr/>
          <p:nvPr/>
        </p:nvSpPr>
        <p:spPr>
          <a:xfrm>
            <a:off x="4023360" y="5166360"/>
            <a:ext cx="2743200" cy="365760"/>
          </a:xfrm>
          <a:prstGeom prst="rect">
            <a:avLst/>
          </a:prstGeom>
          <a:noFill/>
          <a:ln/>
        </p:spPr>
        <p:txBody>
          <a:bodyPr wrap="square" rtlCol="0" anchor="ctr"/>
          <a:lstStyle/>
          <a:p>
            <a:pPr marL="0" indent="0" algn="ctr">
              <a:buNone/>
            </a:pPr>
            <a:r>
              <a:rPr lang="en-US" sz="1000" b="1" dirty="0">
                <a:solidFill>
                  <a:srgbClr val="C2410C"/>
                </a:solidFill>
                <a:latin typeface="Arial" pitchFamily="34" charset="0"/>
                <a:ea typeface="Arial" pitchFamily="34" charset="-122"/>
                <a:cs typeface="Arial" pitchFamily="34" charset="-120"/>
              </a:rPr>
              <a:t>TAT: &lt; 55 Seconds (vs 14 Days)</a:t>
            </a:r>
            <a:endParaRPr lang="en-US" sz="1000" dirty="0"/>
          </a:p>
        </p:txBody>
      </p:sp>
      <p:sp>
        <p:nvSpPr>
          <p:cNvPr id="14" name="Shape 12"/>
          <p:cNvSpPr/>
          <p:nvPr/>
        </p:nvSpPr>
        <p:spPr>
          <a:xfrm>
            <a:off x="7040880" y="5166360"/>
            <a:ext cx="2743200" cy="365760"/>
          </a:xfrm>
          <a:prstGeom prst="roundRect">
            <a:avLst>
              <a:gd name="adj" fmla="val 20000"/>
            </a:avLst>
          </a:prstGeom>
          <a:solidFill>
            <a:srgbClr val="F0FDF4"/>
          </a:solidFill>
          <a:ln w="12700">
            <a:solidFill>
              <a:srgbClr val="E2E8F0"/>
            </a:solidFill>
            <a:prstDash val="solid"/>
          </a:ln>
        </p:spPr>
        <p:txBody>
          <a:bodyPr/>
          <a:lstStyle/>
          <a:p>
            <a:endParaRPr lang="en-IN"/>
          </a:p>
        </p:txBody>
      </p:sp>
      <p:sp>
        <p:nvSpPr>
          <p:cNvPr id="15" name="Text 13"/>
          <p:cNvSpPr/>
          <p:nvPr/>
        </p:nvSpPr>
        <p:spPr>
          <a:xfrm>
            <a:off x="7040880" y="5166360"/>
            <a:ext cx="2743200" cy="365760"/>
          </a:xfrm>
          <a:prstGeom prst="rect">
            <a:avLst/>
          </a:prstGeom>
          <a:noFill/>
          <a:ln/>
        </p:spPr>
        <p:txBody>
          <a:bodyPr wrap="square" rtlCol="0" anchor="ctr"/>
          <a:lstStyle/>
          <a:p>
            <a:pPr marL="0" indent="0" algn="ctr">
              <a:buNone/>
            </a:pPr>
            <a:r>
              <a:rPr lang="en-US" sz="1000" b="1" dirty="0">
                <a:solidFill>
                  <a:srgbClr val="15803D"/>
                </a:solidFill>
                <a:latin typeface="Arial" pitchFamily="34" charset="0"/>
                <a:ea typeface="Arial" pitchFamily="34" charset="-122"/>
                <a:cs typeface="Arial" pitchFamily="34" charset="-120"/>
              </a:rPr>
              <a:t>100% Extraction on 1,000+ Records</a:t>
            </a:r>
            <a:endParaRPr lang="en-US" sz="1000" dirty="0"/>
          </a:p>
        </p:txBody>
      </p:sp>
      <p:sp>
        <p:nvSpPr>
          <p:cNvPr id="16" name="Text 14"/>
          <p:cNvSpPr/>
          <p:nvPr/>
        </p:nvSpPr>
        <p:spPr>
          <a:xfrm>
            <a:off x="1097280" y="5715000"/>
            <a:ext cx="9875520" cy="320040"/>
          </a:xfrm>
          <a:prstGeom prst="rect">
            <a:avLst/>
          </a:prstGeom>
          <a:noFill/>
          <a:ln/>
        </p:spPr>
        <p:txBody>
          <a:bodyPr wrap="square" rtlCol="0" anchor="ctr"/>
          <a:lstStyle/>
          <a:p>
            <a:pPr marL="0" indent="0">
              <a:buNone/>
            </a:pPr>
            <a:r>
              <a:rPr lang="en-US" sz="1100" dirty="0">
                <a:solidFill>
                  <a:srgbClr val="64748B"/>
                </a:solidFill>
                <a:latin typeface="Arial" pitchFamily="34" charset="0"/>
                <a:ea typeface="Arial" pitchFamily="34" charset="-122"/>
                <a:cs typeface="Arial" pitchFamily="34" charset="-120"/>
              </a:rPr>
              <a:t>Presenter: </a:t>
            </a:r>
            <a:r>
              <a:rPr lang="en-US" sz="1100" dirty="0" err="1">
                <a:solidFill>
                  <a:srgbClr val="64748B"/>
                </a:solidFill>
                <a:latin typeface="Arial" pitchFamily="34" charset="0"/>
                <a:ea typeface="Arial" pitchFamily="34" charset="-122"/>
                <a:cs typeface="Arial" pitchFamily="34" charset="-120"/>
              </a:rPr>
              <a:t>EnverAI</a:t>
            </a:r>
            <a:r>
              <a:rPr lang="en-US" sz="1100" dirty="0">
                <a:solidFill>
                  <a:srgbClr val="64748B"/>
                </a:solidFill>
                <a:latin typeface="Arial" pitchFamily="34" charset="0"/>
                <a:ea typeface="Arial" pitchFamily="34" charset="-122"/>
                <a:cs typeface="Arial" pitchFamily="34" charset="-120"/>
              </a:rPr>
              <a:t> Tech. • Enver AI • Contact: hanabi@enveraitech.com • Website: enveraitech.com</a:t>
            </a:r>
            <a:endParaRPr lang="en-US" sz="1100" dirty="0"/>
          </a:p>
        </p:txBody>
      </p:sp>
      <p:sp>
        <p:nvSpPr>
          <p:cNvPr id="17" name="Shape 15"/>
          <p:cNvSpPr/>
          <p:nvPr/>
        </p:nvSpPr>
        <p:spPr>
          <a:xfrm>
            <a:off x="0" y="6748272"/>
            <a:ext cx="12191695" cy="109728"/>
          </a:xfrm>
          <a:prstGeom prst="rect">
            <a:avLst/>
          </a:prstGeom>
          <a:solidFill>
            <a:srgbClr val="F05A28"/>
          </a:solidFill>
          <a:ln w="12700">
            <a:solidFill>
              <a:srgbClr val="F05A28"/>
            </a:solidFill>
            <a:prstDash val="solid"/>
          </a:ln>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92608"/>
            <a:ext cx="4114800" cy="320040"/>
          </a:xfrm>
          <a:prstGeom prst="rect">
            <a:avLst/>
          </a:prstGeom>
          <a:noFill/>
          <a:ln/>
        </p:spPr>
        <p:txBody>
          <a:bodyPr wrap="square" rtlCol="0" anchor="ctr"/>
          <a:lstStyle/>
          <a:p>
            <a:pPr marL="0" indent="0">
              <a:buNone/>
            </a:pPr>
            <a:r>
              <a:rPr lang="en-US" sz="1300" b="1" dirty="0">
                <a:solidFill>
                  <a:srgbClr val="1E293B"/>
                </a:solidFill>
                <a:latin typeface="Arial" pitchFamily="34" charset="0"/>
                <a:ea typeface="Arial" pitchFamily="34" charset="-122"/>
                <a:cs typeface="Arial" pitchFamily="34" charset="-120"/>
              </a:rPr>
              <a:t>BITSoM vertex  |  H2S</a:t>
            </a:r>
            <a:endParaRPr lang="en-US" sz="1300" dirty="0"/>
          </a:p>
        </p:txBody>
      </p:sp>
      <p:sp>
        <p:nvSpPr>
          <p:cNvPr id="3" name="Text 1"/>
          <p:cNvSpPr/>
          <p:nvPr/>
        </p:nvSpPr>
        <p:spPr>
          <a:xfrm>
            <a:off x="6858000" y="292608"/>
            <a:ext cx="4572000" cy="320040"/>
          </a:xfrm>
          <a:prstGeom prst="rect">
            <a:avLst/>
          </a:prstGeom>
          <a:noFill/>
          <a:ln/>
        </p:spPr>
        <p:txBody>
          <a:bodyPr wrap="square" rtlCol="0" anchor="ctr"/>
          <a:lstStyle/>
          <a:p>
            <a:pPr marL="0" indent="0" algn="r">
              <a:buNone/>
            </a:pPr>
            <a:r>
              <a:rPr lang="en-US" sz="1300" b="1" dirty="0">
                <a:solidFill>
                  <a:srgbClr val="F05A28"/>
                </a:solidFill>
                <a:latin typeface="Arial" pitchFamily="34" charset="0"/>
                <a:ea typeface="Arial" pitchFamily="34" charset="-122"/>
                <a:cs typeface="Arial" pitchFamily="34" charset="-120"/>
              </a:rPr>
              <a:t>Builders Pitch Fest 2026</a:t>
            </a:r>
            <a:endParaRPr lang="en-US" sz="1300" dirty="0"/>
          </a:p>
        </p:txBody>
      </p:sp>
      <p:sp>
        <p:nvSpPr>
          <p:cNvPr id="4" name="Shape 2"/>
          <p:cNvSpPr/>
          <p:nvPr/>
        </p:nvSpPr>
        <p:spPr>
          <a:xfrm>
            <a:off x="731520" y="658368"/>
            <a:ext cx="10728655" cy="0"/>
          </a:xfrm>
          <a:prstGeom prst="line">
            <a:avLst/>
          </a:prstGeom>
          <a:noFill/>
          <a:ln w="12700">
            <a:solidFill>
              <a:srgbClr val="E2E8F0"/>
            </a:solidFill>
            <a:prstDash val="solid"/>
          </a:ln>
        </p:spPr>
        <p:txBody>
          <a:bodyPr/>
          <a:lstStyle/>
          <a:p>
            <a:endParaRPr lang="en-IN"/>
          </a:p>
        </p:txBody>
      </p:sp>
      <p:sp>
        <p:nvSpPr>
          <p:cNvPr id="5" name="Text 3"/>
          <p:cNvSpPr/>
          <p:nvPr/>
        </p:nvSpPr>
        <p:spPr>
          <a:xfrm>
            <a:off x="731520" y="777240"/>
            <a:ext cx="10728655" cy="502920"/>
          </a:xfrm>
          <a:prstGeom prst="rect">
            <a:avLst/>
          </a:prstGeom>
          <a:noFill/>
          <a:ln/>
        </p:spPr>
        <p:txBody>
          <a:bodyPr wrap="square" rtlCol="0" anchor="ctr"/>
          <a:lstStyle/>
          <a:p>
            <a:pPr marL="0" indent="0">
              <a:buNone/>
            </a:pPr>
            <a:r>
              <a:rPr lang="en-US" sz="2200" b="1" dirty="0">
                <a:solidFill>
                  <a:srgbClr val="0F172A"/>
                </a:solidFill>
                <a:latin typeface="Arial" pitchFamily="34" charset="0"/>
                <a:ea typeface="Arial" pitchFamily="34" charset="-122"/>
                <a:cs typeface="Arial" pitchFamily="34" charset="-120"/>
              </a:rPr>
              <a:t>IMPORTANT — Submission Framework &amp; Evaluation Alignment</a:t>
            </a:r>
            <a:endParaRPr lang="en-US" sz="2200" dirty="0"/>
          </a:p>
        </p:txBody>
      </p:sp>
      <p:sp>
        <p:nvSpPr>
          <p:cNvPr id="6" name="Shape 4"/>
          <p:cNvSpPr/>
          <p:nvPr/>
        </p:nvSpPr>
        <p:spPr>
          <a:xfrm>
            <a:off x="0" y="6748272"/>
            <a:ext cx="12191695" cy="109728"/>
          </a:xfrm>
          <a:prstGeom prst="rect">
            <a:avLst/>
          </a:prstGeom>
          <a:solidFill>
            <a:srgbClr val="F05A28"/>
          </a:solidFill>
          <a:ln w="12700">
            <a:solidFill>
              <a:srgbClr val="F05A28"/>
            </a:solidFill>
            <a:prstDash val="solid"/>
          </a:ln>
        </p:spPr>
        <p:txBody>
          <a:bodyPr/>
          <a:lstStyle/>
          <a:p>
            <a:endParaRPr lang="en-IN"/>
          </a:p>
        </p:txBody>
      </p:sp>
      <p:sp>
        <p:nvSpPr>
          <p:cNvPr id="7" name="Shape 5"/>
          <p:cNvSpPr/>
          <p:nvPr/>
        </p:nvSpPr>
        <p:spPr>
          <a:xfrm>
            <a:off x="731520" y="1371600"/>
            <a:ext cx="10728655" cy="5120640"/>
          </a:xfrm>
          <a:prstGeom prst="roundRect">
            <a:avLst>
              <a:gd name="adj" fmla="val 2143"/>
            </a:avLst>
          </a:prstGeom>
          <a:solidFill>
            <a:srgbClr val="F8FAFC"/>
          </a:solidFill>
          <a:ln w="15240">
            <a:solidFill>
              <a:srgbClr val="E2E8F0"/>
            </a:solidFill>
            <a:prstDash val="solid"/>
          </a:ln>
        </p:spPr>
        <p:txBody>
          <a:bodyPr/>
          <a:lstStyle/>
          <a:p>
            <a:endParaRPr lang="en-IN"/>
          </a:p>
        </p:txBody>
      </p:sp>
      <p:sp>
        <p:nvSpPr>
          <p:cNvPr id="8" name="Text 6"/>
          <p:cNvSpPr/>
          <p:nvPr/>
        </p:nvSpPr>
        <p:spPr>
          <a:xfrm>
            <a:off x="1005840" y="1554480"/>
            <a:ext cx="10058400" cy="365760"/>
          </a:xfrm>
          <a:prstGeom prst="rect">
            <a:avLst/>
          </a:prstGeom>
          <a:noFill/>
          <a:ln/>
        </p:spPr>
        <p:txBody>
          <a:bodyPr wrap="square" rtlCol="0" anchor="ctr"/>
          <a:lstStyle/>
          <a:p>
            <a:pPr marL="0" indent="0">
              <a:buNone/>
            </a:pPr>
            <a:r>
              <a:rPr lang="en-US" sz="1500" b="1" dirty="0">
                <a:solidFill>
                  <a:srgbClr val="C2410C"/>
                </a:solidFill>
                <a:latin typeface="Arial" pitchFamily="34" charset="0"/>
                <a:ea typeface="Arial" pitchFamily="34" charset="-122"/>
                <a:cs typeface="Arial" pitchFamily="34" charset="-120"/>
              </a:rPr>
              <a:t>BITSoM Vertex Evaluation Standard &amp; Prototype Alignment</a:t>
            </a:r>
            <a:endParaRPr lang="en-US" sz="1500" dirty="0"/>
          </a:p>
        </p:txBody>
      </p:sp>
      <p:sp>
        <p:nvSpPr>
          <p:cNvPr id="9" name="Text 7"/>
          <p:cNvSpPr/>
          <p:nvPr/>
        </p:nvSpPr>
        <p:spPr>
          <a:xfrm>
            <a:off x="1005840" y="1920240"/>
            <a:ext cx="10058400" cy="411480"/>
          </a:xfrm>
          <a:prstGeom prst="rect">
            <a:avLst/>
          </a:prstGeom>
          <a:noFill/>
          <a:ln/>
        </p:spPr>
        <p:txBody>
          <a:bodyPr wrap="square" rtlCol="0" anchor="ctr"/>
          <a:lstStyle/>
          <a:p>
            <a:pPr marL="0" indent="0">
              <a:buNone/>
            </a:pPr>
            <a:r>
              <a:rPr lang="en-US" sz="1100" dirty="0">
                <a:solidFill>
                  <a:srgbClr val="64748B"/>
                </a:solidFill>
                <a:latin typeface="Arial" pitchFamily="34" charset="0"/>
                <a:ea typeface="Arial" pitchFamily="34" charset="-122"/>
                <a:cs typeface="Arial" pitchFamily="34" charset="-120"/>
              </a:rPr>
              <a:t>This deck rigorously evaluates EnverAI Artificer against the 6 evaluation pillars prescribed by the BITSoM Vertex review board, grounded in our working prototype, verified telemetry, and empirical data:</a:t>
            </a:r>
            <a:endParaRPr lang="en-US" sz="1100" dirty="0"/>
          </a:p>
        </p:txBody>
      </p:sp>
      <p:sp>
        <p:nvSpPr>
          <p:cNvPr id="10" name="Shape 8"/>
          <p:cNvSpPr/>
          <p:nvPr/>
        </p:nvSpPr>
        <p:spPr>
          <a:xfrm>
            <a:off x="1005840" y="2423160"/>
            <a:ext cx="4937760" cy="1143000"/>
          </a:xfrm>
          <a:prstGeom prst="roundRect">
            <a:avLst>
              <a:gd name="adj" fmla="val 6400"/>
            </a:avLst>
          </a:prstGeom>
          <a:solidFill>
            <a:srgbClr val="FFFFFF"/>
          </a:solidFill>
          <a:ln w="12700">
            <a:solidFill>
              <a:srgbClr val="E2E8F0"/>
            </a:solidFill>
            <a:prstDash val="solid"/>
          </a:ln>
        </p:spPr>
        <p:txBody>
          <a:bodyPr/>
          <a:lstStyle/>
          <a:p>
            <a:endParaRPr lang="en-IN"/>
          </a:p>
        </p:txBody>
      </p:sp>
      <p:sp>
        <p:nvSpPr>
          <p:cNvPr id="11" name="Text 9"/>
          <p:cNvSpPr/>
          <p:nvPr/>
        </p:nvSpPr>
        <p:spPr>
          <a:xfrm>
            <a:off x="1143000" y="2532888"/>
            <a:ext cx="4663440" cy="274320"/>
          </a:xfrm>
          <a:prstGeom prst="rect">
            <a:avLst/>
          </a:prstGeom>
          <a:noFill/>
          <a:ln/>
        </p:spPr>
        <p:txBody>
          <a:bodyPr wrap="square" rtlCol="0" anchor="ctr"/>
          <a:lstStyle/>
          <a:p>
            <a:pPr marL="0" indent="0">
              <a:buNone/>
            </a:pPr>
            <a:r>
              <a:rPr lang="en-US" sz="1150" b="1" dirty="0">
                <a:solidFill>
                  <a:srgbClr val="C2410C"/>
                </a:solidFill>
                <a:latin typeface="Arial" pitchFamily="34" charset="0"/>
                <a:ea typeface="Arial" pitchFamily="34" charset="-122"/>
                <a:cs typeface="Arial" pitchFamily="34" charset="-120"/>
              </a:rPr>
              <a:t>1. Clearly Validated Problem &amp; Market</a:t>
            </a:r>
            <a:endParaRPr lang="en-US" sz="1150" dirty="0"/>
          </a:p>
        </p:txBody>
      </p:sp>
      <p:sp>
        <p:nvSpPr>
          <p:cNvPr id="12" name="Text 10"/>
          <p:cNvSpPr/>
          <p:nvPr/>
        </p:nvSpPr>
        <p:spPr>
          <a:xfrm>
            <a:off x="1143000" y="2807208"/>
            <a:ext cx="4663440" cy="685800"/>
          </a:xfrm>
          <a:prstGeom prst="rect">
            <a:avLst/>
          </a:prstGeom>
          <a:noFill/>
          <a:ln/>
        </p:spPr>
        <p:txBody>
          <a:bodyPr wrap="square" rtlCol="0" anchor="ctr"/>
          <a:lstStyle/>
          <a:p>
            <a:pPr marL="0" indent="0">
              <a:lnSpc>
                <a:spcPts val="1400"/>
              </a:lnSpc>
              <a:buNone/>
            </a:pPr>
            <a:r>
              <a:rPr lang="en-US" sz="1000" dirty="0">
                <a:solidFill>
                  <a:srgbClr val="334155"/>
                </a:solidFill>
                <a:latin typeface="Arial" pitchFamily="34" charset="0"/>
                <a:ea typeface="Arial" pitchFamily="34" charset="-122"/>
                <a:cs typeface="Arial" pitchFamily="34" charset="-120"/>
              </a:rPr>
              <a:t>Addresses the $300B+ credit deficit for 63M Indian MSMEs where 70% of NTC applicants are rejected by legacy CIBIL bureau scoring.</a:t>
            </a:r>
            <a:endParaRPr lang="en-US" sz="1000" dirty="0"/>
          </a:p>
        </p:txBody>
      </p:sp>
      <p:sp>
        <p:nvSpPr>
          <p:cNvPr id="13" name="Shape 11"/>
          <p:cNvSpPr/>
          <p:nvPr/>
        </p:nvSpPr>
        <p:spPr>
          <a:xfrm>
            <a:off x="6126480" y="2423160"/>
            <a:ext cx="4937760" cy="1143000"/>
          </a:xfrm>
          <a:prstGeom prst="roundRect">
            <a:avLst>
              <a:gd name="adj" fmla="val 6400"/>
            </a:avLst>
          </a:prstGeom>
          <a:solidFill>
            <a:srgbClr val="FFFFFF"/>
          </a:solidFill>
          <a:ln w="12700">
            <a:solidFill>
              <a:srgbClr val="E2E8F0"/>
            </a:solidFill>
            <a:prstDash val="solid"/>
          </a:ln>
        </p:spPr>
        <p:txBody>
          <a:bodyPr/>
          <a:lstStyle/>
          <a:p>
            <a:endParaRPr lang="en-IN"/>
          </a:p>
        </p:txBody>
      </p:sp>
      <p:sp>
        <p:nvSpPr>
          <p:cNvPr id="14" name="Text 12"/>
          <p:cNvSpPr/>
          <p:nvPr/>
        </p:nvSpPr>
        <p:spPr>
          <a:xfrm>
            <a:off x="6263640" y="2532888"/>
            <a:ext cx="4663440" cy="274320"/>
          </a:xfrm>
          <a:prstGeom prst="rect">
            <a:avLst/>
          </a:prstGeom>
          <a:noFill/>
          <a:ln/>
        </p:spPr>
        <p:txBody>
          <a:bodyPr wrap="square" rtlCol="0" anchor="ctr"/>
          <a:lstStyle/>
          <a:p>
            <a:pPr marL="0" indent="0">
              <a:buNone/>
            </a:pPr>
            <a:r>
              <a:rPr lang="en-US" sz="1150" b="1" dirty="0">
                <a:solidFill>
                  <a:srgbClr val="1E40AF"/>
                </a:solidFill>
                <a:latin typeface="Arial" pitchFamily="34" charset="0"/>
                <a:ea typeface="Arial" pitchFamily="34" charset="-122"/>
                <a:cs typeface="Arial" pitchFamily="34" charset="-120"/>
              </a:rPr>
              <a:t>2. Meaningful &amp; Responsible AI</a:t>
            </a:r>
            <a:endParaRPr lang="en-US" sz="1150" dirty="0"/>
          </a:p>
        </p:txBody>
      </p:sp>
      <p:sp>
        <p:nvSpPr>
          <p:cNvPr id="15" name="Text 13"/>
          <p:cNvSpPr/>
          <p:nvPr/>
        </p:nvSpPr>
        <p:spPr>
          <a:xfrm>
            <a:off x="6263640" y="2807208"/>
            <a:ext cx="4663440" cy="685800"/>
          </a:xfrm>
          <a:prstGeom prst="rect">
            <a:avLst/>
          </a:prstGeom>
          <a:noFill/>
          <a:ln/>
        </p:spPr>
        <p:txBody>
          <a:bodyPr wrap="square" rtlCol="0" anchor="ctr"/>
          <a:lstStyle/>
          <a:p>
            <a:pPr marL="0" indent="0">
              <a:lnSpc>
                <a:spcPts val="1400"/>
              </a:lnSpc>
              <a:buNone/>
            </a:pPr>
            <a:r>
              <a:rPr lang="en-US" sz="1000" dirty="0">
                <a:solidFill>
                  <a:srgbClr val="334155"/>
                </a:solidFill>
                <a:latin typeface="Arial" pitchFamily="34" charset="0"/>
                <a:ea typeface="Arial" pitchFamily="34" charset="-122"/>
                <a:cs typeface="Arial" pitchFamily="34" charset="-120"/>
              </a:rPr>
              <a:t>3-agent persona segregation (Fetcha, Geek, Orc) with Gemini 2.5, deterministic financial math, and NeMo zero-hallucination guardrails.</a:t>
            </a:r>
            <a:endParaRPr lang="en-US" sz="1000" dirty="0"/>
          </a:p>
        </p:txBody>
      </p:sp>
      <p:sp>
        <p:nvSpPr>
          <p:cNvPr id="16" name="Shape 14"/>
          <p:cNvSpPr/>
          <p:nvPr/>
        </p:nvSpPr>
        <p:spPr>
          <a:xfrm>
            <a:off x="1005840" y="3703320"/>
            <a:ext cx="4937760" cy="1143000"/>
          </a:xfrm>
          <a:prstGeom prst="roundRect">
            <a:avLst>
              <a:gd name="adj" fmla="val 6400"/>
            </a:avLst>
          </a:prstGeom>
          <a:solidFill>
            <a:srgbClr val="FFFFFF"/>
          </a:solidFill>
          <a:ln w="12700">
            <a:solidFill>
              <a:srgbClr val="E2E8F0"/>
            </a:solidFill>
            <a:prstDash val="solid"/>
          </a:ln>
        </p:spPr>
        <p:txBody>
          <a:bodyPr/>
          <a:lstStyle/>
          <a:p>
            <a:endParaRPr lang="en-IN"/>
          </a:p>
        </p:txBody>
      </p:sp>
      <p:sp>
        <p:nvSpPr>
          <p:cNvPr id="17" name="Text 15"/>
          <p:cNvSpPr/>
          <p:nvPr/>
        </p:nvSpPr>
        <p:spPr>
          <a:xfrm>
            <a:off x="1143000" y="3813048"/>
            <a:ext cx="4663440" cy="274320"/>
          </a:xfrm>
          <a:prstGeom prst="rect">
            <a:avLst/>
          </a:prstGeom>
          <a:noFill/>
          <a:ln/>
        </p:spPr>
        <p:txBody>
          <a:bodyPr wrap="square" rtlCol="0" anchor="ctr"/>
          <a:lstStyle/>
          <a:p>
            <a:pPr marL="0" indent="0">
              <a:buNone/>
            </a:pPr>
            <a:r>
              <a:rPr lang="en-US" sz="1150" b="1" dirty="0">
                <a:solidFill>
                  <a:srgbClr val="15803D"/>
                </a:solidFill>
                <a:latin typeface="Arial" pitchFamily="34" charset="0"/>
                <a:ea typeface="Arial" pitchFamily="34" charset="-122"/>
                <a:cs typeface="Arial" pitchFamily="34" charset="-120"/>
              </a:rPr>
              <a:t>3. Scalable Technical Depth</a:t>
            </a:r>
            <a:endParaRPr lang="en-US" sz="1150" dirty="0"/>
          </a:p>
        </p:txBody>
      </p:sp>
      <p:sp>
        <p:nvSpPr>
          <p:cNvPr id="18" name="Text 16"/>
          <p:cNvSpPr/>
          <p:nvPr/>
        </p:nvSpPr>
        <p:spPr>
          <a:xfrm>
            <a:off x="1143000" y="4087368"/>
            <a:ext cx="4663440" cy="685800"/>
          </a:xfrm>
          <a:prstGeom prst="rect">
            <a:avLst/>
          </a:prstGeom>
          <a:noFill/>
          <a:ln/>
        </p:spPr>
        <p:txBody>
          <a:bodyPr wrap="square" rtlCol="0" anchor="ctr"/>
          <a:lstStyle/>
          <a:p>
            <a:pPr marL="0" indent="0">
              <a:lnSpc>
                <a:spcPts val="1400"/>
              </a:lnSpc>
              <a:buNone/>
            </a:pPr>
            <a:r>
              <a:rPr lang="en-US" sz="1000" dirty="0">
                <a:solidFill>
                  <a:srgbClr val="334155"/>
                </a:solidFill>
                <a:latin typeface="Arial" pitchFamily="34" charset="0"/>
                <a:ea typeface="Arial" pitchFamily="34" charset="-122"/>
                <a:cs typeface="Arial" pitchFamily="34" charset="-120"/>
              </a:rPr>
              <a:t>Decoupled enterprise architecture (Node.js/Express, React 19, Google Vertex AI) with Server-Sent Events (SSE) and line-item audit trails.</a:t>
            </a:r>
            <a:endParaRPr lang="en-US" sz="1000" dirty="0"/>
          </a:p>
        </p:txBody>
      </p:sp>
      <p:sp>
        <p:nvSpPr>
          <p:cNvPr id="19" name="Shape 17"/>
          <p:cNvSpPr/>
          <p:nvPr/>
        </p:nvSpPr>
        <p:spPr>
          <a:xfrm>
            <a:off x="6126480" y="3703320"/>
            <a:ext cx="4937760" cy="1143000"/>
          </a:xfrm>
          <a:prstGeom prst="roundRect">
            <a:avLst>
              <a:gd name="adj" fmla="val 6400"/>
            </a:avLst>
          </a:prstGeom>
          <a:solidFill>
            <a:srgbClr val="FFFFFF"/>
          </a:solidFill>
          <a:ln w="12700">
            <a:solidFill>
              <a:srgbClr val="E2E8F0"/>
            </a:solidFill>
            <a:prstDash val="solid"/>
          </a:ln>
        </p:spPr>
        <p:txBody>
          <a:bodyPr/>
          <a:lstStyle/>
          <a:p>
            <a:endParaRPr lang="en-IN"/>
          </a:p>
        </p:txBody>
      </p:sp>
      <p:sp>
        <p:nvSpPr>
          <p:cNvPr id="20" name="Text 18"/>
          <p:cNvSpPr/>
          <p:nvPr/>
        </p:nvSpPr>
        <p:spPr>
          <a:xfrm>
            <a:off x="6263640" y="3813048"/>
            <a:ext cx="4663440" cy="274320"/>
          </a:xfrm>
          <a:prstGeom prst="rect">
            <a:avLst/>
          </a:prstGeom>
          <a:noFill/>
          <a:ln/>
        </p:spPr>
        <p:txBody>
          <a:bodyPr wrap="square" rtlCol="0" anchor="ctr"/>
          <a:lstStyle/>
          <a:p>
            <a:pPr marL="0" indent="0">
              <a:buNone/>
            </a:pPr>
            <a:r>
              <a:rPr lang="en-US" sz="1150" b="1" dirty="0">
                <a:solidFill>
                  <a:srgbClr val="C2410C"/>
                </a:solidFill>
                <a:latin typeface="Arial" pitchFamily="34" charset="0"/>
                <a:ea typeface="Arial" pitchFamily="34" charset="-122"/>
                <a:cs typeface="Arial" pitchFamily="34" charset="-120"/>
              </a:rPr>
              <a:t>4. Product Maturity &amp; Traction</a:t>
            </a:r>
            <a:endParaRPr lang="en-US" sz="1150" dirty="0"/>
          </a:p>
        </p:txBody>
      </p:sp>
      <p:sp>
        <p:nvSpPr>
          <p:cNvPr id="21" name="Text 19"/>
          <p:cNvSpPr/>
          <p:nvPr/>
        </p:nvSpPr>
        <p:spPr>
          <a:xfrm>
            <a:off x="6263640" y="4087368"/>
            <a:ext cx="4663440" cy="685800"/>
          </a:xfrm>
          <a:prstGeom prst="rect">
            <a:avLst/>
          </a:prstGeom>
          <a:noFill/>
          <a:ln/>
        </p:spPr>
        <p:txBody>
          <a:bodyPr wrap="square" rtlCol="0" anchor="ctr"/>
          <a:lstStyle/>
          <a:p>
            <a:pPr marL="0" indent="0">
              <a:lnSpc>
                <a:spcPts val="1400"/>
              </a:lnSpc>
              <a:buNone/>
            </a:pPr>
            <a:r>
              <a:rPr lang="en-US" sz="1000" dirty="0">
                <a:solidFill>
                  <a:srgbClr val="334155"/>
                </a:solidFill>
                <a:latin typeface="Arial" pitchFamily="34" charset="0"/>
                <a:ea typeface="Arial" pitchFamily="34" charset="-122"/>
                <a:cs typeface="Arial" pitchFamily="34" charset="-120"/>
              </a:rPr>
              <a:t>Selected for FITT (IIT Delhi) &amp; Jubilant Life Foundation incubators; attended Hub71 Validation Workshop; validated on 1,000+ Indian financial records.</a:t>
            </a:r>
            <a:endParaRPr lang="en-US" sz="1000" dirty="0"/>
          </a:p>
        </p:txBody>
      </p:sp>
      <p:sp>
        <p:nvSpPr>
          <p:cNvPr id="22" name="Shape 20"/>
          <p:cNvSpPr/>
          <p:nvPr/>
        </p:nvSpPr>
        <p:spPr>
          <a:xfrm>
            <a:off x="1005840" y="4983480"/>
            <a:ext cx="4937760" cy="1188720"/>
          </a:xfrm>
          <a:prstGeom prst="roundRect">
            <a:avLst>
              <a:gd name="adj" fmla="val 6154"/>
            </a:avLst>
          </a:prstGeom>
          <a:solidFill>
            <a:srgbClr val="FFFFFF"/>
          </a:solidFill>
          <a:ln w="12700">
            <a:solidFill>
              <a:srgbClr val="E2E8F0"/>
            </a:solidFill>
            <a:prstDash val="solid"/>
          </a:ln>
        </p:spPr>
        <p:txBody>
          <a:bodyPr/>
          <a:lstStyle/>
          <a:p>
            <a:endParaRPr lang="en-IN"/>
          </a:p>
        </p:txBody>
      </p:sp>
      <p:sp>
        <p:nvSpPr>
          <p:cNvPr id="23" name="Text 21"/>
          <p:cNvSpPr/>
          <p:nvPr/>
        </p:nvSpPr>
        <p:spPr>
          <a:xfrm>
            <a:off x="1143000" y="5093208"/>
            <a:ext cx="4663440" cy="274320"/>
          </a:xfrm>
          <a:prstGeom prst="rect">
            <a:avLst/>
          </a:prstGeom>
          <a:noFill/>
          <a:ln/>
        </p:spPr>
        <p:txBody>
          <a:bodyPr wrap="square" rtlCol="0" anchor="ctr"/>
          <a:lstStyle/>
          <a:p>
            <a:pPr marL="0" indent="0">
              <a:buNone/>
            </a:pPr>
            <a:r>
              <a:rPr lang="en-US" sz="1150" b="1" dirty="0">
                <a:solidFill>
                  <a:srgbClr val="1E40AF"/>
                </a:solidFill>
                <a:latin typeface="Arial" pitchFamily="34" charset="0"/>
                <a:ea typeface="Arial" pitchFamily="34" charset="-122"/>
                <a:cs typeface="Arial" pitchFamily="34" charset="-120"/>
              </a:rPr>
              <a:t>5. Sustainable Business Model</a:t>
            </a:r>
            <a:endParaRPr lang="en-US" sz="1150" dirty="0"/>
          </a:p>
        </p:txBody>
      </p:sp>
      <p:sp>
        <p:nvSpPr>
          <p:cNvPr id="24" name="Text 22"/>
          <p:cNvSpPr/>
          <p:nvPr/>
        </p:nvSpPr>
        <p:spPr>
          <a:xfrm>
            <a:off x="1143000" y="5367528"/>
            <a:ext cx="4663440" cy="731520"/>
          </a:xfrm>
          <a:prstGeom prst="rect">
            <a:avLst/>
          </a:prstGeom>
          <a:noFill/>
          <a:ln/>
        </p:spPr>
        <p:txBody>
          <a:bodyPr wrap="square" rtlCol="0" anchor="ctr"/>
          <a:lstStyle/>
          <a:p>
            <a:pPr marL="0" indent="0">
              <a:lnSpc>
                <a:spcPts val="1400"/>
              </a:lnSpc>
              <a:buNone/>
            </a:pPr>
            <a:r>
              <a:rPr lang="en-US" sz="1000" dirty="0">
                <a:solidFill>
                  <a:srgbClr val="334155"/>
                </a:solidFill>
                <a:latin typeface="Arial" pitchFamily="34" charset="0"/>
                <a:ea typeface="Arial" pitchFamily="34" charset="-122"/>
                <a:cs typeface="Arial" pitchFamily="34" charset="-120"/>
              </a:rPr>
              <a:t>High-margin B2B API pricing ($0.50-$2.00/evaluation) vs $0.05 LLM cost (92%+ gross margin), delivering 99% cost reduction to banks.</a:t>
            </a:r>
            <a:endParaRPr lang="en-US" sz="1000" dirty="0"/>
          </a:p>
        </p:txBody>
      </p:sp>
      <p:sp>
        <p:nvSpPr>
          <p:cNvPr id="25" name="Shape 23"/>
          <p:cNvSpPr/>
          <p:nvPr/>
        </p:nvSpPr>
        <p:spPr>
          <a:xfrm>
            <a:off x="6126480" y="4983480"/>
            <a:ext cx="4937760" cy="1188720"/>
          </a:xfrm>
          <a:prstGeom prst="roundRect">
            <a:avLst>
              <a:gd name="adj" fmla="val 6154"/>
            </a:avLst>
          </a:prstGeom>
          <a:solidFill>
            <a:srgbClr val="FFFFFF"/>
          </a:solidFill>
          <a:ln w="12700">
            <a:solidFill>
              <a:srgbClr val="E2E8F0"/>
            </a:solidFill>
            <a:prstDash val="solid"/>
          </a:ln>
        </p:spPr>
        <p:txBody>
          <a:bodyPr/>
          <a:lstStyle/>
          <a:p>
            <a:endParaRPr lang="en-IN"/>
          </a:p>
        </p:txBody>
      </p:sp>
      <p:sp>
        <p:nvSpPr>
          <p:cNvPr id="26" name="Text 24"/>
          <p:cNvSpPr/>
          <p:nvPr/>
        </p:nvSpPr>
        <p:spPr>
          <a:xfrm>
            <a:off x="6263640" y="5093208"/>
            <a:ext cx="4663440" cy="274320"/>
          </a:xfrm>
          <a:prstGeom prst="rect">
            <a:avLst/>
          </a:prstGeom>
          <a:noFill/>
          <a:ln/>
        </p:spPr>
        <p:txBody>
          <a:bodyPr wrap="square" rtlCol="0" anchor="ctr"/>
          <a:lstStyle/>
          <a:p>
            <a:pPr marL="0" indent="0">
              <a:buNone/>
            </a:pPr>
            <a:r>
              <a:rPr lang="en-US" sz="1150" b="1" dirty="0">
                <a:solidFill>
                  <a:srgbClr val="15803D"/>
                </a:solidFill>
                <a:latin typeface="Arial" pitchFamily="34" charset="0"/>
                <a:ea typeface="Arial" pitchFamily="34" charset="-122"/>
                <a:cs typeface="Arial" pitchFamily="34" charset="-120"/>
              </a:rPr>
              <a:t>6. Growth via BITSoM Vertex</a:t>
            </a:r>
            <a:endParaRPr lang="en-US" sz="1150" dirty="0"/>
          </a:p>
        </p:txBody>
      </p:sp>
      <p:sp>
        <p:nvSpPr>
          <p:cNvPr id="27" name="Text 25"/>
          <p:cNvSpPr/>
          <p:nvPr/>
        </p:nvSpPr>
        <p:spPr>
          <a:xfrm>
            <a:off x="6263640" y="5367528"/>
            <a:ext cx="4663440" cy="731520"/>
          </a:xfrm>
          <a:prstGeom prst="rect">
            <a:avLst/>
          </a:prstGeom>
          <a:noFill/>
          <a:ln/>
        </p:spPr>
        <p:txBody>
          <a:bodyPr wrap="square" rtlCol="0" anchor="ctr"/>
          <a:lstStyle/>
          <a:p>
            <a:pPr marL="0" indent="0">
              <a:lnSpc>
                <a:spcPts val="1400"/>
              </a:lnSpc>
              <a:buNone/>
            </a:pPr>
            <a:r>
              <a:rPr lang="en-US" sz="1000" dirty="0">
                <a:solidFill>
                  <a:srgbClr val="334155"/>
                </a:solidFill>
                <a:latin typeface="Arial" pitchFamily="34" charset="0"/>
                <a:ea typeface="Arial" pitchFamily="34" charset="-122"/>
                <a:cs typeface="Arial" pitchFamily="34" charset="-120"/>
              </a:rPr>
              <a:t>Leveraging incubator network to navigate 6-month enterprise bank procurement cycles and access live shadow-underwriting sandboxes.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92608"/>
            <a:ext cx="4114800" cy="320040"/>
          </a:xfrm>
          <a:prstGeom prst="rect">
            <a:avLst/>
          </a:prstGeom>
          <a:noFill/>
          <a:ln/>
        </p:spPr>
        <p:txBody>
          <a:bodyPr wrap="square" rtlCol="0" anchor="ctr"/>
          <a:lstStyle/>
          <a:p>
            <a:pPr marL="0" indent="0">
              <a:buNone/>
            </a:pPr>
            <a:r>
              <a:rPr lang="en-US" sz="1300" b="1" dirty="0">
                <a:solidFill>
                  <a:srgbClr val="1E293B"/>
                </a:solidFill>
                <a:latin typeface="Arial" pitchFamily="34" charset="0"/>
                <a:ea typeface="Arial" pitchFamily="34" charset="-122"/>
                <a:cs typeface="Arial" pitchFamily="34" charset="-120"/>
              </a:rPr>
              <a:t>BITSoM vertex  |  H2S</a:t>
            </a:r>
            <a:endParaRPr lang="en-US" sz="1300" dirty="0"/>
          </a:p>
        </p:txBody>
      </p:sp>
      <p:sp>
        <p:nvSpPr>
          <p:cNvPr id="3" name="Text 1"/>
          <p:cNvSpPr/>
          <p:nvPr/>
        </p:nvSpPr>
        <p:spPr>
          <a:xfrm>
            <a:off x="6858000" y="292608"/>
            <a:ext cx="4572000" cy="320040"/>
          </a:xfrm>
          <a:prstGeom prst="rect">
            <a:avLst/>
          </a:prstGeom>
          <a:noFill/>
          <a:ln/>
        </p:spPr>
        <p:txBody>
          <a:bodyPr wrap="square" rtlCol="0" anchor="ctr"/>
          <a:lstStyle/>
          <a:p>
            <a:pPr marL="0" indent="0" algn="r">
              <a:buNone/>
            </a:pPr>
            <a:r>
              <a:rPr lang="en-US" sz="1300" b="1" dirty="0">
                <a:solidFill>
                  <a:srgbClr val="F05A28"/>
                </a:solidFill>
                <a:latin typeface="Arial" pitchFamily="34" charset="0"/>
                <a:ea typeface="Arial" pitchFamily="34" charset="-122"/>
                <a:cs typeface="Arial" pitchFamily="34" charset="-120"/>
              </a:rPr>
              <a:t>Builders Pitch Fest 2026</a:t>
            </a:r>
            <a:endParaRPr lang="en-US" sz="1300" dirty="0"/>
          </a:p>
        </p:txBody>
      </p:sp>
      <p:sp>
        <p:nvSpPr>
          <p:cNvPr id="4" name="Shape 2"/>
          <p:cNvSpPr/>
          <p:nvPr/>
        </p:nvSpPr>
        <p:spPr>
          <a:xfrm>
            <a:off x="731520" y="658368"/>
            <a:ext cx="10728655" cy="0"/>
          </a:xfrm>
          <a:prstGeom prst="line">
            <a:avLst/>
          </a:prstGeom>
          <a:noFill/>
          <a:ln w="12700">
            <a:solidFill>
              <a:srgbClr val="E2E8F0"/>
            </a:solidFill>
            <a:prstDash val="solid"/>
          </a:ln>
        </p:spPr>
        <p:txBody>
          <a:bodyPr/>
          <a:lstStyle/>
          <a:p>
            <a:endParaRPr lang="en-IN"/>
          </a:p>
        </p:txBody>
      </p:sp>
      <p:sp>
        <p:nvSpPr>
          <p:cNvPr id="5" name="Text 3"/>
          <p:cNvSpPr/>
          <p:nvPr/>
        </p:nvSpPr>
        <p:spPr>
          <a:xfrm>
            <a:off x="731520" y="777240"/>
            <a:ext cx="10728655" cy="502920"/>
          </a:xfrm>
          <a:prstGeom prst="rect">
            <a:avLst/>
          </a:prstGeom>
          <a:noFill/>
          <a:ln/>
        </p:spPr>
        <p:txBody>
          <a:bodyPr wrap="square" rtlCol="0" anchor="ctr"/>
          <a:lstStyle/>
          <a:p>
            <a:pPr marL="0" indent="0">
              <a:buNone/>
            </a:pPr>
            <a:r>
              <a:rPr lang="en-US" sz="2200" b="1" dirty="0">
                <a:solidFill>
                  <a:srgbClr val="0F172A"/>
                </a:solidFill>
                <a:latin typeface="Arial" pitchFamily="34" charset="0"/>
                <a:ea typeface="Arial" pitchFamily="34" charset="-122"/>
                <a:cs typeface="Arial" pitchFamily="34" charset="-120"/>
              </a:rPr>
              <a:t>Startup Snapshot</a:t>
            </a:r>
            <a:endParaRPr lang="en-US" sz="2200" dirty="0"/>
          </a:p>
        </p:txBody>
      </p:sp>
      <p:sp>
        <p:nvSpPr>
          <p:cNvPr id="6" name="Shape 4"/>
          <p:cNvSpPr/>
          <p:nvPr/>
        </p:nvSpPr>
        <p:spPr>
          <a:xfrm>
            <a:off x="0" y="6748272"/>
            <a:ext cx="12191695" cy="109728"/>
          </a:xfrm>
          <a:prstGeom prst="rect">
            <a:avLst/>
          </a:prstGeom>
          <a:solidFill>
            <a:srgbClr val="F05A28"/>
          </a:solidFill>
          <a:ln w="12700">
            <a:solidFill>
              <a:srgbClr val="F05A28"/>
            </a:solidFill>
            <a:prstDash val="solid"/>
          </a:ln>
        </p:spPr>
        <p:txBody>
          <a:bodyPr/>
          <a:lstStyle/>
          <a:p>
            <a:endParaRPr lang="en-IN"/>
          </a:p>
        </p:txBody>
      </p:sp>
      <p:sp>
        <p:nvSpPr>
          <p:cNvPr id="7" name="Shape 5"/>
          <p:cNvSpPr/>
          <p:nvPr/>
        </p:nvSpPr>
        <p:spPr>
          <a:xfrm>
            <a:off x="731520" y="1371600"/>
            <a:ext cx="5212080" cy="5120640"/>
          </a:xfrm>
          <a:prstGeom prst="roundRect">
            <a:avLst>
              <a:gd name="adj" fmla="val 2143"/>
            </a:avLst>
          </a:prstGeom>
          <a:solidFill>
            <a:srgbClr val="F8FAFC"/>
          </a:solidFill>
          <a:ln w="15240">
            <a:solidFill>
              <a:srgbClr val="E2E8F0"/>
            </a:solidFill>
            <a:prstDash val="solid"/>
          </a:ln>
        </p:spPr>
        <p:txBody>
          <a:bodyPr/>
          <a:lstStyle/>
          <a:p>
            <a:endParaRPr lang="en-IN"/>
          </a:p>
        </p:txBody>
      </p:sp>
      <p:sp>
        <p:nvSpPr>
          <p:cNvPr id="8" name="Shape 6"/>
          <p:cNvSpPr/>
          <p:nvPr/>
        </p:nvSpPr>
        <p:spPr>
          <a:xfrm>
            <a:off x="1005840" y="1554480"/>
            <a:ext cx="4663440" cy="347472"/>
          </a:xfrm>
          <a:prstGeom prst="roundRect">
            <a:avLst>
              <a:gd name="adj" fmla="val 15789"/>
            </a:avLst>
          </a:prstGeom>
          <a:solidFill>
            <a:srgbClr val="FFF7ED"/>
          </a:solidFill>
          <a:ln w="12700">
            <a:solidFill>
              <a:srgbClr val="FDBA74"/>
            </a:solidFill>
            <a:prstDash val="solid"/>
          </a:ln>
        </p:spPr>
        <p:txBody>
          <a:bodyPr/>
          <a:lstStyle/>
          <a:p>
            <a:endParaRPr lang="en-IN"/>
          </a:p>
        </p:txBody>
      </p:sp>
      <p:sp>
        <p:nvSpPr>
          <p:cNvPr id="9" name="Text 7"/>
          <p:cNvSpPr/>
          <p:nvPr/>
        </p:nvSpPr>
        <p:spPr>
          <a:xfrm>
            <a:off x="1097280" y="1554480"/>
            <a:ext cx="4480560" cy="347472"/>
          </a:xfrm>
          <a:prstGeom prst="rect">
            <a:avLst/>
          </a:prstGeom>
          <a:noFill/>
          <a:ln/>
        </p:spPr>
        <p:txBody>
          <a:bodyPr wrap="square" rtlCol="0" anchor="ctr"/>
          <a:lstStyle/>
          <a:p>
            <a:pPr marL="0" indent="0">
              <a:buNone/>
            </a:pPr>
            <a:r>
              <a:rPr lang="en-US" sz="1100" b="1" dirty="0">
                <a:solidFill>
                  <a:srgbClr val="C2410C"/>
                </a:solidFill>
                <a:latin typeface="Arial" pitchFamily="34" charset="0"/>
                <a:ea typeface="Arial" pitchFamily="34" charset="-122"/>
                <a:cs typeface="Arial" pitchFamily="34" charset="-120"/>
              </a:rPr>
              <a:t>1. WHAT DOES YOUR STARTUP DO?</a:t>
            </a:r>
            <a:endParaRPr lang="en-US" sz="1100" dirty="0"/>
          </a:p>
        </p:txBody>
      </p:sp>
      <p:sp>
        <p:nvSpPr>
          <p:cNvPr id="10" name="Text 8"/>
          <p:cNvSpPr/>
          <p:nvPr/>
        </p:nvSpPr>
        <p:spPr>
          <a:xfrm>
            <a:off x="1005840" y="2011680"/>
            <a:ext cx="4663440" cy="502920"/>
          </a:xfrm>
          <a:prstGeom prst="rect">
            <a:avLst/>
          </a:prstGeom>
          <a:noFill/>
          <a:ln/>
        </p:spPr>
        <p:txBody>
          <a:bodyPr wrap="square" rtlCol="0" anchor="ctr"/>
          <a:lstStyle/>
          <a:p>
            <a:pPr marL="0" indent="0">
              <a:buNone/>
            </a:pPr>
            <a:r>
              <a:rPr lang="en-US" sz="1500" b="1" dirty="0">
                <a:solidFill>
                  <a:srgbClr val="0F172A"/>
                </a:solidFill>
                <a:latin typeface="Arial" pitchFamily="34" charset="0"/>
                <a:ea typeface="Arial" pitchFamily="34" charset="-122"/>
                <a:cs typeface="Arial" pitchFamily="34" charset="-120"/>
              </a:rPr>
              <a:t>Autonomous MSME Credit Intelligence &amp; Underwriting Citadel</a:t>
            </a:r>
            <a:endParaRPr lang="en-US" sz="1500" dirty="0"/>
          </a:p>
        </p:txBody>
      </p:sp>
      <p:sp>
        <p:nvSpPr>
          <p:cNvPr id="11" name="Text 9"/>
          <p:cNvSpPr/>
          <p:nvPr/>
        </p:nvSpPr>
        <p:spPr>
          <a:xfrm>
            <a:off x="1005840" y="2560320"/>
            <a:ext cx="4663440" cy="3749040"/>
          </a:xfrm>
          <a:prstGeom prst="rect">
            <a:avLst/>
          </a:prstGeom>
          <a:noFill/>
          <a:ln/>
        </p:spPr>
        <p:txBody>
          <a:bodyPr wrap="square" rtlCol="0" anchor="ctr"/>
          <a:lstStyle/>
          <a:p>
            <a:pPr marL="0" indent="0">
              <a:lnSpc>
                <a:spcPts val="1600"/>
              </a:lnSpc>
              <a:buNone/>
            </a:pPr>
            <a:r>
              <a:rPr lang="en-US" sz="1050" b="1" dirty="0">
                <a:solidFill>
                  <a:srgbClr val="0F172A"/>
                </a:solidFill>
                <a:latin typeface="Arial" pitchFamily="34" charset="0"/>
                <a:ea typeface="Arial" pitchFamily="34" charset="-122"/>
                <a:cs typeface="Arial" pitchFamily="34" charset="-120"/>
              </a:rPr>
              <a:t>• Core Value Proposition: </a:t>
            </a:r>
            <a:r>
              <a:rPr lang="en-US" sz="1050" dirty="0">
                <a:solidFill>
                  <a:srgbClr val="334155"/>
                </a:solidFill>
                <a:latin typeface="Arial" pitchFamily="34" charset="0"/>
                <a:ea typeface="Arial" pitchFamily="34" charset="-122"/>
                <a:cs typeface="Arial" pitchFamily="34" charset="-120"/>
              </a:rPr>
              <a:t>EnverAI Artificer is an autonomous, multi-agent underwriting platform engineered specifically for New-to-Credit (NTC) MSMEs.
</a:t>
            </a:r>
            <a:r>
              <a:rPr lang="en-US" sz="1050" b="1" dirty="0">
                <a:solidFill>
                  <a:srgbClr val="0F172A"/>
                </a:solidFill>
                <a:latin typeface="Arial" pitchFamily="34" charset="0"/>
                <a:ea typeface="Arial" pitchFamily="34" charset="-122"/>
                <a:cs typeface="Arial" pitchFamily="34" charset="-120"/>
              </a:rPr>
              <a:t>• Ingests Unstructured Alternate Data: </a:t>
            </a:r>
            <a:r>
              <a:rPr lang="en-US" sz="1050" dirty="0">
                <a:solidFill>
                  <a:srgbClr val="334155"/>
                </a:solidFill>
                <a:latin typeface="Arial" pitchFamily="34" charset="0"/>
                <a:ea typeface="Arial" pitchFamily="34" charset="-122"/>
                <a:cs typeface="Arial" pitchFamily="34" charset="-120"/>
              </a:rPr>
              <a:t>Eliminates manual file audits by reconciling multi-page bank statements (PDF/CSV), Account Aggregator (AA / Sahamati) JSON feeds, GST returns (GSTR-1, GSTR-3B), and public regulatory records (MCA21, litigation databases).
</a:t>
            </a:r>
            <a:r>
              <a:rPr lang="en-US" sz="1050" b="1" dirty="0">
                <a:solidFill>
                  <a:srgbClr val="0F172A"/>
                </a:solidFill>
                <a:latin typeface="Arial" pitchFamily="34" charset="0"/>
                <a:ea typeface="Arial" pitchFamily="34" charset="-122"/>
                <a:cs typeface="Arial" pitchFamily="34" charset="-120"/>
              </a:rPr>
              <a:t>• Instant Verifiable Health Card: </a:t>
            </a:r>
            <a:r>
              <a:rPr lang="en-US" sz="1050" dirty="0">
                <a:solidFill>
                  <a:srgbClr val="334155"/>
                </a:solidFill>
                <a:latin typeface="Arial" pitchFamily="34" charset="0"/>
                <a:ea typeface="Arial" pitchFamily="34" charset="-122"/>
                <a:cs typeface="Arial" pitchFamily="34" charset="-120"/>
              </a:rPr>
              <a:t>Synthesizes an institutional-grade Credit Health Card (Score: 300–900, Risk Tier: LOW/MED/HIGH, quantitative debt/liquidity ratios, and forensic line-item citations) in under 55 seconds, reducing decision latency by 99.5%.</a:t>
            </a:r>
            <a:endParaRPr lang="en-US" sz="1050" dirty="0"/>
          </a:p>
        </p:txBody>
      </p:sp>
      <p:sp>
        <p:nvSpPr>
          <p:cNvPr id="12" name="Shape 10"/>
          <p:cNvSpPr/>
          <p:nvPr/>
        </p:nvSpPr>
        <p:spPr>
          <a:xfrm>
            <a:off x="6248095" y="1371600"/>
            <a:ext cx="5212080" cy="5120640"/>
          </a:xfrm>
          <a:prstGeom prst="roundRect">
            <a:avLst>
              <a:gd name="adj" fmla="val 2143"/>
            </a:avLst>
          </a:prstGeom>
          <a:solidFill>
            <a:srgbClr val="F8FAFC"/>
          </a:solidFill>
          <a:ln w="15240">
            <a:solidFill>
              <a:srgbClr val="E2E8F0"/>
            </a:solidFill>
            <a:prstDash val="solid"/>
          </a:ln>
        </p:spPr>
        <p:txBody>
          <a:bodyPr/>
          <a:lstStyle/>
          <a:p>
            <a:endParaRPr lang="en-IN"/>
          </a:p>
        </p:txBody>
      </p:sp>
      <p:sp>
        <p:nvSpPr>
          <p:cNvPr id="13" name="Shape 11"/>
          <p:cNvSpPr/>
          <p:nvPr/>
        </p:nvSpPr>
        <p:spPr>
          <a:xfrm>
            <a:off x="6522415" y="1554480"/>
            <a:ext cx="4663440" cy="347472"/>
          </a:xfrm>
          <a:prstGeom prst="roundRect">
            <a:avLst>
              <a:gd name="adj" fmla="val 15789"/>
            </a:avLst>
          </a:prstGeom>
          <a:solidFill>
            <a:srgbClr val="F0FDF4"/>
          </a:solidFill>
          <a:ln w="12700">
            <a:solidFill>
              <a:srgbClr val="E2E8F0"/>
            </a:solidFill>
            <a:prstDash val="solid"/>
          </a:ln>
        </p:spPr>
        <p:txBody>
          <a:bodyPr/>
          <a:lstStyle/>
          <a:p>
            <a:endParaRPr lang="en-IN"/>
          </a:p>
        </p:txBody>
      </p:sp>
      <p:sp>
        <p:nvSpPr>
          <p:cNvPr id="14" name="Text 12"/>
          <p:cNvSpPr/>
          <p:nvPr/>
        </p:nvSpPr>
        <p:spPr>
          <a:xfrm>
            <a:off x="6613855" y="1554480"/>
            <a:ext cx="4480560" cy="347472"/>
          </a:xfrm>
          <a:prstGeom prst="rect">
            <a:avLst/>
          </a:prstGeom>
          <a:noFill/>
          <a:ln/>
        </p:spPr>
        <p:txBody>
          <a:bodyPr wrap="square" rtlCol="0" anchor="ctr"/>
          <a:lstStyle/>
          <a:p>
            <a:pPr marL="0" indent="0">
              <a:buNone/>
            </a:pPr>
            <a:r>
              <a:rPr lang="en-US" sz="1050" b="1" dirty="0">
                <a:solidFill>
                  <a:srgbClr val="15803D"/>
                </a:solidFill>
                <a:latin typeface="Arial" pitchFamily="34" charset="0"/>
                <a:ea typeface="Arial" pitchFamily="34" charset="-122"/>
                <a:cs typeface="Arial" pitchFamily="34" charset="-120"/>
              </a:rPr>
              <a:t>2. WHAT MILESTONE BEST REPRESENTS YOUR PROGRESS SO FAR?</a:t>
            </a:r>
            <a:endParaRPr lang="en-US" sz="1050" dirty="0"/>
          </a:p>
        </p:txBody>
      </p:sp>
      <p:sp>
        <p:nvSpPr>
          <p:cNvPr id="15" name="Text 13"/>
          <p:cNvSpPr/>
          <p:nvPr/>
        </p:nvSpPr>
        <p:spPr>
          <a:xfrm>
            <a:off x="6522415" y="2011680"/>
            <a:ext cx="4663440" cy="502920"/>
          </a:xfrm>
          <a:prstGeom prst="rect">
            <a:avLst/>
          </a:prstGeom>
          <a:noFill/>
          <a:ln/>
        </p:spPr>
        <p:txBody>
          <a:bodyPr wrap="square" rtlCol="0" anchor="ctr"/>
          <a:lstStyle/>
          <a:p>
            <a:pPr marL="0" indent="0">
              <a:buNone/>
            </a:pPr>
            <a:r>
              <a:rPr lang="en-US" sz="1450" b="1" dirty="0">
                <a:solidFill>
                  <a:srgbClr val="0F172A"/>
                </a:solidFill>
                <a:latin typeface="Arial" pitchFamily="34" charset="0"/>
                <a:ea typeface="Arial" pitchFamily="34" charset="-122"/>
                <a:cs typeface="Arial" pitchFamily="34" charset="-120"/>
              </a:rPr>
              <a:t>Incubator Selection (FITT &amp; Jubilant), Hub71 &amp; 1,000+ Datasets</a:t>
            </a:r>
            <a:endParaRPr lang="en-US" sz="1450" dirty="0"/>
          </a:p>
        </p:txBody>
      </p:sp>
      <p:sp>
        <p:nvSpPr>
          <p:cNvPr id="16" name="Text 14"/>
          <p:cNvSpPr/>
          <p:nvPr/>
        </p:nvSpPr>
        <p:spPr>
          <a:xfrm>
            <a:off x="6522415" y="2560320"/>
            <a:ext cx="4663440" cy="3749040"/>
          </a:xfrm>
          <a:prstGeom prst="rect">
            <a:avLst/>
          </a:prstGeom>
          <a:noFill/>
          <a:ln/>
        </p:spPr>
        <p:txBody>
          <a:bodyPr wrap="square" rtlCol="0" anchor="ctr"/>
          <a:lstStyle/>
          <a:p>
            <a:pPr marL="0" indent="0">
              <a:lnSpc>
                <a:spcPts val="1500"/>
              </a:lnSpc>
              <a:buNone/>
            </a:pPr>
            <a:r>
              <a:rPr lang="en-US" sz="1000" b="1" dirty="0">
                <a:solidFill>
                  <a:srgbClr val="0F172A"/>
                </a:solidFill>
                <a:latin typeface="Arial" pitchFamily="34" charset="0"/>
                <a:ea typeface="Arial" pitchFamily="34" charset="-122"/>
                <a:cs typeface="Arial" pitchFamily="34" charset="-120"/>
              </a:rPr>
              <a:t>• Institutional Incubator Selection &amp; Global Validation: </a:t>
            </a:r>
            <a:r>
              <a:rPr lang="en-US" sz="1000" dirty="0">
                <a:solidFill>
                  <a:srgbClr val="334155"/>
                </a:solidFill>
                <a:latin typeface="Arial" pitchFamily="34" charset="0"/>
                <a:ea typeface="Arial" pitchFamily="34" charset="-122"/>
                <a:cs typeface="Arial" pitchFamily="34" charset="-120"/>
              </a:rPr>
              <a:t>Officially selected for FITT (Foundation for Innovation and Technology Transfer — IIT Delhi) and the Jubilant Life Foundation Incubator programs; successfully attended and completed the global Hub71 Validation Workshop.
</a:t>
            </a:r>
            <a:r>
              <a:rPr lang="en-US" sz="1000" b="1" dirty="0">
                <a:solidFill>
                  <a:srgbClr val="0F172A"/>
                </a:solidFill>
                <a:latin typeface="Arial" pitchFamily="34" charset="0"/>
                <a:ea typeface="Arial" pitchFamily="34" charset="-122"/>
                <a:cs typeface="Arial" pitchFamily="34" charset="-120"/>
              </a:rPr>
              <a:t>• Validated across 1,000+ Indian Financial Records: </a:t>
            </a:r>
            <a:r>
              <a:rPr lang="en-US" sz="1000" dirty="0">
                <a:solidFill>
                  <a:srgbClr val="334155"/>
                </a:solidFill>
                <a:latin typeface="Arial" pitchFamily="34" charset="0"/>
                <a:ea typeface="Arial" pitchFamily="34" charset="-122"/>
                <a:cs typeface="Arial" pitchFamily="34" charset="-120"/>
              </a:rPr>
              <a:t>Benchmark tested on real-world Indian bank statements and GST returns from the AgamiAI open dataset with 100% extraction accuracy and zero hallucinations.
</a:t>
            </a:r>
            <a:r>
              <a:rPr lang="en-US" sz="1000" b="1" dirty="0">
                <a:solidFill>
                  <a:srgbClr val="0F172A"/>
                </a:solidFill>
                <a:latin typeface="Arial" pitchFamily="34" charset="0"/>
                <a:ea typeface="Arial" pitchFamily="34" charset="-122"/>
                <a:cs typeface="Arial" pitchFamily="34" charset="-120"/>
              </a:rPr>
              <a:t>• Production Multi-Agent Underwriting Cockpit: </a:t>
            </a:r>
            <a:r>
              <a:rPr lang="en-US" sz="1000" dirty="0">
                <a:solidFill>
                  <a:srgbClr val="334155"/>
                </a:solidFill>
                <a:latin typeface="Arial" pitchFamily="34" charset="0"/>
                <a:ea typeface="Arial" pitchFamily="34" charset="-122"/>
                <a:cs typeface="Arial" pitchFamily="34" charset="-120"/>
              </a:rPr>
              <a:t>Live deployed engine powered by Google Gemini 2.5 Flash &amp; Pro featuring real-time Server-Sent Events (SSE) telemetry and Conversational XAI Interrogation Drawer.</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92608"/>
            <a:ext cx="4114800" cy="320040"/>
          </a:xfrm>
          <a:prstGeom prst="rect">
            <a:avLst/>
          </a:prstGeom>
          <a:noFill/>
          <a:ln/>
        </p:spPr>
        <p:txBody>
          <a:bodyPr wrap="square" rtlCol="0" anchor="ctr"/>
          <a:lstStyle/>
          <a:p>
            <a:pPr marL="0" indent="0">
              <a:buNone/>
            </a:pPr>
            <a:r>
              <a:rPr lang="en-US" sz="1300" b="1" dirty="0">
                <a:solidFill>
                  <a:srgbClr val="1E293B"/>
                </a:solidFill>
                <a:latin typeface="Arial" pitchFamily="34" charset="0"/>
                <a:ea typeface="Arial" pitchFamily="34" charset="-122"/>
                <a:cs typeface="Arial" pitchFamily="34" charset="-120"/>
              </a:rPr>
              <a:t>BITSoM vertex  |  H2S</a:t>
            </a:r>
            <a:endParaRPr lang="en-US" sz="1300" dirty="0"/>
          </a:p>
        </p:txBody>
      </p:sp>
      <p:sp>
        <p:nvSpPr>
          <p:cNvPr id="3" name="Text 1"/>
          <p:cNvSpPr/>
          <p:nvPr/>
        </p:nvSpPr>
        <p:spPr>
          <a:xfrm>
            <a:off x="6858000" y="292608"/>
            <a:ext cx="4572000" cy="320040"/>
          </a:xfrm>
          <a:prstGeom prst="rect">
            <a:avLst/>
          </a:prstGeom>
          <a:noFill/>
          <a:ln/>
        </p:spPr>
        <p:txBody>
          <a:bodyPr wrap="square" rtlCol="0" anchor="ctr"/>
          <a:lstStyle/>
          <a:p>
            <a:pPr marL="0" indent="0" algn="r">
              <a:buNone/>
            </a:pPr>
            <a:r>
              <a:rPr lang="en-US" sz="1300" b="1" dirty="0">
                <a:solidFill>
                  <a:srgbClr val="F05A28"/>
                </a:solidFill>
                <a:latin typeface="Arial" pitchFamily="34" charset="0"/>
                <a:ea typeface="Arial" pitchFamily="34" charset="-122"/>
                <a:cs typeface="Arial" pitchFamily="34" charset="-120"/>
              </a:rPr>
              <a:t>Builders Pitch Fest 2026</a:t>
            </a:r>
            <a:endParaRPr lang="en-US" sz="1300" dirty="0"/>
          </a:p>
        </p:txBody>
      </p:sp>
      <p:sp>
        <p:nvSpPr>
          <p:cNvPr id="4" name="Shape 2"/>
          <p:cNvSpPr/>
          <p:nvPr/>
        </p:nvSpPr>
        <p:spPr>
          <a:xfrm>
            <a:off x="731520" y="658368"/>
            <a:ext cx="10728655" cy="0"/>
          </a:xfrm>
          <a:prstGeom prst="line">
            <a:avLst/>
          </a:prstGeom>
          <a:noFill/>
          <a:ln w="12700">
            <a:solidFill>
              <a:srgbClr val="E2E8F0"/>
            </a:solidFill>
            <a:prstDash val="solid"/>
          </a:ln>
        </p:spPr>
        <p:txBody>
          <a:bodyPr/>
          <a:lstStyle/>
          <a:p>
            <a:endParaRPr lang="en-IN"/>
          </a:p>
        </p:txBody>
      </p:sp>
      <p:sp>
        <p:nvSpPr>
          <p:cNvPr id="5" name="Text 3"/>
          <p:cNvSpPr/>
          <p:nvPr/>
        </p:nvSpPr>
        <p:spPr>
          <a:xfrm>
            <a:off x="731520" y="777240"/>
            <a:ext cx="10728655" cy="502920"/>
          </a:xfrm>
          <a:prstGeom prst="rect">
            <a:avLst/>
          </a:prstGeom>
          <a:noFill/>
          <a:ln/>
        </p:spPr>
        <p:txBody>
          <a:bodyPr wrap="square" rtlCol="0" anchor="ctr"/>
          <a:lstStyle/>
          <a:p>
            <a:pPr marL="0" indent="0">
              <a:buNone/>
            </a:pPr>
            <a:r>
              <a:rPr lang="en-US" sz="2200" b="1" dirty="0">
                <a:solidFill>
                  <a:srgbClr val="0F172A"/>
                </a:solidFill>
                <a:latin typeface="Arial" pitchFamily="34" charset="0"/>
                <a:ea typeface="Arial" pitchFamily="34" charset="-122"/>
                <a:cs typeface="Arial" pitchFamily="34" charset="-120"/>
              </a:rPr>
              <a:t>Problem Understanding</a:t>
            </a:r>
            <a:endParaRPr lang="en-US" sz="2200" dirty="0"/>
          </a:p>
        </p:txBody>
      </p:sp>
      <p:sp>
        <p:nvSpPr>
          <p:cNvPr id="6" name="Shape 4"/>
          <p:cNvSpPr/>
          <p:nvPr/>
        </p:nvSpPr>
        <p:spPr>
          <a:xfrm>
            <a:off x="0" y="6748272"/>
            <a:ext cx="12191695" cy="109728"/>
          </a:xfrm>
          <a:prstGeom prst="rect">
            <a:avLst/>
          </a:prstGeom>
          <a:solidFill>
            <a:srgbClr val="F05A28"/>
          </a:solidFill>
          <a:ln w="12700">
            <a:solidFill>
              <a:srgbClr val="F05A28"/>
            </a:solidFill>
            <a:prstDash val="solid"/>
          </a:ln>
        </p:spPr>
        <p:txBody>
          <a:bodyPr/>
          <a:lstStyle/>
          <a:p>
            <a:endParaRPr lang="en-IN"/>
          </a:p>
        </p:txBody>
      </p:sp>
      <p:sp>
        <p:nvSpPr>
          <p:cNvPr id="7" name="Shape 5"/>
          <p:cNvSpPr/>
          <p:nvPr/>
        </p:nvSpPr>
        <p:spPr>
          <a:xfrm>
            <a:off x="731520" y="1371600"/>
            <a:ext cx="5212080" cy="5120640"/>
          </a:xfrm>
          <a:prstGeom prst="roundRect">
            <a:avLst>
              <a:gd name="adj" fmla="val 2143"/>
            </a:avLst>
          </a:prstGeom>
          <a:solidFill>
            <a:srgbClr val="F8FAFC"/>
          </a:solidFill>
          <a:ln w="15240">
            <a:solidFill>
              <a:srgbClr val="E2E8F0"/>
            </a:solidFill>
            <a:prstDash val="solid"/>
          </a:ln>
        </p:spPr>
        <p:txBody>
          <a:bodyPr/>
          <a:lstStyle/>
          <a:p>
            <a:endParaRPr lang="en-IN"/>
          </a:p>
        </p:txBody>
      </p:sp>
      <p:sp>
        <p:nvSpPr>
          <p:cNvPr id="8" name="Shape 6"/>
          <p:cNvSpPr/>
          <p:nvPr/>
        </p:nvSpPr>
        <p:spPr>
          <a:xfrm>
            <a:off x="1005840" y="1554480"/>
            <a:ext cx="4663440" cy="347472"/>
          </a:xfrm>
          <a:prstGeom prst="roundRect">
            <a:avLst>
              <a:gd name="adj" fmla="val 15789"/>
            </a:avLst>
          </a:prstGeom>
          <a:solidFill>
            <a:srgbClr val="FFF7ED"/>
          </a:solidFill>
          <a:ln w="12700">
            <a:solidFill>
              <a:srgbClr val="FDBA74"/>
            </a:solidFill>
            <a:prstDash val="solid"/>
          </a:ln>
        </p:spPr>
        <p:txBody>
          <a:bodyPr/>
          <a:lstStyle/>
          <a:p>
            <a:endParaRPr lang="en-IN"/>
          </a:p>
        </p:txBody>
      </p:sp>
      <p:sp>
        <p:nvSpPr>
          <p:cNvPr id="9" name="Text 7"/>
          <p:cNvSpPr/>
          <p:nvPr/>
        </p:nvSpPr>
        <p:spPr>
          <a:xfrm>
            <a:off x="1097280" y="1554480"/>
            <a:ext cx="4480560" cy="347472"/>
          </a:xfrm>
          <a:prstGeom prst="rect">
            <a:avLst/>
          </a:prstGeom>
          <a:noFill/>
          <a:ln/>
        </p:spPr>
        <p:txBody>
          <a:bodyPr wrap="square" rtlCol="0" anchor="ctr"/>
          <a:lstStyle/>
          <a:p>
            <a:pPr marL="0" indent="0">
              <a:buNone/>
            </a:pPr>
            <a:r>
              <a:rPr lang="en-US" sz="950" b="1" dirty="0">
                <a:solidFill>
                  <a:srgbClr val="C2410C"/>
                </a:solidFill>
                <a:latin typeface="Arial" pitchFamily="34" charset="0"/>
                <a:ea typeface="Arial" pitchFamily="34" charset="-122"/>
                <a:cs typeface="Arial" pitchFamily="34" charset="-120"/>
              </a:rPr>
              <a:t>1. WHAT PROBLEM ARE YOU SOLVING, AND WHO EXPERIENCES IT?</a:t>
            </a:r>
            <a:endParaRPr lang="en-US" sz="950" dirty="0"/>
          </a:p>
        </p:txBody>
      </p:sp>
      <p:sp>
        <p:nvSpPr>
          <p:cNvPr id="10" name="Text 8"/>
          <p:cNvSpPr/>
          <p:nvPr/>
        </p:nvSpPr>
        <p:spPr>
          <a:xfrm>
            <a:off x="1005840" y="2011680"/>
            <a:ext cx="4663440" cy="502920"/>
          </a:xfrm>
          <a:prstGeom prst="rect">
            <a:avLst/>
          </a:prstGeom>
          <a:noFill/>
          <a:ln/>
        </p:spPr>
        <p:txBody>
          <a:bodyPr wrap="square" rtlCol="0" anchor="ctr"/>
          <a:lstStyle/>
          <a:p>
            <a:pPr marL="0" indent="0">
              <a:buNone/>
            </a:pPr>
            <a:r>
              <a:rPr lang="en-US" sz="1500" b="1" dirty="0">
                <a:solidFill>
                  <a:srgbClr val="0F172A"/>
                </a:solidFill>
                <a:latin typeface="Arial" pitchFamily="34" charset="0"/>
                <a:ea typeface="Arial" pitchFamily="34" charset="-122"/>
                <a:cs typeface="Arial" pitchFamily="34" charset="-120"/>
              </a:rPr>
              <a:t>Legacy Bureaus Exclude 70% of Creditworthy NTC MSMEs</a:t>
            </a:r>
            <a:endParaRPr lang="en-US" sz="1500" dirty="0"/>
          </a:p>
        </p:txBody>
      </p:sp>
      <p:sp>
        <p:nvSpPr>
          <p:cNvPr id="11" name="Text 9"/>
          <p:cNvSpPr/>
          <p:nvPr/>
        </p:nvSpPr>
        <p:spPr>
          <a:xfrm>
            <a:off x="1005840" y="2560320"/>
            <a:ext cx="4663440" cy="3749040"/>
          </a:xfrm>
          <a:prstGeom prst="rect">
            <a:avLst/>
          </a:prstGeom>
          <a:noFill/>
          <a:ln/>
        </p:spPr>
        <p:txBody>
          <a:bodyPr wrap="square" rtlCol="0" anchor="ctr"/>
          <a:lstStyle/>
          <a:p>
            <a:pPr marL="0" indent="0">
              <a:lnSpc>
                <a:spcPts val="1500"/>
              </a:lnSpc>
              <a:buNone/>
            </a:pPr>
            <a:r>
              <a:rPr lang="en-US" sz="1000" b="1" dirty="0">
                <a:solidFill>
                  <a:srgbClr val="C2410C"/>
                </a:solidFill>
                <a:latin typeface="Arial" pitchFamily="34" charset="0"/>
                <a:ea typeface="Arial" pitchFamily="34" charset="-122"/>
                <a:cs typeface="Arial" pitchFamily="34" charset="-120"/>
              </a:rPr>
              <a:t>The Problem:
</a:t>
            </a:r>
            <a:r>
              <a:rPr lang="en-US" sz="1000" b="1" dirty="0">
                <a:solidFill>
                  <a:srgbClr val="0F172A"/>
                </a:solidFill>
                <a:latin typeface="Arial" pitchFamily="34" charset="0"/>
                <a:ea typeface="Arial" pitchFamily="34" charset="-122"/>
                <a:cs typeface="Arial" pitchFamily="34" charset="-120"/>
              </a:rPr>
              <a:t>• The $300B+ MSME Credit Void: </a:t>
            </a:r>
            <a:r>
              <a:rPr lang="en-US" sz="1000" dirty="0">
                <a:solidFill>
                  <a:srgbClr val="334155"/>
                </a:solidFill>
                <a:latin typeface="Arial" pitchFamily="34" charset="0"/>
                <a:ea typeface="Arial" pitchFamily="34" charset="-122"/>
                <a:cs typeface="Arial" pitchFamily="34" charset="-120"/>
              </a:rPr>
              <a:t>63M+ Indian MSMEs generate 30% of GDP, yet 70% of New-to-Credit applicants are rejected due to zero legacy CIBIL/bureau repayment footprints.
</a:t>
            </a:r>
            <a:r>
              <a:rPr lang="en-US" sz="1000" b="1" dirty="0">
                <a:solidFill>
                  <a:srgbClr val="0F172A"/>
                </a:solidFill>
                <a:latin typeface="Arial" pitchFamily="34" charset="0"/>
                <a:ea typeface="Arial" pitchFamily="34" charset="-122"/>
                <a:cs typeface="Arial" pitchFamily="34" charset="-120"/>
              </a:rPr>
              <a:t>• 5 to 14 Days Underwriting Turnaround (TAT): </a:t>
            </a:r>
            <a:r>
              <a:rPr lang="en-US" sz="1000" dirty="0">
                <a:solidFill>
                  <a:srgbClr val="334155"/>
                </a:solidFill>
                <a:latin typeface="Arial" pitchFamily="34" charset="0"/>
                <a:ea typeface="Arial" pitchFamily="34" charset="-122"/>
                <a:cs typeface="Arial" pitchFamily="34" charset="-120"/>
              </a:rPr>
              <a:t>Lenders rely on slow, manual CA cross-verification, physical shop audits, and line-by-line bank PDF scanning.
</a:t>
            </a:r>
            <a:r>
              <a:rPr lang="en-US" sz="1000" b="1" dirty="0">
                <a:solidFill>
                  <a:srgbClr val="0F172A"/>
                </a:solidFill>
                <a:latin typeface="Arial" pitchFamily="34" charset="0"/>
                <a:ea typeface="Arial" pitchFamily="34" charset="-122"/>
                <a:cs typeface="Arial" pitchFamily="34" charset="-120"/>
              </a:rPr>
              <a:t>• High Unit Cost ($25-$50 / ₹2,000-₹4,000): </a:t>
            </a:r>
            <a:r>
              <a:rPr lang="en-US" sz="1000" dirty="0">
                <a:solidFill>
                  <a:srgbClr val="334155"/>
                </a:solidFill>
                <a:latin typeface="Arial" pitchFamily="34" charset="0"/>
                <a:ea typeface="Arial" pitchFamily="34" charset="-122"/>
                <a:cs typeface="Arial" pitchFamily="34" charset="-120"/>
              </a:rPr>
              <a:t>Manual processing makes small-ticket working capital loans (&lt;₹10 Lakhs) commercially unviable for banks.
</a:t>
            </a:r>
            <a:r>
              <a:rPr lang="en-US" sz="1000" b="1" dirty="0">
                <a:solidFill>
                  <a:srgbClr val="1E40AF"/>
                </a:solidFill>
                <a:latin typeface="Arial" pitchFamily="34" charset="0"/>
                <a:ea typeface="Arial" pitchFamily="34" charset="-122"/>
                <a:cs typeface="Arial" pitchFamily="34" charset="-120"/>
              </a:rPr>
              <a:t>Who Experiences It Most Acutely:
</a:t>
            </a:r>
            <a:r>
              <a:rPr lang="en-US" sz="1000" dirty="0">
                <a:solidFill>
                  <a:srgbClr val="334155"/>
                </a:solidFill>
                <a:latin typeface="Arial" pitchFamily="34" charset="0"/>
                <a:ea typeface="Arial" pitchFamily="34" charset="-122"/>
                <a:cs typeface="Arial" pitchFamily="34" charset="-120"/>
              </a:rPr>
              <a:t>1. 63M+ Indian MSME Owners: Starved of formal credit, forced into predatory informal lenders charging 30-60% annual interest.</a:t>
            </a:r>
            <a:endParaRPr lang="en-US" sz="1000" dirty="0"/>
          </a:p>
          <a:p>
            <a:pPr marL="0" indent="0">
              <a:lnSpc>
                <a:spcPts val="1500"/>
              </a:lnSpc>
              <a:buNone/>
            </a:pPr>
            <a:r>
              <a:rPr lang="en-US" sz="1000" dirty="0">
                <a:solidFill>
                  <a:srgbClr val="334155"/>
                </a:solidFill>
                <a:latin typeface="Arial" pitchFamily="34" charset="0"/>
                <a:ea typeface="Arial" pitchFamily="34" charset="-122"/>
                <a:cs typeface="Arial" pitchFamily="34" charset="-120"/>
              </a:rPr>
              <a:t>2. Commercial Banks, SFBs &amp; NBFCs: Credit officers overwhelmed with paperwork, missing loan growth targets.</a:t>
            </a:r>
            <a:endParaRPr lang="en-US" sz="1000" dirty="0"/>
          </a:p>
        </p:txBody>
      </p:sp>
      <p:sp>
        <p:nvSpPr>
          <p:cNvPr id="12" name="Shape 10"/>
          <p:cNvSpPr/>
          <p:nvPr/>
        </p:nvSpPr>
        <p:spPr>
          <a:xfrm>
            <a:off x="6248095" y="1371600"/>
            <a:ext cx="5212080" cy="5120640"/>
          </a:xfrm>
          <a:prstGeom prst="roundRect">
            <a:avLst>
              <a:gd name="adj" fmla="val 2143"/>
            </a:avLst>
          </a:prstGeom>
          <a:solidFill>
            <a:srgbClr val="F8FAFC"/>
          </a:solidFill>
          <a:ln w="15240">
            <a:solidFill>
              <a:srgbClr val="E2E8F0"/>
            </a:solidFill>
            <a:prstDash val="solid"/>
          </a:ln>
        </p:spPr>
        <p:txBody>
          <a:bodyPr/>
          <a:lstStyle/>
          <a:p>
            <a:endParaRPr lang="en-IN"/>
          </a:p>
        </p:txBody>
      </p:sp>
      <p:sp>
        <p:nvSpPr>
          <p:cNvPr id="13" name="Shape 11"/>
          <p:cNvSpPr/>
          <p:nvPr/>
        </p:nvSpPr>
        <p:spPr>
          <a:xfrm>
            <a:off x="6522415" y="1554480"/>
            <a:ext cx="4663440" cy="347472"/>
          </a:xfrm>
          <a:prstGeom prst="roundRect">
            <a:avLst>
              <a:gd name="adj" fmla="val 15789"/>
            </a:avLst>
          </a:prstGeom>
          <a:solidFill>
            <a:srgbClr val="F0FDF4"/>
          </a:solidFill>
          <a:ln w="12700">
            <a:solidFill>
              <a:srgbClr val="E2E8F0"/>
            </a:solidFill>
            <a:prstDash val="solid"/>
          </a:ln>
        </p:spPr>
        <p:txBody>
          <a:bodyPr/>
          <a:lstStyle/>
          <a:p>
            <a:endParaRPr lang="en-IN"/>
          </a:p>
        </p:txBody>
      </p:sp>
      <p:sp>
        <p:nvSpPr>
          <p:cNvPr id="14" name="Text 12"/>
          <p:cNvSpPr/>
          <p:nvPr/>
        </p:nvSpPr>
        <p:spPr>
          <a:xfrm>
            <a:off x="6613855" y="1554480"/>
            <a:ext cx="4480560" cy="347472"/>
          </a:xfrm>
          <a:prstGeom prst="rect">
            <a:avLst/>
          </a:prstGeom>
          <a:noFill/>
          <a:ln/>
        </p:spPr>
        <p:txBody>
          <a:bodyPr wrap="square" rtlCol="0" anchor="ctr"/>
          <a:lstStyle/>
          <a:p>
            <a:pPr marL="0" indent="0">
              <a:buNone/>
            </a:pPr>
            <a:r>
              <a:rPr lang="en-US" sz="950" b="1" dirty="0">
                <a:solidFill>
                  <a:srgbClr val="15803D"/>
                </a:solidFill>
                <a:latin typeface="Arial" pitchFamily="34" charset="0"/>
                <a:ea typeface="Arial" pitchFamily="34" charset="-122"/>
                <a:cs typeface="Arial" pitchFamily="34" charset="-120"/>
              </a:rPr>
              <a:t>2. WHAT EVIDENCE VALIDATES THIS AS A MEANINGFUL PROBLEM?</a:t>
            </a:r>
            <a:endParaRPr lang="en-US" sz="950" dirty="0"/>
          </a:p>
        </p:txBody>
      </p:sp>
      <p:sp>
        <p:nvSpPr>
          <p:cNvPr id="15" name="Text 13"/>
          <p:cNvSpPr/>
          <p:nvPr/>
        </p:nvSpPr>
        <p:spPr>
          <a:xfrm>
            <a:off x="6522415" y="2011680"/>
            <a:ext cx="4663440" cy="502920"/>
          </a:xfrm>
          <a:prstGeom prst="rect">
            <a:avLst/>
          </a:prstGeom>
          <a:noFill/>
          <a:ln/>
        </p:spPr>
        <p:txBody>
          <a:bodyPr wrap="square" rtlCol="0" anchor="ctr"/>
          <a:lstStyle/>
          <a:p>
            <a:pPr marL="0" indent="0">
              <a:buNone/>
            </a:pPr>
            <a:r>
              <a:rPr lang="en-US" sz="1500" b="1" dirty="0">
                <a:solidFill>
                  <a:srgbClr val="0F172A"/>
                </a:solidFill>
                <a:latin typeface="Arial" pitchFamily="34" charset="0"/>
                <a:ea typeface="Arial" pitchFamily="34" charset="-122"/>
                <a:cs typeface="Arial" pitchFamily="34" charset="-120"/>
              </a:rPr>
              <a:t>Documented Macro Gap Meets India Stack Opportunity</a:t>
            </a:r>
            <a:endParaRPr lang="en-US" sz="1500" dirty="0"/>
          </a:p>
        </p:txBody>
      </p:sp>
      <p:sp>
        <p:nvSpPr>
          <p:cNvPr id="16" name="Text 14"/>
          <p:cNvSpPr/>
          <p:nvPr/>
        </p:nvSpPr>
        <p:spPr>
          <a:xfrm>
            <a:off x="6522415" y="2560320"/>
            <a:ext cx="4663440" cy="3749040"/>
          </a:xfrm>
          <a:prstGeom prst="rect">
            <a:avLst/>
          </a:prstGeom>
          <a:noFill/>
          <a:ln/>
        </p:spPr>
        <p:txBody>
          <a:bodyPr wrap="square" rtlCol="0" anchor="ctr"/>
          <a:lstStyle/>
          <a:p>
            <a:pPr marL="0" indent="0">
              <a:lnSpc>
                <a:spcPts val="1600"/>
              </a:lnSpc>
              <a:buNone/>
            </a:pPr>
            <a:r>
              <a:rPr lang="en-US" sz="1050" b="1" dirty="0">
                <a:solidFill>
                  <a:srgbClr val="15803D"/>
                </a:solidFill>
                <a:latin typeface="Arial" pitchFamily="34" charset="0"/>
                <a:ea typeface="Arial" pitchFamily="34" charset="-122"/>
                <a:cs typeface="Arial" pitchFamily="34" charset="-120"/>
              </a:rPr>
              <a:t>Empirical Evidence &amp; Market Validation:
</a:t>
            </a:r>
            <a:r>
              <a:rPr lang="en-US" sz="1050" b="1" dirty="0">
                <a:solidFill>
                  <a:srgbClr val="0F172A"/>
                </a:solidFill>
                <a:latin typeface="Arial" pitchFamily="34" charset="0"/>
                <a:ea typeface="Arial" pitchFamily="34" charset="-122"/>
                <a:cs typeface="Arial" pitchFamily="34" charset="-120"/>
              </a:rPr>
              <a:t>• $350B+ Documented Addressable Credit Gap: </a:t>
            </a:r>
            <a:r>
              <a:rPr lang="en-US" sz="1050" dirty="0">
                <a:solidFill>
                  <a:srgbClr val="334155"/>
                </a:solidFill>
                <a:latin typeface="Arial" pitchFamily="34" charset="0"/>
                <a:ea typeface="Arial" pitchFamily="34" charset="-122"/>
                <a:cs typeface="Arial" pitchFamily="34" charset="-120"/>
              </a:rPr>
              <a:t>Documented in exhaustive research by the Reserve Bank of India (U.K. Sinha Committee) and the International Finance Corporation (IFC).
</a:t>
            </a:r>
            <a:r>
              <a:rPr lang="en-US" sz="1050" b="1" dirty="0">
                <a:solidFill>
                  <a:srgbClr val="0F172A"/>
                </a:solidFill>
                <a:latin typeface="Arial" pitchFamily="34" charset="0"/>
                <a:ea typeface="Arial" pitchFamily="34" charset="-122"/>
                <a:cs typeface="Arial" pitchFamily="34" charset="-120"/>
              </a:rPr>
              <a:t>• Data-Rich but Intelligence-Poor: </a:t>
            </a:r>
            <a:r>
              <a:rPr lang="en-US" sz="1050" dirty="0">
                <a:solidFill>
                  <a:srgbClr val="334155"/>
                </a:solidFill>
                <a:latin typeface="Arial" pitchFamily="34" charset="0"/>
                <a:ea typeface="Arial" pitchFamily="34" charset="-122"/>
                <a:cs typeface="Arial" pitchFamily="34" charset="-120"/>
              </a:rPr>
              <a:t>The India Stack (Account Aggregator / Sahamati, GSTN, ULI) makes raw transactional data digitally accessible via API, yet 85%+ of financial institutions lack automated cognitive software to synthesize and audit it.
</a:t>
            </a:r>
            <a:r>
              <a:rPr lang="en-US" sz="1050" b="1" dirty="0">
                <a:solidFill>
                  <a:srgbClr val="0F172A"/>
                </a:solidFill>
                <a:latin typeface="Arial" pitchFamily="34" charset="0"/>
                <a:ea typeface="Arial" pitchFamily="34" charset="-122"/>
                <a:cs typeface="Arial" pitchFamily="34" charset="-120"/>
              </a:rPr>
              <a:t>• Strict Regulatory XAI Mandate: </a:t>
            </a:r>
            <a:r>
              <a:rPr lang="en-US" sz="1050" dirty="0">
                <a:solidFill>
                  <a:srgbClr val="334155"/>
                </a:solidFill>
                <a:latin typeface="Arial" pitchFamily="34" charset="0"/>
                <a:ea typeface="Arial" pitchFamily="34" charset="-122"/>
                <a:cs typeface="Arial" pitchFamily="34" charset="-120"/>
              </a:rPr>
              <a:t>RBI Digital Lending Guidelines strictly prohibit 'black-box' opaque AI scoring. Lenders are legally required to provide verifiable reasons and audit trails for every credit decision — which Artificer natively provides through exact line-item citations.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92608"/>
            <a:ext cx="4114800" cy="320040"/>
          </a:xfrm>
          <a:prstGeom prst="rect">
            <a:avLst/>
          </a:prstGeom>
          <a:noFill/>
          <a:ln/>
        </p:spPr>
        <p:txBody>
          <a:bodyPr wrap="square" rtlCol="0" anchor="ctr"/>
          <a:lstStyle/>
          <a:p>
            <a:pPr marL="0" indent="0">
              <a:buNone/>
            </a:pPr>
            <a:r>
              <a:rPr lang="en-US" sz="1300" b="1" dirty="0">
                <a:solidFill>
                  <a:srgbClr val="1E293B"/>
                </a:solidFill>
                <a:latin typeface="Arial" pitchFamily="34" charset="0"/>
                <a:ea typeface="Arial" pitchFamily="34" charset="-122"/>
                <a:cs typeface="Arial" pitchFamily="34" charset="-120"/>
              </a:rPr>
              <a:t>BITSoM vertex  |  H2S</a:t>
            </a:r>
            <a:endParaRPr lang="en-US" sz="1300" dirty="0"/>
          </a:p>
        </p:txBody>
      </p:sp>
      <p:sp>
        <p:nvSpPr>
          <p:cNvPr id="3" name="Text 1"/>
          <p:cNvSpPr/>
          <p:nvPr/>
        </p:nvSpPr>
        <p:spPr>
          <a:xfrm>
            <a:off x="6858000" y="292608"/>
            <a:ext cx="4572000" cy="320040"/>
          </a:xfrm>
          <a:prstGeom prst="rect">
            <a:avLst/>
          </a:prstGeom>
          <a:noFill/>
          <a:ln/>
        </p:spPr>
        <p:txBody>
          <a:bodyPr wrap="square" rtlCol="0" anchor="ctr"/>
          <a:lstStyle/>
          <a:p>
            <a:pPr marL="0" indent="0" algn="r">
              <a:buNone/>
            </a:pPr>
            <a:r>
              <a:rPr lang="en-US" sz="1300" b="1" dirty="0">
                <a:solidFill>
                  <a:srgbClr val="F05A28"/>
                </a:solidFill>
                <a:latin typeface="Arial" pitchFamily="34" charset="0"/>
                <a:ea typeface="Arial" pitchFamily="34" charset="-122"/>
                <a:cs typeface="Arial" pitchFamily="34" charset="-120"/>
              </a:rPr>
              <a:t>Builders Pitch Fest 2026</a:t>
            </a:r>
            <a:endParaRPr lang="en-US" sz="1300" dirty="0"/>
          </a:p>
        </p:txBody>
      </p:sp>
      <p:sp>
        <p:nvSpPr>
          <p:cNvPr id="4" name="Shape 2"/>
          <p:cNvSpPr/>
          <p:nvPr/>
        </p:nvSpPr>
        <p:spPr>
          <a:xfrm>
            <a:off x="731520" y="658368"/>
            <a:ext cx="10728655" cy="0"/>
          </a:xfrm>
          <a:prstGeom prst="line">
            <a:avLst/>
          </a:prstGeom>
          <a:noFill/>
          <a:ln w="12700">
            <a:solidFill>
              <a:srgbClr val="E2E8F0"/>
            </a:solidFill>
            <a:prstDash val="solid"/>
          </a:ln>
        </p:spPr>
        <p:txBody>
          <a:bodyPr/>
          <a:lstStyle/>
          <a:p>
            <a:endParaRPr lang="en-IN"/>
          </a:p>
        </p:txBody>
      </p:sp>
      <p:sp>
        <p:nvSpPr>
          <p:cNvPr id="5" name="Text 3"/>
          <p:cNvSpPr/>
          <p:nvPr/>
        </p:nvSpPr>
        <p:spPr>
          <a:xfrm>
            <a:off x="731520" y="777240"/>
            <a:ext cx="10728655" cy="502920"/>
          </a:xfrm>
          <a:prstGeom prst="rect">
            <a:avLst/>
          </a:prstGeom>
          <a:noFill/>
          <a:ln/>
        </p:spPr>
        <p:txBody>
          <a:bodyPr wrap="square" rtlCol="0" anchor="ctr"/>
          <a:lstStyle/>
          <a:p>
            <a:pPr marL="0" indent="0">
              <a:buNone/>
            </a:pPr>
            <a:r>
              <a:rPr lang="en-US" sz="2200" b="1" dirty="0">
                <a:solidFill>
                  <a:srgbClr val="0F172A"/>
                </a:solidFill>
                <a:latin typeface="Arial" pitchFamily="34" charset="0"/>
                <a:ea typeface="Arial" pitchFamily="34" charset="-122"/>
                <a:cs typeface="Arial" pitchFamily="34" charset="-120"/>
              </a:rPr>
              <a:t>Customer &amp; Market</a:t>
            </a:r>
            <a:endParaRPr lang="en-US" sz="2200" dirty="0"/>
          </a:p>
        </p:txBody>
      </p:sp>
      <p:sp>
        <p:nvSpPr>
          <p:cNvPr id="6" name="Shape 4"/>
          <p:cNvSpPr/>
          <p:nvPr/>
        </p:nvSpPr>
        <p:spPr>
          <a:xfrm>
            <a:off x="0" y="6748272"/>
            <a:ext cx="12191695" cy="109728"/>
          </a:xfrm>
          <a:prstGeom prst="rect">
            <a:avLst/>
          </a:prstGeom>
          <a:solidFill>
            <a:srgbClr val="F05A28"/>
          </a:solidFill>
          <a:ln w="12700">
            <a:solidFill>
              <a:srgbClr val="F05A28"/>
            </a:solidFill>
            <a:prstDash val="solid"/>
          </a:ln>
        </p:spPr>
        <p:txBody>
          <a:bodyPr/>
          <a:lstStyle/>
          <a:p>
            <a:endParaRPr lang="en-IN"/>
          </a:p>
        </p:txBody>
      </p:sp>
      <p:sp>
        <p:nvSpPr>
          <p:cNvPr id="7" name="Shape 5"/>
          <p:cNvSpPr/>
          <p:nvPr/>
        </p:nvSpPr>
        <p:spPr>
          <a:xfrm>
            <a:off x="731520" y="1371600"/>
            <a:ext cx="5212080" cy="5120640"/>
          </a:xfrm>
          <a:prstGeom prst="roundRect">
            <a:avLst>
              <a:gd name="adj" fmla="val 2143"/>
            </a:avLst>
          </a:prstGeom>
          <a:solidFill>
            <a:srgbClr val="F8FAFC"/>
          </a:solidFill>
          <a:ln w="15240">
            <a:solidFill>
              <a:srgbClr val="E2E8F0"/>
            </a:solidFill>
            <a:prstDash val="solid"/>
          </a:ln>
        </p:spPr>
        <p:txBody>
          <a:bodyPr/>
          <a:lstStyle/>
          <a:p>
            <a:endParaRPr lang="en-IN"/>
          </a:p>
        </p:txBody>
      </p:sp>
      <p:sp>
        <p:nvSpPr>
          <p:cNvPr id="8" name="Shape 6"/>
          <p:cNvSpPr/>
          <p:nvPr/>
        </p:nvSpPr>
        <p:spPr>
          <a:xfrm>
            <a:off x="1005840" y="1554480"/>
            <a:ext cx="4663440" cy="347472"/>
          </a:xfrm>
          <a:prstGeom prst="roundRect">
            <a:avLst>
              <a:gd name="adj" fmla="val 15789"/>
            </a:avLst>
          </a:prstGeom>
          <a:solidFill>
            <a:srgbClr val="FFF7ED"/>
          </a:solidFill>
          <a:ln w="12700">
            <a:solidFill>
              <a:srgbClr val="FDBA74"/>
            </a:solidFill>
            <a:prstDash val="solid"/>
          </a:ln>
        </p:spPr>
        <p:txBody>
          <a:bodyPr/>
          <a:lstStyle/>
          <a:p>
            <a:endParaRPr lang="en-IN"/>
          </a:p>
        </p:txBody>
      </p:sp>
      <p:sp>
        <p:nvSpPr>
          <p:cNvPr id="9" name="Text 7"/>
          <p:cNvSpPr/>
          <p:nvPr/>
        </p:nvSpPr>
        <p:spPr>
          <a:xfrm>
            <a:off x="1097280" y="1554480"/>
            <a:ext cx="4480560" cy="347472"/>
          </a:xfrm>
          <a:prstGeom prst="rect">
            <a:avLst/>
          </a:prstGeom>
          <a:noFill/>
          <a:ln/>
        </p:spPr>
        <p:txBody>
          <a:bodyPr wrap="square" rtlCol="0" anchor="ctr"/>
          <a:lstStyle/>
          <a:p>
            <a:pPr marL="0" indent="0">
              <a:buNone/>
            </a:pPr>
            <a:r>
              <a:rPr lang="en-US" sz="950" b="1" dirty="0">
                <a:solidFill>
                  <a:srgbClr val="C2410C"/>
                </a:solidFill>
                <a:latin typeface="Arial" pitchFamily="34" charset="0"/>
                <a:ea typeface="Arial" pitchFamily="34" charset="-122"/>
                <a:cs typeface="Arial" pitchFamily="34" charset="-120"/>
              </a:rPr>
              <a:t>1. WHO IS YOUR IDEAL CUSTOMER &amp; WHO MAKES BUYING DECISIONS?</a:t>
            </a:r>
            <a:endParaRPr lang="en-US" sz="950" dirty="0"/>
          </a:p>
        </p:txBody>
      </p:sp>
      <p:sp>
        <p:nvSpPr>
          <p:cNvPr id="10" name="Text 8"/>
          <p:cNvSpPr/>
          <p:nvPr/>
        </p:nvSpPr>
        <p:spPr>
          <a:xfrm>
            <a:off x="1005840" y="2011680"/>
            <a:ext cx="4663440" cy="502920"/>
          </a:xfrm>
          <a:prstGeom prst="rect">
            <a:avLst/>
          </a:prstGeom>
          <a:noFill/>
          <a:ln/>
        </p:spPr>
        <p:txBody>
          <a:bodyPr wrap="square" rtlCol="0" anchor="ctr"/>
          <a:lstStyle/>
          <a:p>
            <a:pPr marL="0" indent="0">
              <a:buNone/>
            </a:pPr>
            <a:r>
              <a:rPr lang="en-US" sz="1500" b="1" dirty="0">
                <a:solidFill>
                  <a:srgbClr val="0F172A"/>
                </a:solidFill>
                <a:latin typeface="Arial" pitchFamily="34" charset="0"/>
                <a:ea typeface="Arial" pitchFamily="34" charset="-122"/>
                <a:cs typeface="Arial" pitchFamily="34" charset="-120"/>
              </a:rPr>
              <a:t>Institutional Lenders &amp; Digital Co-Lending Ecosystem</a:t>
            </a:r>
            <a:endParaRPr lang="en-US" sz="1500" dirty="0"/>
          </a:p>
        </p:txBody>
      </p:sp>
      <p:sp>
        <p:nvSpPr>
          <p:cNvPr id="11" name="Text 9"/>
          <p:cNvSpPr/>
          <p:nvPr/>
        </p:nvSpPr>
        <p:spPr>
          <a:xfrm>
            <a:off x="1005840" y="2560320"/>
            <a:ext cx="4663440" cy="3749040"/>
          </a:xfrm>
          <a:prstGeom prst="rect">
            <a:avLst/>
          </a:prstGeom>
          <a:noFill/>
          <a:ln/>
        </p:spPr>
        <p:txBody>
          <a:bodyPr wrap="square" rtlCol="0" anchor="ctr"/>
          <a:lstStyle/>
          <a:p>
            <a:pPr marL="0" indent="0">
              <a:lnSpc>
                <a:spcPts val="1500"/>
              </a:lnSpc>
              <a:buNone/>
            </a:pPr>
            <a:r>
              <a:rPr lang="en-US" sz="1000" b="1" dirty="0">
                <a:solidFill>
                  <a:srgbClr val="C2410C"/>
                </a:solidFill>
                <a:latin typeface="Arial" pitchFamily="34" charset="0"/>
                <a:ea typeface="Arial" pitchFamily="34" charset="-122"/>
                <a:cs typeface="Arial" pitchFamily="34" charset="-120"/>
              </a:rPr>
              <a:t>Ideal Customer Profile (ICP):
</a:t>
            </a:r>
            <a:r>
              <a:rPr lang="en-US" sz="1000" b="1" dirty="0">
                <a:solidFill>
                  <a:srgbClr val="0F172A"/>
                </a:solidFill>
                <a:latin typeface="Arial" pitchFamily="34" charset="0"/>
                <a:ea typeface="Arial" pitchFamily="34" charset="-122"/>
                <a:cs typeface="Arial" pitchFamily="34" charset="-120"/>
              </a:rPr>
              <a:t>• Tier 1 &amp; 2 Commercial Banks: </a:t>
            </a:r>
            <a:r>
              <a:rPr lang="en-US" sz="1000" dirty="0">
                <a:solidFill>
                  <a:srgbClr val="334155"/>
                </a:solidFill>
                <a:latin typeface="Arial" pitchFamily="34" charset="0"/>
                <a:ea typeface="Arial" pitchFamily="34" charset="-122"/>
                <a:cs typeface="Arial" pitchFamily="34" charset="-120"/>
              </a:rPr>
              <a:t>Public and private sector lenders (IDBI, SBI, HDFC, ICICI) seeking to fulfill mandatory MSME Priority Sector Lending (PSL) quotas efficiently.
</a:t>
            </a:r>
            <a:r>
              <a:rPr lang="en-US" sz="1000" b="1" dirty="0">
                <a:solidFill>
                  <a:srgbClr val="0F172A"/>
                </a:solidFill>
                <a:latin typeface="Arial" pitchFamily="34" charset="0"/>
                <a:ea typeface="Arial" pitchFamily="34" charset="-122"/>
                <a:cs typeface="Arial" pitchFamily="34" charset="-120"/>
              </a:rPr>
              <a:t>• Small Finance Banks (SFBs) &amp; NBFCs: </a:t>
            </a:r>
            <a:r>
              <a:rPr lang="en-US" sz="1000" dirty="0">
                <a:solidFill>
                  <a:srgbClr val="334155"/>
                </a:solidFill>
                <a:latin typeface="Arial" pitchFamily="34" charset="0"/>
                <a:ea typeface="Arial" pitchFamily="34" charset="-122"/>
                <a:cs typeface="Arial" pitchFamily="34" charset="-120"/>
              </a:rPr>
              <a:t>AU Small Finance, Equitas, Tata Capital, Aditya Birla Capital scaling unsecured business loans.
</a:t>
            </a:r>
            <a:r>
              <a:rPr lang="en-US" sz="1000" b="1" dirty="0">
                <a:solidFill>
                  <a:srgbClr val="0F172A"/>
                </a:solidFill>
                <a:latin typeface="Arial" pitchFamily="34" charset="0"/>
                <a:ea typeface="Arial" pitchFamily="34" charset="-122"/>
                <a:cs typeface="Arial" pitchFamily="34" charset="-120"/>
              </a:rPr>
              <a:t>• Digital Fintech Co-Lenders: </a:t>
            </a:r>
            <a:r>
              <a:rPr lang="en-US" sz="1000" dirty="0">
                <a:solidFill>
                  <a:srgbClr val="334155"/>
                </a:solidFill>
                <a:latin typeface="Arial" pitchFamily="34" charset="0"/>
                <a:ea typeface="Arial" pitchFamily="34" charset="-122"/>
                <a:cs typeface="Arial" pitchFamily="34" charset="-120"/>
              </a:rPr>
              <a:t>OCEN &amp; ULI platforms needing sub-minute pre-underwriting APIs.
</a:t>
            </a:r>
            <a:r>
              <a:rPr lang="en-US" sz="1000" b="1" dirty="0">
                <a:solidFill>
                  <a:srgbClr val="1E40AF"/>
                </a:solidFill>
                <a:latin typeface="Arial" pitchFamily="34" charset="0"/>
                <a:ea typeface="Arial" pitchFamily="34" charset="-122"/>
                <a:cs typeface="Arial" pitchFamily="34" charset="-120"/>
              </a:rPr>
              <a:t>Economic Buyers &amp; Stakeholders:
</a:t>
            </a:r>
            <a:r>
              <a:rPr lang="en-US" sz="1000" dirty="0">
                <a:solidFill>
                  <a:srgbClr val="334155"/>
                </a:solidFill>
                <a:latin typeface="Arial" pitchFamily="34" charset="0"/>
                <a:ea typeface="Arial" pitchFamily="34" charset="-122"/>
                <a:cs typeface="Arial" pitchFamily="34" charset="-120"/>
              </a:rPr>
              <a:t>• Chief Risk Officer (CRO) &amp; Chief Credit Officer (CCO): Require default prevention, mathematical accuracy, and RBI audit compliance.</a:t>
            </a:r>
            <a:endParaRPr lang="en-US" sz="1000" dirty="0"/>
          </a:p>
          <a:p>
            <a:pPr marL="0" indent="0">
              <a:lnSpc>
                <a:spcPts val="1500"/>
              </a:lnSpc>
              <a:buNone/>
            </a:pPr>
            <a:r>
              <a:rPr lang="en-US" sz="1000" dirty="0">
                <a:solidFill>
                  <a:srgbClr val="334155"/>
                </a:solidFill>
                <a:latin typeface="Arial" pitchFamily="34" charset="0"/>
                <a:ea typeface="Arial" pitchFamily="34" charset="-122"/>
                <a:cs typeface="Arial" pitchFamily="34" charset="-120"/>
              </a:rPr>
              <a:t>• Head of MSME / Digital Lending: Drives loan disbursement volume and lower cost-per-file.</a:t>
            </a:r>
            <a:endParaRPr lang="en-US" sz="1000" dirty="0"/>
          </a:p>
          <a:p>
            <a:pPr marL="0" indent="0">
              <a:lnSpc>
                <a:spcPts val="1500"/>
              </a:lnSpc>
              <a:buNone/>
            </a:pPr>
            <a:r>
              <a:rPr lang="en-US" sz="1000" dirty="0">
                <a:solidFill>
                  <a:srgbClr val="334155"/>
                </a:solidFill>
                <a:latin typeface="Arial" pitchFamily="34" charset="0"/>
                <a:ea typeface="Arial" pitchFamily="34" charset="-122"/>
                <a:cs typeface="Arial" pitchFamily="34" charset="-120"/>
              </a:rPr>
              <a:t>• User Personas: Credit Underwriters &amp; Loan Officers.</a:t>
            </a:r>
            <a:endParaRPr lang="en-US" sz="1000" dirty="0"/>
          </a:p>
        </p:txBody>
      </p:sp>
      <p:sp>
        <p:nvSpPr>
          <p:cNvPr id="12" name="Shape 10"/>
          <p:cNvSpPr/>
          <p:nvPr/>
        </p:nvSpPr>
        <p:spPr>
          <a:xfrm>
            <a:off x="6248095" y="1371600"/>
            <a:ext cx="5212080" cy="5120640"/>
          </a:xfrm>
          <a:prstGeom prst="roundRect">
            <a:avLst>
              <a:gd name="adj" fmla="val 2143"/>
            </a:avLst>
          </a:prstGeom>
          <a:solidFill>
            <a:srgbClr val="F8FAFC"/>
          </a:solidFill>
          <a:ln w="15240">
            <a:solidFill>
              <a:srgbClr val="E2E8F0"/>
            </a:solidFill>
            <a:prstDash val="solid"/>
          </a:ln>
        </p:spPr>
        <p:txBody>
          <a:bodyPr/>
          <a:lstStyle/>
          <a:p>
            <a:endParaRPr lang="en-IN"/>
          </a:p>
        </p:txBody>
      </p:sp>
      <p:sp>
        <p:nvSpPr>
          <p:cNvPr id="13" name="Shape 11"/>
          <p:cNvSpPr/>
          <p:nvPr/>
        </p:nvSpPr>
        <p:spPr>
          <a:xfrm>
            <a:off x="6522415" y="1554480"/>
            <a:ext cx="4663440" cy="347472"/>
          </a:xfrm>
          <a:prstGeom prst="roundRect">
            <a:avLst>
              <a:gd name="adj" fmla="val 15789"/>
            </a:avLst>
          </a:prstGeom>
          <a:solidFill>
            <a:srgbClr val="F0FDF4"/>
          </a:solidFill>
          <a:ln w="12700">
            <a:solidFill>
              <a:srgbClr val="E2E8F0"/>
            </a:solidFill>
            <a:prstDash val="solid"/>
          </a:ln>
        </p:spPr>
        <p:txBody>
          <a:bodyPr/>
          <a:lstStyle/>
          <a:p>
            <a:endParaRPr lang="en-IN"/>
          </a:p>
        </p:txBody>
      </p:sp>
      <p:sp>
        <p:nvSpPr>
          <p:cNvPr id="14" name="Text 12"/>
          <p:cNvSpPr/>
          <p:nvPr/>
        </p:nvSpPr>
        <p:spPr>
          <a:xfrm>
            <a:off x="6613855" y="1554480"/>
            <a:ext cx="4480560" cy="347472"/>
          </a:xfrm>
          <a:prstGeom prst="rect">
            <a:avLst/>
          </a:prstGeom>
          <a:noFill/>
          <a:ln/>
        </p:spPr>
        <p:txBody>
          <a:bodyPr wrap="square" rtlCol="0" anchor="ctr"/>
          <a:lstStyle/>
          <a:p>
            <a:pPr marL="0" indent="0">
              <a:buNone/>
            </a:pPr>
            <a:r>
              <a:rPr lang="en-US" sz="1050" b="1" dirty="0">
                <a:solidFill>
                  <a:srgbClr val="15803D"/>
                </a:solidFill>
                <a:latin typeface="Arial" pitchFamily="34" charset="0"/>
                <a:ea typeface="Arial" pitchFamily="34" charset="-122"/>
                <a:cs typeface="Arial" pitchFamily="34" charset="-120"/>
              </a:rPr>
              <a:t>2. HOW LARGE IS THE OPPORTUNITY YOU ARE TARGETING?</a:t>
            </a:r>
            <a:endParaRPr lang="en-US" sz="1050" dirty="0"/>
          </a:p>
        </p:txBody>
      </p:sp>
      <p:sp>
        <p:nvSpPr>
          <p:cNvPr id="15" name="Text 13"/>
          <p:cNvSpPr/>
          <p:nvPr/>
        </p:nvSpPr>
        <p:spPr>
          <a:xfrm>
            <a:off x="6522415" y="2011680"/>
            <a:ext cx="4663440" cy="502920"/>
          </a:xfrm>
          <a:prstGeom prst="rect">
            <a:avLst/>
          </a:prstGeom>
          <a:noFill/>
          <a:ln/>
        </p:spPr>
        <p:txBody>
          <a:bodyPr wrap="square" rtlCol="0" anchor="ctr"/>
          <a:lstStyle/>
          <a:p>
            <a:pPr marL="0" indent="0">
              <a:buNone/>
            </a:pPr>
            <a:r>
              <a:rPr lang="en-US" sz="1500" b="1" dirty="0">
                <a:solidFill>
                  <a:srgbClr val="0F172A"/>
                </a:solidFill>
                <a:latin typeface="Arial" pitchFamily="34" charset="0"/>
                <a:ea typeface="Arial" pitchFamily="34" charset="-122"/>
                <a:cs typeface="Arial" pitchFamily="34" charset="-120"/>
              </a:rPr>
              <a:t>$1.2B SAM in Indian MSME Underwriting Intelligence</a:t>
            </a:r>
            <a:endParaRPr lang="en-US" sz="1500" dirty="0"/>
          </a:p>
        </p:txBody>
      </p:sp>
      <p:sp>
        <p:nvSpPr>
          <p:cNvPr id="16" name="Shape 14"/>
          <p:cNvSpPr/>
          <p:nvPr/>
        </p:nvSpPr>
        <p:spPr>
          <a:xfrm>
            <a:off x="6522415" y="2606040"/>
            <a:ext cx="4663440" cy="822960"/>
          </a:xfrm>
          <a:prstGeom prst="roundRect">
            <a:avLst>
              <a:gd name="adj" fmla="val 8889"/>
            </a:avLst>
          </a:prstGeom>
          <a:solidFill>
            <a:srgbClr val="FFFFFF"/>
          </a:solidFill>
          <a:ln w="12700">
            <a:solidFill>
              <a:srgbClr val="E2E8F0"/>
            </a:solidFill>
            <a:prstDash val="solid"/>
          </a:ln>
        </p:spPr>
        <p:txBody>
          <a:bodyPr/>
          <a:lstStyle/>
          <a:p>
            <a:endParaRPr lang="en-IN"/>
          </a:p>
        </p:txBody>
      </p:sp>
      <p:sp>
        <p:nvSpPr>
          <p:cNvPr id="17" name="Text 15"/>
          <p:cNvSpPr/>
          <p:nvPr/>
        </p:nvSpPr>
        <p:spPr>
          <a:xfrm>
            <a:off x="6659575" y="2697480"/>
            <a:ext cx="4389120" cy="274320"/>
          </a:xfrm>
          <a:prstGeom prst="rect">
            <a:avLst/>
          </a:prstGeom>
          <a:noFill/>
          <a:ln/>
        </p:spPr>
        <p:txBody>
          <a:bodyPr wrap="square" rtlCol="0" anchor="ctr"/>
          <a:lstStyle/>
          <a:p>
            <a:pPr marL="0" indent="0">
              <a:buNone/>
            </a:pPr>
            <a:r>
              <a:rPr lang="en-US" sz="1150" b="1" dirty="0">
                <a:solidFill>
                  <a:srgbClr val="C2410C"/>
                </a:solidFill>
                <a:latin typeface="Arial" pitchFamily="34" charset="0"/>
                <a:ea typeface="Arial" pitchFamily="34" charset="-122"/>
                <a:cs typeface="Arial" pitchFamily="34" charset="-120"/>
              </a:rPr>
              <a:t>TAM: $530 Billion (₹44 Lakh Cr)</a:t>
            </a:r>
            <a:endParaRPr lang="en-US" sz="1150" dirty="0"/>
          </a:p>
        </p:txBody>
      </p:sp>
      <p:sp>
        <p:nvSpPr>
          <p:cNvPr id="18" name="Text 16"/>
          <p:cNvSpPr/>
          <p:nvPr/>
        </p:nvSpPr>
        <p:spPr>
          <a:xfrm>
            <a:off x="6659575" y="2953512"/>
            <a:ext cx="4389120" cy="411480"/>
          </a:xfrm>
          <a:prstGeom prst="rect">
            <a:avLst/>
          </a:prstGeom>
          <a:noFill/>
          <a:ln/>
        </p:spPr>
        <p:txBody>
          <a:bodyPr wrap="square" rtlCol="0" anchor="ctr"/>
          <a:lstStyle/>
          <a:p>
            <a:pPr marL="0" indent="0">
              <a:lnSpc>
                <a:spcPts val="1300"/>
              </a:lnSpc>
              <a:buNone/>
            </a:pPr>
            <a:r>
              <a:rPr lang="en-US" sz="950" dirty="0">
                <a:solidFill>
                  <a:srgbClr val="334155"/>
                </a:solidFill>
                <a:latin typeface="Arial" pitchFamily="34" charset="0"/>
                <a:ea typeface="Arial" pitchFamily="34" charset="-122"/>
                <a:cs typeface="Arial" pitchFamily="34" charset="-120"/>
              </a:rPr>
              <a:t>Total Indian MSME commercial credit market opportunity.</a:t>
            </a:r>
            <a:endParaRPr lang="en-US" sz="950" dirty="0"/>
          </a:p>
        </p:txBody>
      </p:sp>
      <p:sp>
        <p:nvSpPr>
          <p:cNvPr id="19" name="Shape 17"/>
          <p:cNvSpPr/>
          <p:nvPr/>
        </p:nvSpPr>
        <p:spPr>
          <a:xfrm>
            <a:off x="6522415" y="3520440"/>
            <a:ext cx="4663440" cy="822960"/>
          </a:xfrm>
          <a:prstGeom prst="roundRect">
            <a:avLst>
              <a:gd name="adj" fmla="val 8889"/>
            </a:avLst>
          </a:prstGeom>
          <a:solidFill>
            <a:srgbClr val="FFFFFF"/>
          </a:solidFill>
          <a:ln w="12700">
            <a:solidFill>
              <a:srgbClr val="E2E8F0"/>
            </a:solidFill>
            <a:prstDash val="solid"/>
          </a:ln>
        </p:spPr>
        <p:txBody>
          <a:bodyPr/>
          <a:lstStyle/>
          <a:p>
            <a:endParaRPr lang="en-IN"/>
          </a:p>
        </p:txBody>
      </p:sp>
      <p:sp>
        <p:nvSpPr>
          <p:cNvPr id="20" name="Text 18"/>
          <p:cNvSpPr/>
          <p:nvPr/>
        </p:nvSpPr>
        <p:spPr>
          <a:xfrm>
            <a:off x="6659575" y="3611880"/>
            <a:ext cx="4389120" cy="274320"/>
          </a:xfrm>
          <a:prstGeom prst="rect">
            <a:avLst/>
          </a:prstGeom>
          <a:noFill/>
          <a:ln/>
        </p:spPr>
        <p:txBody>
          <a:bodyPr wrap="square" rtlCol="0" anchor="ctr"/>
          <a:lstStyle/>
          <a:p>
            <a:pPr marL="0" indent="0">
              <a:buNone/>
            </a:pPr>
            <a:r>
              <a:rPr lang="en-US" sz="1150" b="1" dirty="0">
                <a:solidFill>
                  <a:srgbClr val="1E40AF"/>
                </a:solidFill>
                <a:latin typeface="Arial" pitchFamily="34" charset="0"/>
                <a:ea typeface="Arial" pitchFamily="34" charset="-122"/>
                <a:cs typeface="Arial" pitchFamily="34" charset="-120"/>
              </a:rPr>
              <a:t>SAM: $1.2 Billion (₹10,000 Cr)</a:t>
            </a:r>
            <a:endParaRPr lang="en-US" sz="1150" dirty="0"/>
          </a:p>
        </p:txBody>
      </p:sp>
      <p:sp>
        <p:nvSpPr>
          <p:cNvPr id="21" name="Text 19"/>
          <p:cNvSpPr/>
          <p:nvPr/>
        </p:nvSpPr>
        <p:spPr>
          <a:xfrm>
            <a:off x="6659575" y="3867912"/>
            <a:ext cx="4389120" cy="411480"/>
          </a:xfrm>
          <a:prstGeom prst="rect">
            <a:avLst/>
          </a:prstGeom>
          <a:noFill/>
          <a:ln/>
        </p:spPr>
        <p:txBody>
          <a:bodyPr wrap="square" rtlCol="0" anchor="ctr"/>
          <a:lstStyle/>
          <a:p>
            <a:pPr marL="0" indent="0">
              <a:lnSpc>
                <a:spcPts val="1300"/>
              </a:lnSpc>
              <a:buNone/>
            </a:pPr>
            <a:r>
              <a:rPr lang="en-US" sz="950" dirty="0">
                <a:solidFill>
                  <a:srgbClr val="334155"/>
                </a:solidFill>
                <a:latin typeface="Arial" pitchFamily="34" charset="0"/>
                <a:ea typeface="Arial" pitchFamily="34" charset="-122"/>
                <a:cs typeface="Arial" pitchFamily="34" charset="-120"/>
              </a:rPr>
              <a:t>Annual technology spend on credit underwriting, appraisal software &amp; financial data ingestion across 1,200+ regulated lending entities processing ~50M files/yr.</a:t>
            </a:r>
            <a:endParaRPr lang="en-US" sz="950" dirty="0"/>
          </a:p>
        </p:txBody>
      </p:sp>
      <p:sp>
        <p:nvSpPr>
          <p:cNvPr id="22" name="Shape 20"/>
          <p:cNvSpPr/>
          <p:nvPr/>
        </p:nvSpPr>
        <p:spPr>
          <a:xfrm>
            <a:off x="6522415" y="4434840"/>
            <a:ext cx="4663440" cy="822960"/>
          </a:xfrm>
          <a:prstGeom prst="roundRect">
            <a:avLst>
              <a:gd name="adj" fmla="val 8889"/>
            </a:avLst>
          </a:prstGeom>
          <a:solidFill>
            <a:srgbClr val="FFFFFF"/>
          </a:solidFill>
          <a:ln w="12700">
            <a:solidFill>
              <a:srgbClr val="E2E8F0"/>
            </a:solidFill>
            <a:prstDash val="solid"/>
          </a:ln>
        </p:spPr>
        <p:txBody>
          <a:bodyPr/>
          <a:lstStyle/>
          <a:p>
            <a:endParaRPr lang="en-IN"/>
          </a:p>
        </p:txBody>
      </p:sp>
      <p:sp>
        <p:nvSpPr>
          <p:cNvPr id="23" name="Text 21"/>
          <p:cNvSpPr/>
          <p:nvPr/>
        </p:nvSpPr>
        <p:spPr>
          <a:xfrm>
            <a:off x="6659575" y="4526280"/>
            <a:ext cx="4389120" cy="274320"/>
          </a:xfrm>
          <a:prstGeom prst="rect">
            <a:avLst/>
          </a:prstGeom>
          <a:noFill/>
          <a:ln/>
        </p:spPr>
        <p:txBody>
          <a:bodyPr wrap="square" rtlCol="0" anchor="ctr"/>
          <a:lstStyle/>
          <a:p>
            <a:pPr marL="0" indent="0">
              <a:buNone/>
            </a:pPr>
            <a:r>
              <a:rPr lang="en-US" sz="1150" b="1" dirty="0">
                <a:solidFill>
                  <a:srgbClr val="15803D"/>
                </a:solidFill>
                <a:latin typeface="Arial" pitchFamily="34" charset="0"/>
                <a:ea typeface="Arial" pitchFamily="34" charset="-122"/>
                <a:cs typeface="Arial" pitchFamily="34" charset="-120"/>
              </a:rPr>
              <a:t>SOM: $45 Million ARR (₹375 Cr)</a:t>
            </a:r>
            <a:endParaRPr lang="en-US" sz="1150" dirty="0"/>
          </a:p>
        </p:txBody>
      </p:sp>
      <p:sp>
        <p:nvSpPr>
          <p:cNvPr id="24" name="Text 22"/>
          <p:cNvSpPr/>
          <p:nvPr/>
        </p:nvSpPr>
        <p:spPr>
          <a:xfrm>
            <a:off x="6659575" y="4782312"/>
            <a:ext cx="4389120" cy="411480"/>
          </a:xfrm>
          <a:prstGeom prst="rect">
            <a:avLst/>
          </a:prstGeom>
          <a:noFill/>
          <a:ln/>
        </p:spPr>
        <p:txBody>
          <a:bodyPr wrap="square" rtlCol="0" anchor="ctr"/>
          <a:lstStyle/>
          <a:p>
            <a:pPr marL="0" indent="0">
              <a:lnSpc>
                <a:spcPts val="1300"/>
              </a:lnSpc>
              <a:buNone/>
            </a:pPr>
            <a:r>
              <a:rPr lang="en-US" sz="950" dirty="0">
                <a:solidFill>
                  <a:srgbClr val="334155"/>
                </a:solidFill>
                <a:latin typeface="Arial" pitchFamily="34" charset="0"/>
                <a:ea typeface="Arial" pitchFamily="34" charset="-122"/>
                <a:cs typeface="Arial" pitchFamily="34" charset="-120"/>
              </a:rPr>
              <a:t>Capturing 3-5% of digital MSME loan origination volume across Indian commercial banks &amp; SFBs within 4 years.</a:t>
            </a:r>
            <a:endParaRPr lang="en-US" sz="950" dirty="0"/>
          </a:p>
        </p:txBody>
      </p:sp>
      <p:sp>
        <p:nvSpPr>
          <p:cNvPr id="25" name="Text 23"/>
          <p:cNvSpPr/>
          <p:nvPr/>
        </p:nvSpPr>
        <p:spPr>
          <a:xfrm>
            <a:off x="6522415" y="5440680"/>
            <a:ext cx="4663440" cy="731520"/>
          </a:xfrm>
          <a:prstGeom prst="rect">
            <a:avLst/>
          </a:prstGeom>
          <a:noFill/>
          <a:ln/>
        </p:spPr>
        <p:txBody>
          <a:bodyPr wrap="square" rtlCol="0" anchor="ctr"/>
          <a:lstStyle/>
          <a:p>
            <a:pPr marL="0" indent="0">
              <a:buNone/>
            </a:pPr>
            <a:r>
              <a:rPr lang="en-US" sz="1000" i="1" dirty="0">
                <a:solidFill>
                  <a:srgbClr val="64748B"/>
                </a:solidFill>
                <a:latin typeface="Arial" pitchFamily="34" charset="0"/>
                <a:ea typeface="Arial" pitchFamily="34" charset="-122"/>
                <a:cs typeface="Arial" pitchFamily="34" charset="-120"/>
              </a:rPr>
              <a:t>Monetization: ₹50 ($0.60)/API call (92%+ gross margin over $0.05 LLM cost) + $25k-$100k/yr enterprise licenses.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92608"/>
            <a:ext cx="4114800" cy="320040"/>
          </a:xfrm>
          <a:prstGeom prst="rect">
            <a:avLst/>
          </a:prstGeom>
          <a:noFill/>
          <a:ln/>
        </p:spPr>
        <p:txBody>
          <a:bodyPr wrap="square" rtlCol="0" anchor="ctr"/>
          <a:lstStyle/>
          <a:p>
            <a:pPr marL="0" indent="0">
              <a:buNone/>
            </a:pPr>
            <a:r>
              <a:rPr lang="en-US" sz="1300" b="1" dirty="0">
                <a:solidFill>
                  <a:srgbClr val="1E293B"/>
                </a:solidFill>
                <a:latin typeface="Arial" pitchFamily="34" charset="0"/>
                <a:ea typeface="Arial" pitchFamily="34" charset="-122"/>
                <a:cs typeface="Arial" pitchFamily="34" charset="-120"/>
              </a:rPr>
              <a:t>BITSoM vertex  |  H2S</a:t>
            </a:r>
            <a:endParaRPr lang="en-US" sz="1300" dirty="0"/>
          </a:p>
        </p:txBody>
      </p:sp>
      <p:sp>
        <p:nvSpPr>
          <p:cNvPr id="3" name="Text 1"/>
          <p:cNvSpPr/>
          <p:nvPr/>
        </p:nvSpPr>
        <p:spPr>
          <a:xfrm>
            <a:off x="6858000" y="292608"/>
            <a:ext cx="4572000" cy="320040"/>
          </a:xfrm>
          <a:prstGeom prst="rect">
            <a:avLst/>
          </a:prstGeom>
          <a:noFill/>
          <a:ln/>
        </p:spPr>
        <p:txBody>
          <a:bodyPr wrap="square" rtlCol="0" anchor="ctr"/>
          <a:lstStyle/>
          <a:p>
            <a:pPr marL="0" indent="0" algn="r">
              <a:buNone/>
            </a:pPr>
            <a:r>
              <a:rPr lang="en-US" sz="1300" b="1" dirty="0">
                <a:solidFill>
                  <a:srgbClr val="F05A28"/>
                </a:solidFill>
                <a:latin typeface="Arial" pitchFamily="34" charset="0"/>
                <a:ea typeface="Arial" pitchFamily="34" charset="-122"/>
                <a:cs typeface="Arial" pitchFamily="34" charset="-120"/>
              </a:rPr>
              <a:t>Builders Pitch Fest 2026</a:t>
            </a:r>
            <a:endParaRPr lang="en-US" sz="1300" dirty="0"/>
          </a:p>
        </p:txBody>
      </p:sp>
      <p:sp>
        <p:nvSpPr>
          <p:cNvPr id="4" name="Shape 2"/>
          <p:cNvSpPr/>
          <p:nvPr/>
        </p:nvSpPr>
        <p:spPr>
          <a:xfrm>
            <a:off x="731520" y="658368"/>
            <a:ext cx="10728655" cy="0"/>
          </a:xfrm>
          <a:prstGeom prst="line">
            <a:avLst/>
          </a:prstGeom>
          <a:noFill/>
          <a:ln w="12700">
            <a:solidFill>
              <a:srgbClr val="E2E8F0"/>
            </a:solidFill>
            <a:prstDash val="solid"/>
          </a:ln>
        </p:spPr>
        <p:txBody>
          <a:bodyPr/>
          <a:lstStyle/>
          <a:p>
            <a:endParaRPr lang="en-IN"/>
          </a:p>
        </p:txBody>
      </p:sp>
      <p:sp>
        <p:nvSpPr>
          <p:cNvPr id="5" name="Text 3"/>
          <p:cNvSpPr/>
          <p:nvPr/>
        </p:nvSpPr>
        <p:spPr>
          <a:xfrm>
            <a:off x="731520" y="777240"/>
            <a:ext cx="10728655" cy="502920"/>
          </a:xfrm>
          <a:prstGeom prst="rect">
            <a:avLst/>
          </a:prstGeom>
          <a:noFill/>
          <a:ln/>
        </p:spPr>
        <p:txBody>
          <a:bodyPr wrap="square" rtlCol="0" anchor="ctr"/>
          <a:lstStyle/>
          <a:p>
            <a:pPr marL="0" indent="0">
              <a:buNone/>
            </a:pPr>
            <a:r>
              <a:rPr lang="en-US" sz="2200" b="1" dirty="0">
                <a:solidFill>
                  <a:srgbClr val="0F172A"/>
                </a:solidFill>
                <a:latin typeface="Arial" pitchFamily="34" charset="0"/>
                <a:ea typeface="Arial" pitchFamily="34" charset="-122"/>
                <a:cs typeface="Arial" pitchFamily="34" charset="-120"/>
              </a:rPr>
              <a:t>Solution Overview</a:t>
            </a:r>
            <a:endParaRPr lang="en-US" sz="2200" dirty="0"/>
          </a:p>
        </p:txBody>
      </p:sp>
      <p:sp>
        <p:nvSpPr>
          <p:cNvPr id="6" name="Shape 4"/>
          <p:cNvSpPr/>
          <p:nvPr/>
        </p:nvSpPr>
        <p:spPr>
          <a:xfrm>
            <a:off x="0" y="6748272"/>
            <a:ext cx="12191695" cy="109728"/>
          </a:xfrm>
          <a:prstGeom prst="rect">
            <a:avLst/>
          </a:prstGeom>
          <a:solidFill>
            <a:srgbClr val="F05A28"/>
          </a:solidFill>
          <a:ln w="12700">
            <a:solidFill>
              <a:srgbClr val="F05A28"/>
            </a:solidFill>
            <a:prstDash val="solid"/>
          </a:ln>
        </p:spPr>
        <p:txBody>
          <a:bodyPr/>
          <a:lstStyle/>
          <a:p>
            <a:endParaRPr lang="en-IN"/>
          </a:p>
        </p:txBody>
      </p:sp>
      <p:sp>
        <p:nvSpPr>
          <p:cNvPr id="7" name="Shape 5"/>
          <p:cNvSpPr/>
          <p:nvPr/>
        </p:nvSpPr>
        <p:spPr>
          <a:xfrm>
            <a:off x="731520" y="1371600"/>
            <a:ext cx="10728655" cy="1325880"/>
          </a:xfrm>
          <a:prstGeom prst="roundRect">
            <a:avLst>
              <a:gd name="adj" fmla="val 6897"/>
            </a:avLst>
          </a:prstGeom>
          <a:solidFill>
            <a:srgbClr val="F8FAFC"/>
          </a:solidFill>
          <a:ln w="15240">
            <a:solidFill>
              <a:srgbClr val="E2E8F0"/>
            </a:solidFill>
            <a:prstDash val="solid"/>
          </a:ln>
        </p:spPr>
        <p:txBody>
          <a:bodyPr/>
          <a:lstStyle/>
          <a:p>
            <a:endParaRPr lang="en-IN"/>
          </a:p>
        </p:txBody>
      </p:sp>
      <p:sp>
        <p:nvSpPr>
          <p:cNvPr id="8" name="Text 6"/>
          <p:cNvSpPr/>
          <p:nvPr/>
        </p:nvSpPr>
        <p:spPr>
          <a:xfrm>
            <a:off x="1005840" y="1481328"/>
            <a:ext cx="10058400" cy="256032"/>
          </a:xfrm>
          <a:prstGeom prst="rect">
            <a:avLst/>
          </a:prstGeom>
          <a:noFill/>
          <a:ln/>
        </p:spPr>
        <p:txBody>
          <a:bodyPr wrap="square" rtlCol="0" anchor="ctr"/>
          <a:lstStyle/>
          <a:p>
            <a:pPr marL="0" indent="0">
              <a:buNone/>
            </a:pPr>
            <a:r>
              <a:rPr lang="en-US" sz="1050" b="1" dirty="0">
                <a:solidFill>
                  <a:srgbClr val="C2410C"/>
                </a:solidFill>
                <a:latin typeface="Arial" pitchFamily="34" charset="0"/>
                <a:ea typeface="Arial" pitchFamily="34" charset="-122"/>
                <a:cs typeface="Arial" pitchFamily="34" charset="-120"/>
              </a:rPr>
              <a:t>1. WHAT IS YOUR SOLUTION, AND HOW DOES IT SOLVE THE IDENTIFIED PROBLEM?</a:t>
            </a:r>
            <a:endParaRPr lang="en-US" sz="1050" dirty="0"/>
          </a:p>
        </p:txBody>
      </p:sp>
      <p:sp>
        <p:nvSpPr>
          <p:cNvPr id="9" name="Text 7"/>
          <p:cNvSpPr/>
          <p:nvPr/>
        </p:nvSpPr>
        <p:spPr>
          <a:xfrm>
            <a:off x="1005840" y="1755648"/>
            <a:ext cx="10058400" cy="868680"/>
          </a:xfrm>
          <a:prstGeom prst="rect">
            <a:avLst/>
          </a:prstGeom>
          <a:noFill/>
          <a:ln/>
        </p:spPr>
        <p:txBody>
          <a:bodyPr wrap="square" rtlCol="0" anchor="ctr"/>
          <a:lstStyle/>
          <a:p>
            <a:pPr marL="0" indent="0">
              <a:lnSpc>
                <a:spcPts val="1500"/>
              </a:lnSpc>
              <a:buNone/>
            </a:pPr>
            <a:r>
              <a:rPr lang="en-US" sz="1050" dirty="0">
                <a:solidFill>
                  <a:srgbClr val="334155"/>
                </a:solidFill>
                <a:latin typeface="Arial" pitchFamily="34" charset="0"/>
                <a:ea typeface="Arial" pitchFamily="34" charset="-122"/>
                <a:cs typeface="Arial" pitchFamily="34" charset="-120"/>
              </a:rPr>
              <a:t>EnverAI Artificer is an autonomous multi-agent underwriting citadel that replaces slow, manual 14-day loan evaluations with a 55-second multi-modal computational audit.</a:t>
            </a:r>
            <a:endParaRPr lang="en-US" sz="1050" dirty="0"/>
          </a:p>
          <a:p>
            <a:pPr marL="0" indent="0">
              <a:lnSpc>
                <a:spcPts val="1500"/>
              </a:lnSpc>
              <a:buNone/>
            </a:pPr>
            <a:r>
              <a:rPr lang="en-US" sz="1050" dirty="0">
                <a:solidFill>
                  <a:srgbClr val="334155"/>
                </a:solidFill>
                <a:latin typeface="Arial" pitchFamily="34" charset="0"/>
                <a:ea typeface="Arial" pitchFamily="34" charset="-122"/>
                <a:cs typeface="Arial" pitchFamily="34" charset="-120"/>
              </a:rPr>
              <a:t>It eliminates credit officer paper-pushing by ingesting multi-modal operational data (Bank statements, GST returns, MCA21 registries), deterministically computing financial ratios, and synthesizing a verifiable MSME Health Card (300-900 score) with line-item audit proof.</a:t>
            </a:r>
            <a:endParaRPr lang="en-US" sz="1050" dirty="0"/>
          </a:p>
        </p:txBody>
      </p:sp>
      <p:sp>
        <p:nvSpPr>
          <p:cNvPr id="10" name="Shape 8"/>
          <p:cNvSpPr/>
          <p:nvPr/>
        </p:nvSpPr>
        <p:spPr>
          <a:xfrm>
            <a:off x="731520" y="2834640"/>
            <a:ext cx="6217920" cy="3657600"/>
          </a:xfrm>
          <a:prstGeom prst="roundRect">
            <a:avLst>
              <a:gd name="adj" fmla="val 2500"/>
            </a:avLst>
          </a:prstGeom>
          <a:solidFill>
            <a:srgbClr val="F8FAFC"/>
          </a:solidFill>
          <a:ln w="15240">
            <a:solidFill>
              <a:srgbClr val="E2E8F0"/>
            </a:solidFill>
            <a:prstDash val="solid"/>
          </a:ln>
        </p:spPr>
        <p:txBody>
          <a:bodyPr/>
          <a:lstStyle/>
          <a:p>
            <a:endParaRPr lang="en-IN"/>
          </a:p>
        </p:txBody>
      </p:sp>
      <p:sp>
        <p:nvSpPr>
          <p:cNvPr id="11" name="Text 9"/>
          <p:cNvSpPr/>
          <p:nvPr/>
        </p:nvSpPr>
        <p:spPr>
          <a:xfrm>
            <a:off x="914400" y="2971800"/>
            <a:ext cx="5852160" cy="274320"/>
          </a:xfrm>
          <a:prstGeom prst="rect">
            <a:avLst/>
          </a:prstGeom>
          <a:noFill/>
          <a:ln/>
        </p:spPr>
        <p:txBody>
          <a:bodyPr wrap="square" rtlCol="0" anchor="ctr"/>
          <a:lstStyle/>
          <a:p>
            <a:pPr marL="0" indent="0">
              <a:buNone/>
            </a:pPr>
            <a:r>
              <a:rPr lang="en-US" sz="1100" b="1" dirty="0">
                <a:solidFill>
                  <a:srgbClr val="1E40AF"/>
                </a:solidFill>
                <a:latin typeface="Arial" pitchFamily="34" charset="0"/>
                <a:ea typeface="Arial" pitchFamily="34" charset="-122"/>
                <a:cs typeface="Arial" pitchFamily="34" charset="-120"/>
              </a:rPr>
              <a:t>2. CORE CAPABILITIES OF THE PRODUCT</a:t>
            </a:r>
            <a:endParaRPr lang="en-US" sz="1100" dirty="0"/>
          </a:p>
        </p:txBody>
      </p:sp>
      <p:sp>
        <p:nvSpPr>
          <p:cNvPr id="12" name="Text 10"/>
          <p:cNvSpPr/>
          <p:nvPr/>
        </p:nvSpPr>
        <p:spPr>
          <a:xfrm>
            <a:off x="914400" y="3291840"/>
            <a:ext cx="5852160" cy="530352"/>
          </a:xfrm>
          <a:prstGeom prst="rect">
            <a:avLst/>
          </a:prstGeom>
          <a:noFill/>
          <a:ln/>
        </p:spPr>
        <p:txBody>
          <a:bodyPr wrap="square" rtlCol="0" anchor="ctr"/>
          <a:lstStyle/>
          <a:p>
            <a:pPr marL="0" indent="0">
              <a:lnSpc>
                <a:spcPts val="1300"/>
              </a:lnSpc>
              <a:buNone/>
            </a:pPr>
            <a:r>
              <a:rPr lang="en-US" sz="980" b="1" dirty="0">
                <a:solidFill>
                  <a:srgbClr val="0F172A"/>
                </a:solidFill>
                <a:latin typeface="Arial" pitchFamily="34" charset="0"/>
                <a:ea typeface="Arial" pitchFamily="34" charset="-122"/>
                <a:cs typeface="Arial" pitchFamily="34" charset="-120"/>
              </a:rPr>
              <a:t>• Multi-Modal Ingestion &amp; Normalization: </a:t>
            </a:r>
            <a:r>
              <a:rPr lang="en-US" sz="980" dirty="0">
                <a:solidFill>
                  <a:srgbClr val="334155"/>
                </a:solidFill>
                <a:latin typeface="Arial" pitchFamily="34" charset="0"/>
                <a:ea typeface="Arial" pitchFamily="34" charset="-122"/>
                <a:cs typeface="Arial" pitchFamily="34" charset="-120"/>
              </a:rPr>
              <a:t>Auto-parses bank statements (PDF/CSV), Account Aggregator JSON, and GSTR-1/3B filings without manual data entry.</a:t>
            </a:r>
            <a:endParaRPr lang="en-US" sz="980" dirty="0"/>
          </a:p>
        </p:txBody>
      </p:sp>
      <p:sp>
        <p:nvSpPr>
          <p:cNvPr id="13" name="Text 11"/>
          <p:cNvSpPr/>
          <p:nvPr/>
        </p:nvSpPr>
        <p:spPr>
          <a:xfrm>
            <a:off x="914400" y="3858768"/>
            <a:ext cx="5852160" cy="530352"/>
          </a:xfrm>
          <a:prstGeom prst="rect">
            <a:avLst/>
          </a:prstGeom>
          <a:noFill/>
          <a:ln/>
        </p:spPr>
        <p:txBody>
          <a:bodyPr wrap="square" rtlCol="0" anchor="ctr"/>
          <a:lstStyle/>
          <a:p>
            <a:pPr marL="0" indent="0">
              <a:lnSpc>
                <a:spcPts val="1300"/>
              </a:lnSpc>
              <a:buNone/>
            </a:pPr>
            <a:r>
              <a:rPr lang="en-US" sz="980" b="1" dirty="0">
                <a:solidFill>
                  <a:srgbClr val="0F172A"/>
                </a:solidFill>
                <a:latin typeface="Arial" pitchFamily="34" charset="0"/>
                <a:ea typeface="Arial" pitchFamily="34" charset="-122"/>
                <a:cs typeface="Arial" pitchFamily="34" charset="-120"/>
              </a:rPr>
              <a:t>• Deterministic Ratio Modeling: </a:t>
            </a:r>
            <a:r>
              <a:rPr lang="en-US" sz="980" dirty="0">
                <a:solidFill>
                  <a:srgbClr val="334155"/>
                </a:solidFill>
                <a:latin typeface="Arial" pitchFamily="34" charset="0"/>
                <a:ea typeface="Arial" pitchFamily="34" charset="-122"/>
                <a:cs typeface="Arial" pitchFamily="34" charset="-120"/>
              </a:rPr>
              <a:t>Computes Cash Buffer Ratio (&gt;0.15x safety), Annualized Run Rate, and Inward NACH bounce friction.</a:t>
            </a:r>
            <a:endParaRPr lang="en-US" sz="980" dirty="0"/>
          </a:p>
        </p:txBody>
      </p:sp>
      <p:sp>
        <p:nvSpPr>
          <p:cNvPr id="14" name="Text 12"/>
          <p:cNvSpPr/>
          <p:nvPr/>
        </p:nvSpPr>
        <p:spPr>
          <a:xfrm>
            <a:off x="914400" y="4425696"/>
            <a:ext cx="5852160" cy="530352"/>
          </a:xfrm>
          <a:prstGeom prst="rect">
            <a:avLst/>
          </a:prstGeom>
          <a:noFill/>
          <a:ln/>
        </p:spPr>
        <p:txBody>
          <a:bodyPr wrap="square" rtlCol="0" anchor="ctr"/>
          <a:lstStyle/>
          <a:p>
            <a:pPr marL="0" indent="0">
              <a:lnSpc>
                <a:spcPts val="1300"/>
              </a:lnSpc>
              <a:buNone/>
            </a:pPr>
            <a:r>
              <a:rPr lang="en-US" sz="980" b="1" dirty="0">
                <a:solidFill>
                  <a:srgbClr val="0F172A"/>
                </a:solidFill>
                <a:latin typeface="Arial" pitchFamily="34" charset="0"/>
                <a:ea typeface="Arial" pitchFamily="34" charset="-122"/>
                <a:cs typeface="Arial" pitchFamily="34" charset="-120"/>
              </a:rPr>
              <a:t>• GSTR Tax Reconciliation: </a:t>
            </a:r>
            <a:r>
              <a:rPr lang="en-US" sz="980" dirty="0">
                <a:solidFill>
                  <a:srgbClr val="334155"/>
                </a:solidFill>
                <a:latin typeface="Arial" pitchFamily="34" charset="0"/>
                <a:ea typeface="Arial" pitchFamily="34" charset="-122"/>
                <a:cs typeface="Arial" pitchFamily="34" charset="-120"/>
              </a:rPr>
              <a:t>Cross-checks declared outward sales (GSTR-1) against tax paid (GSTR-3B) to detect turnover misrepresentation.</a:t>
            </a:r>
            <a:endParaRPr lang="en-US" sz="980" dirty="0"/>
          </a:p>
        </p:txBody>
      </p:sp>
      <p:sp>
        <p:nvSpPr>
          <p:cNvPr id="15" name="Text 13"/>
          <p:cNvSpPr/>
          <p:nvPr/>
        </p:nvSpPr>
        <p:spPr>
          <a:xfrm>
            <a:off x="914400" y="4992624"/>
            <a:ext cx="5852160" cy="530352"/>
          </a:xfrm>
          <a:prstGeom prst="rect">
            <a:avLst/>
          </a:prstGeom>
          <a:noFill/>
          <a:ln/>
        </p:spPr>
        <p:txBody>
          <a:bodyPr wrap="square" rtlCol="0" anchor="ctr"/>
          <a:lstStyle/>
          <a:p>
            <a:pPr marL="0" indent="0">
              <a:lnSpc>
                <a:spcPts val="1300"/>
              </a:lnSpc>
              <a:buNone/>
            </a:pPr>
            <a:r>
              <a:rPr lang="en-US" sz="980" b="1" dirty="0">
                <a:solidFill>
                  <a:srgbClr val="0F172A"/>
                </a:solidFill>
                <a:latin typeface="Arial" pitchFamily="34" charset="0"/>
                <a:ea typeface="Arial" pitchFamily="34" charset="-122"/>
                <a:cs typeface="Arial" pitchFamily="34" charset="-120"/>
              </a:rPr>
              <a:t>• Live Registry Web Scraper: </a:t>
            </a:r>
            <a:r>
              <a:rPr lang="en-US" sz="980" dirty="0">
                <a:solidFill>
                  <a:srgbClr val="334155"/>
                </a:solidFill>
                <a:latin typeface="Arial" pitchFamily="34" charset="0"/>
                <a:ea typeface="Arial" pitchFamily="34" charset="-122"/>
                <a:cs typeface="Arial" pitchFamily="34" charset="-120"/>
              </a:rPr>
              <a:t>Pulls real-time GSTIN validation, MCA21 director tracking, and court litigation records.</a:t>
            </a:r>
            <a:endParaRPr lang="en-US" sz="980" dirty="0"/>
          </a:p>
        </p:txBody>
      </p:sp>
      <p:sp>
        <p:nvSpPr>
          <p:cNvPr id="16" name="Text 14"/>
          <p:cNvSpPr/>
          <p:nvPr/>
        </p:nvSpPr>
        <p:spPr>
          <a:xfrm>
            <a:off x="914400" y="5559552"/>
            <a:ext cx="5852160" cy="530352"/>
          </a:xfrm>
          <a:prstGeom prst="rect">
            <a:avLst/>
          </a:prstGeom>
          <a:noFill/>
          <a:ln/>
        </p:spPr>
        <p:txBody>
          <a:bodyPr wrap="square" rtlCol="0" anchor="ctr"/>
          <a:lstStyle/>
          <a:p>
            <a:pPr marL="0" indent="0">
              <a:lnSpc>
                <a:spcPts val="1300"/>
              </a:lnSpc>
              <a:buNone/>
            </a:pPr>
            <a:r>
              <a:rPr lang="en-US" sz="980" b="1" dirty="0">
                <a:solidFill>
                  <a:srgbClr val="0F172A"/>
                </a:solidFill>
                <a:latin typeface="Arial" pitchFamily="34" charset="0"/>
                <a:ea typeface="Arial" pitchFamily="34" charset="-122"/>
                <a:cs typeface="Arial" pitchFamily="34" charset="-120"/>
              </a:rPr>
              <a:t>• Conversational XAI Underwriter Drawer: </a:t>
            </a:r>
            <a:r>
              <a:rPr lang="en-US" sz="980" dirty="0">
                <a:solidFill>
                  <a:srgbClr val="334155"/>
                </a:solidFill>
                <a:latin typeface="Arial" pitchFamily="34" charset="0"/>
                <a:ea typeface="Arial" pitchFamily="34" charset="-122"/>
                <a:cs typeface="Arial" pitchFamily="34" charset="-120"/>
              </a:rPr>
              <a:t>Interactive drawer allowing loan officers to cross-examine decisions with zero hallucinations.</a:t>
            </a:r>
            <a:endParaRPr lang="en-US" sz="980" dirty="0"/>
          </a:p>
        </p:txBody>
      </p:sp>
      <p:sp>
        <p:nvSpPr>
          <p:cNvPr id="17" name="Shape 15"/>
          <p:cNvSpPr/>
          <p:nvPr/>
        </p:nvSpPr>
        <p:spPr>
          <a:xfrm>
            <a:off x="7132320" y="2834640"/>
            <a:ext cx="4327855" cy="3657600"/>
          </a:xfrm>
          <a:prstGeom prst="roundRect">
            <a:avLst>
              <a:gd name="adj" fmla="val 2500"/>
            </a:avLst>
          </a:prstGeom>
          <a:solidFill>
            <a:srgbClr val="F8FAFC"/>
          </a:solidFill>
          <a:ln w="15240">
            <a:solidFill>
              <a:srgbClr val="E2E8F0"/>
            </a:solidFill>
            <a:prstDash val="solid"/>
          </a:ln>
        </p:spPr>
        <p:txBody>
          <a:bodyPr/>
          <a:lstStyle/>
          <a:p>
            <a:endParaRPr lang="en-IN"/>
          </a:p>
        </p:txBody>
      </p:sp>
      <p:sp>
        <p:nvSpPr>
          <p:cNvPr id="18" name="Text 16"/>
          <p:cNvSpPr/>
          <p:nvPr/>
        </p:nvSpPr>
        <p:spPr>
          <a:xfrm>
            <a:off x="7315200" y="2971800"/>
            <a:ext cx="3931920" cy="274320"/>
          </a:xfrm>
          <a:prstGeom prst="rect">
            <a:avLst/>
          </a:prstGeom>
          <a:noFill/>
          <a:ln/>
        </p:spPr>
        <p:txBody>
          <a:bodyPr wrap="square" rtlCol="0" anchor="ctr"/>
          <a:lstStyle/>
          <a:p>
            <a:pPr marL="0" indent="0">
              <a:buNone/>
            </a:pPr>
            <a:r>
              <a:rPr lang="en-US" sz="1100" b="1" dirty="0">
                <a:solidFill>
                  <a:srgbClr val="15803D"/>
                </a:solidFill>
                <a:latin typeface="Arial" pitchFamily="34" charset="0"/>
                <a:ea typeface="Arial" pitchFamily="34" charset="-122"/>
                <a:cs typeface="Arial" pitchFamily="34" charset="-120"/>
              </a:rPr>
              <a:t>3. MEASURABLE VALUE DELIVERED</a:t>
            </a:r>
            <a:endParaRPr lang="en-US" sz="1100" dirty="0"/>
          </a:p>
        </p:txBody>
      </p:sp>
      <p:sp>
        <p:nvSpPr>
          <p:cNvPr id="19" name="Shape 17"/>
          <p:cNvSpPr/>
          <p:nvPr/>
        </p:nvSpPr>
        <p:spPr>
          <a:xfrm>
            <a:off x="7315200" y="3337560"/>
            <a:ext cx="3962095" cy="658368"/>
          </a:xfrm>
          <a:prstGeom prst="roundRect">
            <a:avLst>
              <a:gd name="adj" fmla="val 11111"/>
            </a:avLst>
          </a:prstGeom>
          <a:solidFill>
            <a:srgbClr val="FFF7ED"/>
          </a:solidFill>
          <a:ln w="12700">
            <a:solidFill>
              <a:srgbClr val="E2E8F0"/>
            </a:solidFill>
            <a:prstDash val="solid"/>
          </a:ln>
        </p:spPr>
        <p:txBody>
          <a:bodyPr/>
          <a:lstStyle/>
          <a:p>
            <a:endParaRPr lang="en-IN"/>
          </a:p>
        </p:txBody>
      </p:sp>
      <p:sp>
        <p:nvSpPr>
          <p:cNvPr id="20" name="Text 18"/>
          <p:cNvSpPr/>
          <p:nvPr/>
        </p:nvSpPr>
        <p:spPr>
          <a:xfrm>
            <a:off x="7452360" y="3410712"/>
            <a:ext cx="3657600" cy="274320"/>
          </a:xfrm>
          <a:prstGeom prst="rect">
            <a:avLst/>
          </a:prstGeom>
          <a:noFill/>
          <a:ln/>
        </p:spPr>
        <p:txBody>
          <a:bodyPr wrap="square" rtlCol="0" anchor="ctr"/>
          <a:lstStyle/>
          <a:p>
            <a:pPr marL="0" indent="0">
              <a:buNone/>
            </a:pPr>
            <a:r>
              <a:rPr lang="en-US" sz="1200" b="1" dirty="0">
                <a:solidFill>
                  <a:srgbClr val="C2410C"/>
                </a:solidFill>
                <a:latin typeface="Arial" pitchFamily="34" charset="0"/>
                <a:ea typeface="Arial" pitchFamily="34" charset="-122"/>
                <a:cs typeface="Arial" pitchFamily="34" charset="-120"/>
              </a:rPr>
              <a:t>99.5% TAT Reduction</a:t>
            </a:r>
            <a:endParaRPr lang="en-US" sz="1200" dirty="0"/>
          </a:p>
        </p:txBody>
      </p:sp>
      <p:sp>
        <p:nvSpPr>
          <p:cNvPr id="21" name="Text 19"/>
          <p:cNvSpPr/>
          <p:nvPr/>
        </p:nvSpPr>
        <p:spPr>
          <a:xfrm>
            <a:off x="7452360" y="3666744"/>
            <a:ext cx="3657600" cy="256032"/>
          </a:xfrm>
          <a:prstGeom prst="rect">
            <a:avLst/>
          </a:prstGeom>
          <a:noFill/>
          <a:ln/>
        </p:spPr>
        <p:txBody>
          <a:bodyPr wrap="square" rtlCol="0" anchor="ctr"/>
          <a:lstStyle/>
          <a:p>
            <a:pPr marL="0" indent="0">
              <a:buNone/>
            </a:pPr>
            <a:r>
              <a:rPr lang="en-US" sz="950" dirty="0">
                <a:solidFill>
                  <a:srgbClr val="334155"/>
                </a:solidFill>
                <a:latin typeface="Arial" pitchFamily="34" charset="0"/>
                <a:ea typeface="Arial" pitchFamily="34" charset="-122"/>
                <a:cs typeface="Arial" pitchFamily="34" charset="-120"/>
              </a:rPr>
              <a:t>14 days down to &lt; 150 seconds</a:t>
            </a:r>
            <a:endParaRPr lang="en-US" sz="950" dirty="0"/>
          </a:p>
        </p:txBody>
      </p:sp>
      <p:sp>
        <p:nvSpPr>
          <p:cNvPr id="22" name="Shape 20"/>
          <p:cNvSpPr/>
          <p:nvPr/>
        </p:nvSpPr>
        <p:spPr>
          <a:xfrm>
            <a:off x="7315200" y="4069080"/>
            <a:ext cx="3962095" cy="658368"/>
          </a:xfrm>
          <a:prstGeom prst="roundRect">
            <a:avLst>
              <a:gd name="adj" fmla="val 11111"/>
            </a:avLst>
          </a:prstGeom>
          <a:solidFill>
            <a:srgbClr val="EFF6FF"/>
          </a:solidFill>
          <a:ln w="12700">
            <a:solidFill>
              <a:srgbClr val="E2E8F0"/>
            </a:solidFill>
            <a:prstDash val="solid"/>
          </a:ln>
        </p:spPr>
        <p:txBody>
          <a:bodyPr/>
          <a:lstStyle/>
          <a:p>
            <a:endParaRPr lang="en-IN"/>
          </a:p>
        </p:txBody>
      </p:sp>
      <p:sp>
        <p:nvSpPr>
          <p:cNvPr id="23" name="Text 21"/>
          <p:cNvSpPr/>
          <p:nvPr/>
        </p:nvSpPr>
        <p:spPr>
          <a:xfrm>
            <a:off x="7452360" y="4142232"/>
            <a:ext cx="3657600" cy="274320"/>
          </a:xfrm>
          <a:prstGeom prst="rect">
            <a:avLst/>
          </a:prstGeom>
          <a:noFill/>
          <a:ln/>
        </p:spPr>
        <p:txBody>
          <a:bodyPr wrap="square" rtlCol="0" anchor="ctr"/>
          <a:lstStyle/>
          <a:p>
            <a:pPr marL="0" indent="0">
              <a:buNone/>
            </a:pPr>
            <a:r>
              <a:rPr lang="en-US" sz="1200" b="1" dirty="0">
                <a:solidFill>
                  <a:srgbClr val="1E40AF"/>
                </a:solidFill>
                <a:latin typeface="Arial" pitchFamily="34" charset="0"/>
                <a:ea typeface="Arial" pitchFamily="34" charset="-122"/>
                <a:cs typeface="Arial" pitchFamily="34" charset="-120"/>
              </a:rPr>
              <a:t>99.8% Cost Savings</a:t>
            </a:r>
            <a:endParaRPr lang="en-US" sz="1200" dirty="0"/>
          </a:p>
        </p:txBody>
      </p:sp>
      <p:sp>
        <p:nvSpPr>
          <p:cNvPr id="24" name="Text 22"/>
          <p:cNvSpPr/>
          <p:nvPr/>
        </p:nvSpPr>
        <p:spPr>
          <a:xfrm>
            <a:off x="7452360" y="4398264"/>
            <a:ext cx="3657600" cy="256032"/>
          </a:xfrm>
          <a:prstGeom prst="rect">
            <a:avLst/>
          </a:prstGeom>
          <a:noFill/>
          <a:ln/>
        </p:spPr>
        <p:txBody>
          <a:bodyPr wrap="square" rtlCol="0" anchor="ctr"/>
          <a:lstStyle/>
          <a:p>
            <a:pPr marL="0" indent="0">
              <a:buNone/>
            </a:pPr>
            <a:r>
              <a:rPr lang="en-US" sz="950" dirty="0">
                <a:solidFill>
                  <a:srgbClr val="334155"/>
                </a:solidFill>
                <a:latin typeface="Arial" pitchFamily="34" charset="0"/>
                <a:ea typeface="Arial" pitchFamily="34" charset="-122"/>
                <a:cs typeface="Arial" pitchFamily="34" charset="-120"/>
              </a:rPr>
              <a:t>₹4,000 manual cost to ₹5.20 ($0.05)</a:t>
            </a:r>
            <a:endParaRPr lang="en-US" sz="950" dirty="0"/>
          </a:p>
        </p:txBody>
      </p:sp>
      <p:sp>
        <p:nvSpPr>
          <p:cNvPr id="25" name="Shape 23"/>
          <p:cNvSpPr/>
          <p:nvPr/>
        </p:nvSpPr>
        <p:spPr>
          <a:xfrm>
            <a:off x="7315200" y="4800600"/>
            <a:ext cx="3962095" cy="658368"/>
          </a:xfrm>
          <a:prstGeom prst="roundRect">
            <a:avLst>
              <a:gd name="adj" fmla="val 11111"/>
            </a:avLst>
          </a:prstGeom>
          <a:solidFill>
            <a:srgbClr val="F0FDF4"/>
          </a:solidFill>
          <a:ln w="12700">
            <a:solidFill>
              <a:srgbClr val="E2E8F0"/>
            </a:solidFill>
            <a:prstDash val="solid"/>
          </a:ln>
        </p:spPr>
        <p:txBody>
          <a:bodyPr/>
          <a:lstStyle/>
          <a:p>
            <a:endParaRPr lang="en-IN"/>
          </a:p>
        </p:txBody>
      </p:sp>
      <p:sp>
        <p:nvSpPr>
          <p:cNvPr id="26" name="Text 24"/>
          <p:cNvSpPr/>
          <p:nvPr/>
        </p:nvSpPr>
        <p:spPr>
          <a:xfrm>
            <a:off x="7452360" y="4873752"/>
            <a:ext cx="3657600" cy="274320"/>
          </a:xfrm>
          <a:prstGeom prst="rect">
            <a:avLst/>
          </a:prstGeom>
          <a:noFill/>
          <a:ln/>
        </p:spPr>
        <p:txBody>
          <a:bodyPr wrap="square" rtlCol="0" anchor="ctr"/>
          <a:lstStyle/>
          <a:p>
            <a:pPr marL="0" indent="0">
              <a:buNone/>
            </a:pPr>
            <a:r>
              <a:rPr lang="en-US" sz="1200" b="1" dirty="0">
                <a:solidFill>
                  <a:srgbClr val="15803D"/>
                </a:solidFill>
                <a:latin typeface="Arial" pitchFamily="34" charset="0"/>
                <a:ea typeface="Arial" pitchFamily="34" charset="-122"/>
                <a:cs typeface="Arial" pitchFamily="34" charset="-120"/>
              </a:rPr>
              <a:t>Zero (0%) Hallucinations</a:t>
            </a:r>
            <a:endParaRPr lang="en-US" sz="1200" dirty="0"/>
          </a:p>
        </p:txBody>
      </p:sp>
      <p:sp>
        <p:nvSpPr>
          <p:cNvPr id="27" name="Text 25"/>
          <p:cNvSpPr/>
          <p:nvPr/>
        </p:nvSpPr>
        <p:spPr>
          <a:xfrm>
            <a:off x="7452360" y="5129784"/>
            <a:ext cx="3657600" cy="256032"/>
          </a:xfrm>
          <a:prstGeom prst="rect">
            <a:avLst/>
          </a:prstGeom>
          <a:noFill/>
          <a:ln/>
        </p:spPr>
        <p:txBody>
          <a:bodyPr wrap="square" rtlCol="0" anchor="ctr"/>
          <a:lstStyle/>
          <a:p>
            <a:pPr marL="0" indent="0">
              <a:buNone/>
            </a:pPr>
            <a:r>
              <a:rPr lang="en-US" sz="950" dirty="0">
                <a:solidFill>
                  <a:srgbClr val="334155"/>
                </a:solidFill>
                <a:latin typeface="Arial" pitchFamily="34" charset="0"/>
                <a:ea typeface="Arial" pitchFamily="34" charset="-122"/>
                <a:cs typeface="Arial" pitchFamily="34" charset="-120"/>
              </a:rPr>
              <a:t>100% deterministic line-item citations</a:t>
            </a:r>
            <a:endParaRPr lang="en-US" sz="950" dirty="0"/>
          </a:p>
        </p:txBody>
      </p:sp>
      <p:sp>
        <p:nvSpPr>
          <p:cNvPr id="28" name="Shape 26"/>
          <p:cNvSpPr/>
          <p:nvPr/>
        </p:nvSpPr>
        <p:spPr>
          <a:xfrm>
            <a:off x="7315200" y="5532120"/>
            <a:ext cx="3962095" cy="658368"/>
          </a:xfrm>
          <a:prstGeom prst="roundRect">
            <a:avLst>
              <a:gd name="adj" fmla="val 11111"/>
            </a:avLst>
          </a:prstGeom>
          <a:solidFill>
            <a:srgbClr val="FFFFFF"/>
          </a:solidFill>
          <a:ln w="12700">
            <a:solidFill>
              <a:srgbClr val="E2E8F0"/>
            </a:solidFill>
            <a:prstDash val="solid"/>
          </a:ln>
        </p:spPr>
        <p:txBody>
          <a:bodyPr/>
          <a:lstStyle/>
          <a:p>
            <a:endParaRPr lang="en-IN"/>
          </a:p>
        </p:txBody>
      </p:sp>
      <p:sp>
        <p:nvSpPr>
          <p:cNvPr id="29" name="Text 27"/>
          <p:cNvSpPr/>
          <p:nvPr/>
        </p:nvSpPr>
        <p:spPr>
          <a:xfrm>
            <a:off x="7452360" y="5605272"/>
            <a:ext cx="3657600" cy="274320"/>
          </a:xfrm>
          <a:prstGeom prst="rect">
            <a:avLst/>
          </a:prstGeom>
          <a:noFill/>
          <a:ln/>
        </p:spPr>
        <p:txBody>
          <a:bodyPr wrap="square" rtlCol="0" anchor="ctr"/>
          <a:lstStyle/>
          <a:p>
            <a:pPr marL="0" indent="0">
              <a:buNone/>
            </a:pPr>
            <a:r>
              <a:rPr lang="en-US" sz="1200" b="1" dirty="0">
                <a:solidFill>
                  <a:srgbClr val="0F172A"/>
                </a:solidFill>
                <a:latin typeface="Arial" pitchFamily="34" charset="0"/>
                <a:ea typeface="Arial" pitchFamily="34" charset="-122"/>
                <a:cs typeface="Arial" pitchFamily="34" charset="-120"/>
              </a:rPr>
              <a:t>+25% to +40% NTC Approvals</a:t>
            </a:r>
            <a:endParaRPr lang="en-US" sz="1200" dirty="0"/>
          </a:p>
        </p:txBody>
      </p:sp>
      <p:sp>
        <p:nvSpPr>
          <p:cNvPr id="30" name="Text 28"/>
          <p:cNvSpPr/>
          <p:nvPr/>
        </p:nvSpPr>
        <p:spPr>
          <a:xfrm>
            <a:off x="7452360" y="5861304"/>
            <a:ext cx="3657600" cy="256032"/>
          </a:xfrm>
          <a:prstGeom prst="rect">
            <a:avLst/>
          </a:prstGeom>
          <a:noFill/>
          <a:ln/>
        </p:spPr>
        <p:txBody>
          <a:bodyPr wrap="square" rtlCol="0" anchor="ctr"/>
          <a:lstStyle/>
          <a:p>
            <a:pPr marL="0" indent="0">
              <a:buNone/>
            </a:pPr>
            <a:r>
              <a:rPr lang="en-US" sz="950" dirty="0">
                <a:solidFill>
                  <a:srgbClr val="334155"/>
                </a:solidFill>
                <a:latin typeface="Arial" pitchFamily="34" charset="0"/>
                <a:ea typeface="Arial" pitchFamily="34" charset="-122"/>
                <a:cs typeface="Arial" pitchFamily="34" charset="-120"/>
              </a:rPr>
              <a:t>Expands credit pool without default risk</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92608"/>
            <a:ext cx="4114800" cy="320040"/>
          </a:xfrm>
          <a:prstGeom prst="rect">
            <a:avLst/>
          </a:prstGeom>
          <a:noFill/>
          <a:ln/>
        </p:spPr>
        <p:txBody>
          <a:bodyPr wrap="square" rtlCol="0" anchor="ctr"/>
          <a:lstStyle/>
          <a:p>
            <a:pPr marL="0" indent="0">
              <a:buNone/>
            </a:pPr>
            <a:r>
              <a:rPr lang="en-US" sz="1300" b="1" dirty="0">
                <a:solidFill>
                  <a:srgbClr val="1E293B"/>
                </a:solidFill>
                <a:latin typeface="Arial" pitchFamily="34" charset="0"/>
                <a:ea typeface="Arial" pitchFamily="34" charset="-122"/>
                <a:cs typeface="Arial" pitchFamily="34" charset="-120"/>
              </a:rPr>
              <a:t>BITSoM vertex  |  H2S</a:t>
            </a:r>
            <a:endParaRPr lang="en-US" sz="1300" dirty="0"/>
          </a:p>
        </p:txBody>
      </p:sp>
      <p:sp>
        <p:nvSpPr>
          <p:cNvPr id="3" name="Text 1"/>
          <p:cNvSpPr/>
          <p:nvPr/>
        </p:nvSpPr>
        <p:spPr>
          <a:xfrm>
            <a:off x="6858000" y="292608"/>
            <a:ext cx="4572000" cy="320040"/>
          </a:xfrm>
          <a:prstGeom prst="rect">
            <a:avLst/>
          </a:prstGeom>
          <a:noFill/>
          <a:ln/>
        </p:spPr>
        <p:txBody>
          <a:bodyPr wrap="square" rtlCol="0" anchor="ctr"/>
          <a:lstStyle/>
          <a:p>
            <a:pPr marL="0" indent="0" algn="r">
              <a:buNone/>
            </a:pPr>
            <a:r>
              <a:rPr lang="en-US" sz="1300" b="1" dirty="0">
                <a:solidFill>
                  <a:srgbClr val="F05A28"/>
                </a:solidFill>
                <a:latin typeface="Arial" pitchFamily="34" charset="0"/>
                <a:ea typeface="Arial" pitchFamily="34" charset="-122"/>
                <a:cs typeface="Arial" pitchFamily="34" charset="-120"/>
              </a:rPr>
              <a:t>Builders Pitch Fest 2026</a:t>
            </a:r>
            <a:endParaRPr lang="en-US" sz="1300" dirty="0"/>
          </a:p>
        </p:txBody>
      </p:sp>
      <p:sp>
        <p:nvSpPr>
          <p:cNvPr id="4" name="Shape 2"/>
          <p:cNvSpPr/>
          <p:nvPr/>
        </p:nvSpPr>
        <p:spPr>
          <a:xfrm>
            <a:off x="731520" y="658368"/>
            <a:ext cx="10728655" cy="0"/>
          </a:xfrm>
          <a:prstGeom prst="line">
            <a:avLst/>
          </a:prstGeom>
          <a:noFill/>
          <a:ln w="12700">
            <a:solidFill>
              <a:srgbClr val="E2E8F0"/>
            </a:solidFill>
            <a:prstDash val="solid"/>
          </a:ln>
        </p:spPr>
        <p:txBody>
          <a:bodyPr/>
          <a:lstStyle/>
          <a:p>
            <a:endParaRPr lang="en-IN"/>
          </a:p>
        </p:txBody>
      </p:sp>
      <p:sp>
        <p:nvSpPr>
          <p:cNvPr id="5" name="Text 3"/>
          <p:cNvSpPr/>
          <p:nvPr/>
        </p:nvSpPr>
        <p:spPr>
          <a:xfrm>
            <a:off x="731520" y="777240"/>
            <a:ext cx="10728655" cy="502920"/>
          </a:xfrm>
          <a:prstGeom prst="rect">
            <a:avLst/>
          </a:prstGeom>
          <a:noFill/>
          <a:ln/>
        </p:spPr>
        <p:txBody>
          <a:bodyPr wrap="square" rtlCol="0" anchor="ctr"/>
          <a:lstStyle/>
          <a:p>
            <a:pPr marL="0" indent="0">
              <a:buNone/>
            </a:pPr>
            <a:r>
              <a:rPr lang="en-US" sz="2200" b="1" dirty="0">
                <a:solidFill>
                  <a:srgbClr val="0F172A"/>
                </a:solidFill>
                <a:latin typeface="Arial" pitchFamily="34" charset="0"/>
                <a:ea typeface="Arial" pitchFamily="34" charset="-122"/>
                <a:cs typeface="Arial" pitchFamily="34" charset="-120"/>
              </a:rPr>
              <a:t>Technology &amp; AI Architecture</a:t>
            </a:r>
            <a:endParaRPr lang="en-US" sz="2200" dirty="0"/>
          </a:p>
        </p:txBody>
      </p:sp>
      <p:sp>
        <p:nvSpPr>
          <p:cNvPr id="6" name="Shape 4"/>
          <p:cNvSpPr/>
          <p:nvPr/>
        </p:nvSpPr>
        <p:spPr>
          <a:xfrm>
            <a:off x="0" y="6748272"/>
            <a:ext cx="12191695" cy="109728"/>
          </a:xfrm>
          <a:prstGeom prst="rect">
            <a:avLst/>
          </a:prstGeom>
          <a:solidFill>
            <a:srgbClr val="F05A28"/>
          </a:solidFill>
          <a:ln w="12700">
            <a:solidFill>
              <a:srgbClr val="F05A28"/>
            </a:solidFill>
            <a:prstDash val="solid"/>
          </a:ln>
        </p:spPr>
        <p:txBody>
          <a:bodyPr/>
          <a:lstStyle/>
          <a:p>
            <a:endParaRPr lang="en-IN"/>
          </a:p>
        </p:txBody>
      </p:sp>
      <p:sp>
        <p:nvSpPr>
          <p:cNvPr id="7" name="Shape 5"/>
          <p:cNvSpPr/>
          <p:nvPr/>
        </p:nvSpPr>
        <p:spPr>
          <a:xfrm>
            <a:off x="731520" y="1371600"/>
            <a:ext cx="6217920" cy="5120640"/>
          </a:xfrm>
          <a:prstGeom prst="roundRect">
            <a:avLst>
              <a:gd name="adj" fmla="val 2143"/>
            </a:avLst>
          </a:prstGeom>
          <a:solidFill>
            <a:srgbClr val="F8FAFC"/>
          </a:solidFill>
          <a:ln w="15240">
            <a:solidFill>
              <a:srgbClr val="E2E8F0"/>
            </a:solidFill>
            <a:prstDash val="solid"/>
          </a:ln>
        </p:spPr>
        <p:txBody>
          <a:bodyPr/>
          <a:lstStyle/>
          <a:p>
            <a:endParaRPr lang="en-IN"/>
          </a:p>
        </p:txBody>
      </p:sp>
      <p:sp>
        <p:nvSpPr>
          <p:cNvPr id="8" name="Text 6"/>
          <p:cNvSpPr/>
          <p:nvPr/>
        </p:nvSpPr>
        <p:spPr>
          <a:xfrm>
            <a:off x="914400" y="1554480"/>
            <a:ext cx="5852160" cy="274320"/>
          </a:xfrm>
          <a:prstGeom prst="rect">
            <a:avLst/>
          </a:prstGeom>
          <a:noFill/>
          <a:ln/>
        </p:spPr>
        <p:txBody>
          <a:bodyPr wrap="square" rtlCol="0" anchor="ctr"/>
          <a:lstStyle/>
          <a:p>
            <a:pPr marL="0" indent="0">
              <a:buNone/>
            </a:pPr>
            <a:r>
              <a:rPr lang="en-US" sz="1100" b="1" dirty="0">
                <a:solidFill>
                  <a:srgbClr val="C2410C"/>
                </a:solidFill>
                <a:latin typeface="Arial" pitchFamily="34" charset="0"/>
                <a:ea typeface="Arial" pitchFamily="34" charset="-122"/>
                <a:cs typeface="Arial" pitchFamily="34" charset="-120"/>
              </a:rPr>
              <a:t>1. END-TO-END ARCHITECTURE &amp; DATA FLOW</a:t>
            </a:r>
            <a:endParaRPr lang="en-US" sz="1100" dirty="0"/>
          </a:p>
        </p:txBody>
      </p:sp>
      <p:sp>
        <p:nvSpPr>
          <p:cNvPr id="9" name="Text 7"/>
          <p:cNvSpPr/>
          <p:nvPr/>
        </p:nvSpPr>
        <p:spPr>
          <a:xfrm>
            <a:off x="914400" y="1874520"/>
            <a:ext cx="5852160" cy="2194560"/>
          </a:xfrm>
          <a:prstGeom prst="rect">
            <a:avLst/>
          </a:prstGeom>
          <a:noFill/>
          <a:ln/>
        </p:spPr>
        <p:txBody>
          <a:bodyPr wrap="square" rtlCol="0" anchor="ctr"/>
          <a:lstStyle/>
          <a:p>
            <a:pPr marL="0" indent="0">
              <a:lnSpc>
                <a:spcPts val="1400"/>
              </a:lnSpc>
              <a:buNone/>
            </a:pPr>
            <a:r>
              <a:rPr lang="en-US" sz="980" b="1" dirty="0">
                <a:solidFill>
                  <a:srgbClr val="0F172A"/>
                </a:solidFill>
                <a:latin typeface="Arial" pitchFamily="34" charset="0"/>
                <a:ea typeface="Arial" pitchFamily="34" charset="-122"/>
                <a:cs typeface="Arial" pitchFamily="34" charset="-120"/>
              </a:rPr>
              <a:t>• Ingestion &amp; Buffer Layer: </a:t>
            </a:r>
            <a:r>
              <a:rPr lang="en-US" sz="980" dirty="0">
                <a:solidFill>
                  <a:srgbClr val="334155"/>
                </a:solidFill>
                <a:latin typeface="Arial" pitchFamily="34" charset="0"/>
                <a:ea typeface="Arial" pitchFamily="34" charset="-122"/>
                <a:cs typeface="Arial" pitchFamily="34" charset="-120"/>
              </a:rPr>
              <a:t>React 19 client streams statements/CSVs to Node.js/Express API; temporary in-memory buffering with zero-trace post-processing scrubbing.
</a:t>
            </a:r>
            <a:r>
              <a:rPr lang="en-US" sz="980" b="1" dirty="0">
                <a:solidFill>
                  <a:srgbClr val="0F172A"/>
                </a:solidFill>
                <a:latin typeface="Arial" pitchFamily="34" charset="0"/>
                <a:ea typeface="Arial" pitchFamily="34" charset="-122"/>
                <a:cs typeface="Arial" pitchFamily="34" charset="-120"/>
              </a:rPr>
              <a:t>• Agent 1 - FETCHA (Gemini 2.5 Flash): </a:t>
            </a:r>
            <a:r>
              <a:rPr lang="en-US" sz="980" dirty="0">
                <a:solidFill>
                  <a:srgbClr val="334155"/>
                </a:solidFill>
                <a:latin typeface="Arial" pitchFamily="34" charset="0"/>
                <a:ea typeface="Arial" pitchFamily="34" charset="-122"/>
                <a:cs typeface="Arial" pitchFamily="34" charset="-120"/>
              </a:rPr>
              <a:t>Parses high-density tabular statements in ~5.8s; executes live scraping for GSTIN status and MCA21 corporate registry data.
</a:t>
            </a:r>
            <a:r>
              <a:rPr lang="en-US" sz="980" b="1" dirty="0">
                <a:solidFill>
                  <a:srgbClr val="0F172A"/>
                </a:solidFill>
                <a:latin typeface="Arial" pitchFamily="34" charset="0"/>
                <a:ea typeface="Arial" pitchFamily="34" charset="-122"/>
                <a:cs typeface="Arial" pitchFamily="34" charset="-120"/>
              </a:rPr>
              <a:t>• Agent 2 - GEEK (Gemini 2.5 Pro): </a:t>
            </a:r>
            <a:r>
              <a:rPr lang="en-US" sz="980" dirty="0">
                <a:solidFill>
                  <a:srgbClr val="334155"/>
                </a:solidFill>
                <a:latin typeface="Arial" pitchFamily="34" charset="0"/>
                <a:ea typeface="Arial" pitchFamily="34" charset="-122"/>
                <a:cs typeface="Arial" pitchFamily="34" charset="-120"/>
              </a:rPr>
              <a:t>Mathematical ratio matrix calculating Cash Buffer, Debt Service Capacity, and GSTR-1 vs 3B turnover alignment.
</a:t>
            </a:r>
            <a:r>
              <a:rPr lang="en-US" sz="980" b="1" dirty="0">
                <a:solidFill>
                  <a:srgbClr val="0F172A"/>
                </a:solidFill>
                <a:latin typeface="Arial" pitchFamily="34" charset="0"/>
                <a:ea typeface="Arial" pitchFamily="34" charset="-122"/>
                <a:cs typeface="Arial" pitchFamily="34" charset="-120"/>
              </a:rPr>
              <a:t>• Agent 3 - ORC (Gemini 2.5 Pro): </a:t>
            </a:r>
            <a:r>
              <a:rPr lang="en-US" sz="980" dirty="0">
                <a:solidFill>
                  <a:srgbClr val="334155"/>
                </a:solidFill>
                <a:latin typeface="Arial" pitchFamily="34" charset="0"/>
                <a:ea typeface="Arial" pitchFamily="34" charset="-122"/>
                <a:cs typeface="Arial" pitchFamily="34" charset="-120"/>
              </a:rPr>
              <a:t>Chief Credit Officer orchestrating final 300-900 score, risk categorization, and immutable line-item evidence ledger.
</a:t>
            </a:r>
            <a:r>
              <a:rPr lang="en-US" sz="980" b="1" dirty="0">
                <a:solidFill>
                  <a:srgbClr val="0F172A"/>
                </a:solidFill>
                <a:latin typeface="Arial" pitchFamily="34" charset="0"/>
                <a:ea typeface="Arial" pitchFamily="34" charset="-122"/>
                <a:cs typeface="Arial" pitchFamily="34" charset="-120"/>
              </a:rPr>
              <a:t>• Real-Time Cockpit: </a:t>
            </a:r>
            <a:r>
              <a:rPr lang="en-US" sz="980" dirty="0">
                <a:solidFill>
                  <a:srgbClr val="334155"/>
                </a:solidFill>
                <a:latin typeface="Arial" pitchFamily="34" charset="0"/>
                <a:ea typeface="Arial" pitchFamily="34" charset="-122"/>
                <a:cs typeface="Arial" pitchFamily="34" charset="-120"/>
              </a:rPr>
              <a:t>Server-Sent Events (SSE) stream agent updates to React dashboard.</a:t>
            </a:r>
            <a:endParaRPr lang="en-US" sz="980" dirty="0"/>
          </a:p>
        </p:txBody>
      </p:sp>
      <p:sp>
        <p:nvSpPr>
          <p:cNvPr id="10" name="Shape 8"/>
          <p:cNvSpPr/>
          <p:nvPr/>
        </p:nvSpPr>
        <p:spPr>
          <a:xfrm>
            <a:off x="914400" y="4206240"/>
            <a:ext cx="5852160" cy="0"/>
          </a:xfrm>
          <a:prstGeom prst="line">
            <a:avLst/>
          </a:prstGeom>
          <a:noFill/>
          <a:ln w="12700">
            <a:solidFill>
              <a:srgbClr val="E2E8F0"/>
            </a:solidFill>
            <a:prstDash val="solid"/>
          </a:ln>
        </p:spPr>
        <p:txBody>
          <a:bodyPr/>
          <a:lstStyle/>
          <a:p>
            <a:endParaRPr lang="en-IN"/>
          </a:p>
        </p:txBody>
      </p:sp>
      <p:sp>
        <p:nvSpPr>
          <p:cNvPr id="11" name="Text 9"/>
          <p:cNvSpPr/>
          <p:nvPr/>
        </p:nvSpPr>
        <p:spPr>
          <a:xfrm>
            <a:off x="914400" y="4343400"/>
            <a:ext cx="5852160" cy="274320"/>
          </a:xfrm>
          <a:prstGeom prst="rect">
            <a:avLst/>
          </a:prstGeom>
          <a:noFill/>
          <a:ln/>
        </p:spPr>
        <p:txBody>
          <a:bodyPr wrap="square" rtlCol="0" anchor="ctr"/>
          <a:lstStyle/>
          <a:p>
            <a:pPr marL="0" indent="0">
              <a:buNone/>
            </a:pPr>
            <a:r>
              <a:rPr lang="en-US" sz="1100" b="1" dirty="0">
                <a:solidFill>
                  <a:srgbClr val="1E40AF"/>
                </a:solidFill>
                <a:latin typeface="Arial" pitchFamily="34" charset="0"/>
                <a:ea typeface="Arial" pitchFamily="34" charset="-122"/>
                <a:cs typeface="Arial" pitchFamily="34" charset="-120"/>
              </a:rPr>
              <a:t>2. ROLE OF AI &amp; WORKFLOWS POWERED BY IT</a:t>
            </a:r>
            <a:endParaRPr lang="en-US" sz="1100" dirty="0"/>
          </a:p>
        </p:txBody>
      </p:sp>
      <p:sp>
        <p:nvSpPr>
          <p:cNvPr id="12" name="Text 10"/>
          <p:cNvSpPr/>
          <p:nvPr/>
        </p:nvSpPr>
        <p:spPr>
          <a:xfrm>
            <a:off x="914400" y="4663440"/>
            <a:ext cx="5852160" cy="1645920"/>
          </a:xfrm>
          <a:prstGeom prst="rect">
            <a:avLst/>
          </a:prstGeom>
          <a:noFill/>
          <a:ln/>
        </p:spPr>
        <p:txBody>
          <a:bodyPr wrap="square" rtlCol="0" anchor="ctr"/>
          <a:lstStyle/>
          <a:p>
            <a:pPr marL="0" indent="0">
              <a:lnSpc>
                <a:spcPts val="1400"/>
              </a:lnSpc>
              <a:buNone/>
            </a:pPr>
            <a:r>
              <a:rPr lang="en-US" sz="980" b="1" dirty="0">
                <a:solidFill>
                  <a:srgbClr val="0F172A"/>
                </a:solidFill>
                <a:latin typeface="Arial" pitchFamily="34" charset="0"/>
                <a:ea typeface="Arial" pitchFamily="34" charset="-122"/>
                <a:cs typeface="Arial" pitchFamily="34" charset="-120"/>
              </a:rPr>
              <a:t>• Unstructured Tabular Normalization: </a:t>
            </a:r>
            <a:r>
              <a:rPr lang="en-US" sz="980" dirty="0">
                <a:solidFill>
                  <a:srgbClr val="334155"/>
                </a:solidFill>
                <a:latin typeface="Arial" pitchFamily="34" charset="0"/>
                <a:ea typeface="Arial" pitchFamily="34" charset="-122"/>
                <a:cs typeface="Arial" pitchFamily="34" charset="-120"/>
              </a:rPr>
              <a:t>Handles 50+ divergent Indian bank statement layouts, removing malformed OCR artifacts without data loss.
</a:t>
            </a:r>
            <a:r>
              <a:rPr lang="en-US" sz="980" b="1" dirty="0">
                <a:solidFill>
                  <a:srgbClr val="0F172A"/>
                </a:solidFill>
                <a:latin typeface="Arial" pitchFamily="34" charset="0"/>
                <a:ea typeface="Arial" pitchFamily="34" charset="-122"/>
                <a:cs typeface="Arial" pitchFamily="34" charset="-120"/>
              </a:rPr>
              <a:t>• Multi-Source Anomaly Synthesis: </a:t>
            </a:r>
            <a:r>
              <a:rPr lang="en-US" sz="980" dirty="0">
                <a:solidFill>
                  <a:srgbClr val="334155"/>
                </a:solidFill>
                <a:latin typeface="Arial" pitchFamily="34" charset="0"/>
                <a:ea typeface="Arial" pitchFamily="34" charset="-122"/>
                <a:cs typeface="Arial" pitchFamily="34" charset="-120"/>
              </a:rPr>
              <a:t>Reconciles mismatches between declared tax turnover vs bank cash deposits.
</a:t>
            </a:r>
            <a:r>
              <a:rPr lang="en-US" sz="980" b="1" dirty="0">
                <a:solidFill>
                  <a:srgbClr val="0F172A"/>
                </a:solidFill>
                <a:latin typeface="Arial" pitchFamily="34" charset="0"/>
                <a:ea typeface="Arial" pitchFamily="34" charset="-122"/>
                <a:cs typeface="Arial" pitchFamily="34" charset="-120"/>
              </a:rPr>
              <a:t>• Conversational XAI Drawer: </a:t>
            </a:r>
            <a:r>
              <a:rPr lang="en-US" sz="980" dirty="0">
                <a:solidFill>
                  <a:srgbClr val="334155"/>
                </a:solidFill>
                <a:latin typeface="Arial" pitchFamily="34" charset="0"/>
                <a:ea typeface="Arial" pitchFamily="34" charset="-122"/>
                <a:cs typeface="Arial" pitchFamily="34" charset="-120"/>
              </a:rPr>
              <a:t>Empowers underwriters to cross-examine loan decisions via natural language Q&amp;A with direct ledger citations.</a:t>
            </a:r>
            <a:endParaRPr lang="en-US" sz="980" dirty="0"/>
          </a:p>
        </p:txBody>
      </p:sp>
      <p:sp>
        <p:nvSpPr>
          <p:cNvPr id="13" name="Shape 11"/>
          <p:cNvSpPr/>
          <p:nvPr/>
        </p:nvSpPr>
        <p:spPr>
          <a:xfrm>
            <a:off x="7132320" y="1371600"/>
            <a:ext cx="4327855" cy="5120640"/>
          </a:xfrm>
          <a:prstGeom prst="roundRect">
            <a:avLst>
              <a:gd name="adj" fmla="val 2535"/>
            </a:avLst>
          </a:prstGeom>
          <a:solidFill>
            <a:srgbClr val="F8FAFC"/>
          </a:solidFill>
          <a:ln w="15240">
            <a:solidFill>
              <a:srgbClr val="E2E8F0"/>
            </a:solidFill>
            <a:prstDash val="solid"/>
          </a:ln>
        </p:spPr>
        <p:txBody>
          <a:bodyPr/>
          <a:lstStyle/>
          <a:p>
            <a:endParaRPr lang="en-IN"/>
          </a:p>
        </p:txBody>
      </p:sp>
      <p:sp>
        <p:nvSpPr>
          <p:cNvPr id="14" name="Text 12"/>
          <p:cNvSpPr/>
          <p:nvPr/>
        </p:nvSpPr>
        <p:spPr>
          <a:xfrm>
            <a:off x="7315200" y="1554480"/>
            <a:ext cx="3931920" cy="274320"/>
          </a:xfrm>
          <a:prstGeom prst="rect">
            <a:avLst/>
          </a:prstGeom>
          <a:noFill/>
          <a:ln/>
        </p:spPr>
        <p:txBody>
          <a:bodyPr wrap="square" rtlCol="0" anchor="ctr"/>
          <a:lstStyle/>
          <a:p>
            <a:pPr marL="0" indent="0" algn="ctr">
              <a:buNone/>
            </a:pPr>
            <a:r>
              <a:rPr lang="en-US" sz="1100" b="1" dirty="0">
                <a:solidFill>
                  <a:srgbClr val="C2410C"/>
                </a:solidFill>
                <a:latin typeface="Arial" pitchFamily="34" charset="0"/>
                <a:ea typeface="Arial" pitchFamily="34" charset="-122"/>
                <a:cs typeface="Arial" pitchFamily="34" charset="-120"/>
              </a:rPr>
              <a:t>CITADEL PIPELINE ARCHITECTURE</a:t>
            </a:r>
            <a:endParaRPr lang="en-US" sz="1100" dirty="0"/>
          </a:p>
        </p:txBody>
      </p:sp>
      <p:pic>
        <p:nvPicPr>
          <p:cNvPr id="15" name="Image 0" descr="C:\Users\dbleg\OneDrive\Desktop\IDBI\assets\deck_images\architecture.png"/>
          <p:cNvPicPr>
            <a:picLocks noChangeAspect="1"/>
          </p:cNvPicPr>
          <p:nvPr/>
        </p:nvPicPr>
        <p:blipFill>
          <a:blip r:embed="rId3"/>
          <a:stretch>
            <a:fillRect/>
          </a:stretch>
        </p:blipFill>
        <p:spPr>
          <a:xfrm>
            <a:off x="7315200" y="1920240"/>
            <a:ext cx="3962095" cy="42976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92608"/>
            <a:ext cx="4114800" cy="320040"/>
          </a:xfrm>
          <a:prstGeom prst="rect">
            <a:avLst/>
          </a:prstGeom>
          <a:noFill/>
          <a:ln/>
        </p:spPr>
        <p:txBody>
          <a:bodyPr wrap="square" rtlCol="0" anchor="ctr"/>
          <a:lstStyle/>
          <a:p>
            <a:pPr marL="0" indent="0">
              <a:buNone/>
            </a:pPr>
            <a:r>
              <a:rPr lang="en-US" sz="1300" b="1" dirty="0">
                <a:solidFill>
                  <a:srgbClr val="1E293B"/>
                </a:solidFill>
                <a:latin typeface="Arial" pitchFamily="34" charset="0"/>
                <a:ea typeface="Arial" pitchFamily="34" charset="-122"/>
                <a:cs typeface="Arial" pitchFamily="34" charset="-120"/>
              </a:rPr>
              <a:t>BITSoM vertex  |  H2S</a:t>
            </a:r>
            <a:endParaRPr lang="en-US" sz="1300" dirty="0"/>
          </a:p>
        </p:txBody>
      </p:sp>
      <p:sp>
        <p:nvSpPr>
          <p:cNvPr id="3" name="Text 1"/>
          <p:cNvSpPr/>
          <p:nvPr/>
        </p:nvSpPr>
        <p:spPr>
          <a:xfrm>
            <a:off x="6858000" y="292608"/>
            <a:ext cx="4572000" cy="320040"/>
          </a:xfrm>
          <a:prstGeom prst="rect">
            <a:avLst/>
          </a:prstGeom>
          <a:noFill/>
          <a:ln/>
        </p:spPr>
        <p:txBody>
          <a:bodyPr wrap="square" rtlCol="0" anchor="ctr"/>
          <a:lstStyle/>
          <a:p>
            <a:pPr marL="0" indent="0" algn="r">
              <a:buNone/>
            </a:pPr>
            <a:r>
              <a:rPr lang="en-US" sz="1300" b="1" dirty="0">
                <a:solidFill>
                  <a:srgbClr val="F05A28"/>
                </a:solidFill>
                <a:latin typeface="Arial" pitchFamily="34" charset="0"/>
                <a:ea typeface="Arial" pitchFamily="34" charset="-122"/>
                <a:cs typeface="Arial" pitchFamily="34" charset="-120"/>
              </a:rPr>
              <a:t>Builders Pitch Fest 2026</a:t>
            </a:r>
            <a:endParaRPr lang="en-US" sz="1300" dirty="0"/>
          </a:p>
        </p:txBody>
      </p:sp>
      <p:sp>
        <p:nvSpPr>
          <p:cNvPr id="4" name="Shape 2"/>
          <p:cNvSpPr/>
          <p:nvPr/>
        </p:nvSpPr>
        <p:spPr>
          <a:xfrm>
            <a:off x="731520" y="658368"/>
            <a:ext cx="10728655" cy="0"/>
          </a:xfrm>
          <a:prstGeom prst="line">
            <a:avLst/>
          </a:prstGeom>
          <a:noFill/>
          <a:ln w="12700">
            <a:solidFill>
              <a:srgbClr val="E2E8F0"/>
            </a:solidFill>
            <a:prstDash val="solid"/>
          </a:ln>
        </p:spPr>
        <p:txBody>
          <a:bodyPr/>
          <a:lstStyle/>
          <a:p>
            <a:endParaRPr lang="en-IN"/>
          </a:p>
        </p:txBody>
      </p:sp>
      <p:sp>
        <p:nvSpPr>
          <p:cNvPr id="5" name="Text 3"/>
          <p:cNvSpPr/>
          <p:nvPr/>
        </p:nvSpPr>
        <p:spPr>
          <a:xfrm>
            <a:off x="731520" y="777240"/>
            <a:ext cx="10728655" cy="502920"/>
          </a:xfrm>
          <a:prstGeom prst="rect">
            <a:avLst/>
          </a:prstGeom>
          <a:noFill/>
          <a:ln/>
        </p:spPr>
        <p:txBody>
          <a:bodyPr wrap="square" rtlCol="0" anchor="ctr"/>
          <a:lstStyle/>
          <a:p>
            <a:pPr marL="0" indent="0">
              <a:buNone/>
            </a:pPr>
            <a:r>
              <a:rPr lang="en-US" sz="2200" b="1" dirty="0">
                <a:solidFill>
                  <a:srgbClr val="0F172A"/>
                </a:solidFill>
                <a:latin typeface="Arial" pitchFamily="34" charset="0"/>
                <a:ea typeface="Arial" pitchFamily="34" charset="-122"/>
                <a:cs typeface="Arial" pitchFamily="34" charset="-120"/>
              </a:rPr>
              <a:t>Competitive Advantage</a:t>
            </a:r>
            <a:endParaRPr lang="en-US" sz="2200" dirty="0"/>
          </a:p>
        </p:txBody>
      </p:sp>
      <p:sp>
        <p:nvSpPr>
          <p:cNvPr id="6" name="Shape 4"/>
          <p:cNvSpPr/>
          <p:nvPr/>
        </p:nvSpPr>
        <p:spPr>
          <a:xfrm>
            <a:off x="0" y="6748272"/>
            <a:ext cx="12191695" cy="109728"/>
          </a:xfrm>
          <a:prstGeom prst="rect">
            <a:avLst/>
          </a:prstGeom>
          <a:solidFill>
            <a:srgbClr val="F05A28"/>
          </a:solidFill>
          <a:ln w="12700">
            <a:solidFill>
              <a:srgbClr val="F05A28"/>
            </a:solidFill>
            <a:prstDash val="solid"/>
          </a:ln>
        </p:spPr>
        <p:txBody>
          <a:bodyPr/>
          <a:lstStyle/>
          <a:p>
            <a:endParaRPr lang="en-IN"/>
          </a:p>
        </p:txBody>
      </p:sp>
      <p:sp>
        <p:nvSpPr>
          <p:cNvPr id="7" name="Shape 5"/>
          <p:cNvSpPr/>
          <p:nvPr/>
        </p:nvSpPr>
        <p:spPr>
          <a:xfrm>
            <a:off x="731520" y="1371600"/>
            <a:ext cx="5212080" cy="5120640"/>
          </a:xfrm>
          <a:prstGeom prst="roundRect">
            <a:avLst>
              <a:gd name="adj" fmla="val 2143"/>
            </a:avLst>
          </a:prstGeom>
          <a:solidFill>
            <a:srgbClr val="F8FAFC"/>
          </a:solidFill>
          <a:ln w="15240">
            <a:solidFill>
              <a:srgbClr val="E2E8F0"/>
            </a:solidFill>
            <a:prstDash val="solid"/>
          </a:ln>
        </p:spPr>
        <p:txBody>
          <a:bodyPr/>
          <a:lstStyle/>
          <a:p>
            <a:endParaRPr lang="en-IN"/>
          </a:p>
        </p:txBody>
      </p:sp>
      <p:sp>
        <p:nvSpPr>
          <p:cNvPr id="8" name="Shape 6"/>
          <p:cNvSpPr/>
          <p:nvPr/>
        </p:nvSpPr>
        <p:spPr>
          <a:xfrm>
            <a:off x="1005840" y="1554480"/>
            <a:ext cx="4663440" cy="347472"/>
          </a:xfrm>
          <a:prstGeom prst="roundRect">
            <a:avLst>
              <a:gd name="adj" fmla="val 15789"/>
            </a:avLst>
          </a:prstGeom>
          <a:solidFill>
            <a:srgbClr val="FFF7ED"/>
          </a:solidFill>
          <a:ln w="12700">
            <a:solidFill>
              <a:srgbClr val="FDBA74"/>
            </a:solidFill>
            <a:prstDash val="solid"/>
          </a:ln>
        </p:spPr>
        <p:txBody>
          <a:bodyPr/>
          <a:lstStyle/>
          <a:p>
            <a:endParaRPr lang="en-IN"/>
          </a:p>
        </p:txBody>
      </p:sp>
      <p:sp>
        <p:nvSpPr>
          <p:cNvPr id="9" name="Text 7"/>
          <p:cNvSpPr/>
          <p:nvPr/>
        </p:nvSpPr>
        <p:spPr>
          <a:xfrm>
            <a:off x="1097280" y="1554480"/>
            <a:ext cx="4480560" cy="347472"/>
          </a:xfrm>
          <a:prstGeom prst="rect">
            <a:avLst/>
          </a:prstGeom>
          <a:noFill/>
          <a:ln/>
        </p:spPr>
        <p:txBody>
          <a:bodyPr wrap="square" rtlCol="0" anchor="ctr"/>
          <a:lstStyle/>
          <a:p>
            <a:pPr marL="0" indent="0">
              <a:buNone/>
            </a:pPr>
            <a:r>
              <a:rPr lang="en-US" sz="950" b="1" dirty="0">
                <a:solidFill>
                  <a:srgbClr val="C2410C"/>
                </a:solidFill>
                <a:latin typeface="Arial" pitchFamily="34" charset="0"/>
                <a:ea typeface="Arial" pitchFamily="34" charset="-122"/>
                <a:cs typeface="Arial" pitchFamily="34" charset="-120"/>
              </a:rPr>
              <a:t>1. WHAT ALTERNATIVES EXIST TODAY &amp; HOW DO WE COMPARE?</a:t>
            </a:r>
            <a:endParaRPr lang="en-US" sz="950" dirty="0"/>
          </a:p>
        </p:txBody>
      </p:sp>
      <p:sp>
        <p:nvSpPr>
          <p:cNvPr id="10" name="Text 8"/>
          <p:cNvSpPr/>
          <p:nvPr/>
        </p:nvSpPr>
        <p:spPr>
          <a:xfrm>
            <a:off x="1005840" y="2011680"/>
            <a:ext cx="4663440" cy="502920"/>
          </a:xfrm>
          <a:prstGeom prst="rect">
            <a:avLst/>
          </a:prstGeom>
          <a:noFill/>
          <a:ln/>
        </p:spPr>
        <p:txBody>
          <a:bodyPr wrap="square" rtlCol="0" anchor="ctr"/>
          <a:lstStyle/>
          <a:p>
            <a:pPr marL="0" indent="0">
              <a:buNone/>
            </a:pPr>
            <a:r>
              <a:rPr lang="en-US" sz="1450" b="1" dirty="0">
                <a:solidFill>
                  <a:srgbClr val="0F172A"/>
                </a:solidFill>
                <a:latin typeface="Arial" pitchFamily="34" charset="0"/>
                <a:ea typeface="Arial" pitchFamily="34" charset="-122"/>
                <a:cs typeface="Arial" pitchFamily="34" charset="-120"/>
              </a:rPr>
              <a:t>Legacy Bureaus &amp; Brittle OCR vs. Agentic Intelligence</a:t>
            </a:r>
            <a:endParaRPr lang="en-US" sz="1450" dirty="0"/>
          </a:p>
        </p:txBody>
      </p:sp>
      <p:sp>
        <p:nvSpPr>
          <p:cNvPr id="11" name="Shape 9"/>
          <p:cNvSpPr/>
          <p:nvPr/>
        </p:nvSpPr>
        <p:spPr>
          <a:xfrm>
            <a:off x="1005840" y="2606040"/>
            <a:ext cx="4663440" cy="868680"/>
          </a:xfrm>
          <a:prstGeom prst="roundRect">
            <a:avLst>
              <a:gd name="adj" fmla="val 6316"/>
            </a:avLst>
          </a:prstGeom>
          <a:solidFill>
            <a:srgbClr val="FFFFFF"/>
          </a:solidFill>
          <a:ln w="12700">
            <a:solidFill>
              <a:srgbClr val="E2E8F0"/>
            </a:solidFill>
            <a:prstDash val="solid"/>
          </a:ln>
        </p:spPr>
        <p:txBody>
          <a:bodyPr/>
          <a:lstStyle/>
          <a:p>
            <a:endParaRPr lang="en-IN"/>
          </a:p>
        </p:txBody>
      </p:sp>
      <p:sp>
        <p:nvSpPr>
          <p:cNvPr id="12" name="Text 10"/>
          <p:cNvSpPr/>
          <p:nvPr/>
        </p:nvSpPr>
        <p:spPr>
          <a:xfrm>
            <a:off x="1143000" y="2679192"/>
            <a:ext cx="4389120" cy="256032"/>
          </a:xfrm>
          <a:prstGeom prst="rect">
            <a:avLst/>
          </a:prstGeom>
          <a:noFill/>
          <a:ln/>
        </p:spPr>
        <p:txBody>
          <a:bodyPr wrap="square" rtlCol="0" anchor="ctr"/>
          <a:lstStyle/>
          <a:p>
            <a:pPr marL="0" indent="0">
              <a:buNone/>
            </a:pPr>
            <a:r>
              <a:rPr lang="en-US" sz="1050" b="1" dirty="0">
                <a:solidFill>
                  <a:srgbClr val="0F172A"/>
                </a:solidFill>
                <a:latin typeface="Arial" pitchFamily="34" charset="0"/>
                <a:ea typeface="Arial" pitchFamily="34" charset="-122"/>
                <a:cs typeface="Arial" pitchFamily="34" charset="-120"/>
              </a:rPr>
              <a:t>Legacy Bureaus (CIBIL/Experian):</a:t>
            </a:r>
            <a:endParaRPr lang="en-US" sz="1050" dirty="0"/>
          </a:p>
        </p:txBody>
      </p:sp>
      <p:sp>
        <p:nvSpPr>
          <p:cNvPr id="13" name="Text 11"/>
          <p:cNvSpPr/>
          <p:nvPr/>
        </p:nvSpPr>
        <p:spPr>
          <a:xfrm>
            <a:off x="1143000" y="2935224"/>
            <a:ext cx="4389120" cy="475488"/>
          </a:xfrm>
          <a:prstGeom prst="rect">
            <a:avLst/>
          </a:prstGeom>
          <a:noFill/>
          <a:ln/>
        </p:spPr>
        <p:txBody>
          <a:bodyPr wrap="square" rtlCol="0" anchor="ctr"/>
          <a:lstStyle/>
          <a:p>
            <a:pPr marL="0" indent="0">
              <a:lnSpc>
                <a:spcPts val="1300"/>
              </a:lnSpc>
              <a:buNone/>
            </a:pPr>
            <a:r>
              <a:rPr lang="en-US" sz="920" dirty="0">
                <a:solidFill>
                  <a:srgbClr val="334155"/>
                </a:solidFill>
                <a:latin typeface="Arial" pitchFamily="34" charset="0"/>
                <a:ea typeface="Arial" pitchFamily="34" charset="-122"/>
                <a:cs typeface="Arial" pitchFamily="34" charset="-120"/>
              </a:rPr>
              <a:t>Require 2+ years of formal repayment history. Exclude NTC borrowers completely. Artificer evaluates real-time cash flows with 0 bureau track record.</a:t>
            </a:r>
            <a:endParaRPr lang="en-US" sz="920" dirty="0"/>
          </a:p>
        </p:txBody>
      </p:sp>
      <p:sp>
        <p:nvSpPr>
          <p:cNvPr id="14" name="Shape 12"/>
          <p:cNvSpPr/>
          <p:nvPr/>
        </p:nvSpPr>
        <p:spPr>
          <a:xfrm>
            <a:off x="1005840" y="3566160"/>
            <a:ext cx="4663440" cy="868680"/>
          </a:xfrm>
          <a:prstGeom prst="roundRect">
            <a:avLst>
              <a:gd name="adj" fmla="val 6316"/>
            </a:avLst>
          </a:prstGeom>
          <a:solidFill>
            <a:srgbClr val="FFFFFF"/>
          </a:solidFill>
          <a:ln w="12700">
            <a:solidFill>
              <a:srgbClr val="E2E8F0"/>
            </a:solidFill>
            <a:prstDash val="solid"/>
          </a:ln>
        </p:spPr>
        <p:txBody>
          <a:bodyPr/>
          <a:lstStyle/>
          <a:p>
            <a:endParaRPr lang="en-IN"/>
          </a:p>
        </p:txBody>
      </p:sp>
      <p:sp>
        <p:nvSpPr>
          <p:cNvPr id="15" name="Text 13"/>
          <p:cNvSpPr/>
          <p:nvPr/>
        </p:nvSpPr>
        <p:spPr>
          <a:xfrm>
            <a:off x="1143000" y="3639312"/>
            <a:ext cx="4389120" cy="256032"/>
          </a:xfrm>
          <a:prstGeom prst="rect">
            <a:avLst/>
          </a:prstGeom>
          <a:noFill/>
          <a:ln/>
        </p:spPr>
        <p:txBody>
          <a:bodyPr wrap="square" rtlCol="0" anchor="ctr"/>
          <a:lstStyle/>
          <a:p>
            <a:pPr marL="0" indent="0">
              <a:buNone/>
            </a:pPr>
            <a:r>
              <a:rPr lang="en-US" sz="1050" b="1" dirty="0">
                <a:solidFill>
                  <a:srgbClr val="0F172A"/>
                </a:solidFill>
                <a:latin typeface="Arial" pitchFamily="34" charset="0"/>
                <a:ea typeface="Arial" pitchFamily="34" charset="-122"/>
                <a:cs typeface="Arial" pitchFamily="34" charset="-120"/>
              </a:rPr>
              <a:t>Traditional Rule Engines (Perfios, Karza):</a:t>
            </a:r>
            <a:endParaRPr lang="en-US" sz="1050" dirty="0"/>
          </a:p>
        </p:txBody>
      </p:sp>
      <p:sp>
        <p:nvSpPr>
          <p:cNvPr id="16" name="Text 14"/>
          <p:cNvSpPr/>
          <p:nvPr/>
        </p:nvSpPr>
        <p:spPr>
          <a:xfrm>
            <a:off x="1143000" y="3895344"/>
            <a:ext cx="4389120" cy="475488"/>
          </a:xfrm>
          <a:prstGeom prst="rect">
            <a:avLst/>
          </a:prstGeom>
          <a:noFill/>
          <a:ln/>
        </p:spPr>
        <p:txBody>
          <a:bodyPr wrap="square" rtlCol="0" anchor="ctr"/>
          <a:lstStyle/>
          <a:p>
            <a:pPr marL="0" indent="0">
              <a:lnSpc>
                <a:spcPts val="1300"/>
              </a:lnSpc>
              <a:buNone/>
            </a:pPr>
            <a:r>
              <a:rPr lang="en-US" sz="920" dirty="0">
                <a:solidFill>
                  <a:srgbClr val="334155"/>
                </a:solidFill>
                <a:latin typeface="Arial" pitchFamily="34" charset="0"/>
                <a:ea typeface="Arial" pitchFamily="34" charset="-122"/>
                <a:cs typeface="Arial" pitchFamily="34" charset="-120"/>
              </a:rPr>
              <a:t>Rigid regex/keyword parsers that break on novel bank statement formats; lack holistic reasoning or tax reconciliation context.</a:t>
            </a:r>
            <a:endParaRPr lang="en-US" sz="920" dirty="0"/>
          </a:p>
        </p:txBody>
      </p:sp>
      <p:sp>
        <p:nvSpPr>
          <p:cNvPr id="17" name="Shape 15"/>
          <p:cNvSpPr/>
          <p:nvPr/>
        </p:nvSpPr>
        <p:spPr>
          <a:xfrm>
            <a:off x="1005840" y="4526280"/>
            <a:ext cx="4663440" cy="868680"/>
          </a:xfrm>
          <a:prstGeom prst="roundRect">
            <a:avLst>
              <a:gd name="adj" fmla="val 6316"/>
            </a:avLst>
          </a:prstGeom>
          <a:solidFill>
            <a:srgbClr val="FFFFFF"/>
          </a:solidFill>
          <a:ln w="12700">
            <a:solidFill>
              <a:srgbClr val="E2E8F0"/>
            </a:solidFill>
            <a:prstDash val="solid"/>
          </a:ln>
        </p:spPr>
        <p:txBody>
          <a:bodyPr/>
          <a:lstStyle/>
          <a:p>
            <a:endParaRPr lang="en-IN"/>
          </a:p>
        </p:txBody>
      </p:sp>
      <p:sp>
        <p:nvSpPr>
          <p:cNvPr id="18" name="Text 16"/>
          <p:cNvSpPr/>
          <p:nvPr/>
        </p:nvSpPr>
        <p:spPr>
          <a:xfrm>
            <a:off x="1143000" y="4599432"/>
            <a:ext cx="4389120" cy="256032"/>
          </a:xfrm>
          <a:prstGeom prst="rect">
            <a:avLst/>
          </a:prstGeom>
          <a:noFill/>
          <a:ln/>
        </p:spPr>
        <p:txBody>
          <a:bodyPr wrap="square" rtlCol="0" anchor="ctr"/>
          <a:lstStyle/>
          <a:p>
            <a:pPr marL="0" indent="0">
              <a:buNone/>
            </a:pPr>
            <a:r>
              <a:rPr lang="en-US" sz="1050" b="1" dirty="0">
                <a:solidFill>
                  <a:srgbClr val="0F172A"/>
                </a:solidFill>
                <a:latin typeface="Arial" pitchFamily="34" charset="0"/>
                <a:ea typeface="Arial" pitchFamily="34" charset="-122"/>
                <a:cs typeface="Arial" pitchFamily="34" charset="-120"/>
              </a:rPr>
              <a:t>Generic LLM Wrappers:</a:t>
            </a:r>
            <a:endParaRPr lang="en-US" sz="1050" dirty="0"/>
          </a:p>
        </p:txBody>
      </p:sp>
      <p:sp>
        <p:nvSpPr>
          <p:cNvPr id="19" name="Text 17"/>
          <p:cNvSpPr/>
          <p:nvPr/>
        </p:nvSpPr>
        <p:spPr>
          <a:xfrm>
            <a:off x="1143000" y="4855464"/>
            <a:ext cx="4389120" cy="475488"/>
          </a:xfrm>
          <a:prstGeom prst="rect">
            <a:avLst/>
          </a:prstGeom>
          <a:noFill/>
          <a:ln/>
        </p:spPr>
        <p:txBody>
          <a:bodyPr wrap="square" rtlCol="0" anchor="ctr"/>
          <a:lstStyle/>
          <a:p>
            <a:pPr marL="0" indent="0">
              <a:lnSpc>
                <a:spcPts val="1300"/>
              </a:lnSpc>
              <a:buNone/>
            </a:pPr>
            <a:r>
              <a:rPr lang="en-US" sz="920" dirty="0">
                <a:solidFill>
                  <a:srgbClr val="334155"/>
                </a:solidFill>
                <a:latin typeface="Arial" pitchFamily="34" charset="0"/>
                <a:ea typeface="Arial" pitchFamily="34" charset="-122"/>
                <a:cs typeface="Arial" pitchFamily="34" charset="-120"/>
              </a:rPr>
              <a:t>Suffer from catastrophic arithmetic hallucinations, ungrounded scoring, and lack banking compliance security.</a:t>
            </a:r>
            <a:endParaRPr lang="en-US" sz="920" dirty="0"/>
          </a:p>
        </p:txBody>
      </p:sp>
      <p:sp>
        <p:nvSpPr>
          <p:cNvPr id="20" name="Shape 18"/>
          <p:cNvSpPr/>
          <p:nvPr/>
        </p:nvSpPr>
        <p:spPr>
          <a:xfrm>
            <a:off x="1005840" y="5486400"/>
            <a:ext cx="4663440" cy="868680"/>
          </a:xfrm>
          <a:prstGeom prst="roundRect">
            <a:avLst>
              <a:gd name="adj" fmla="val 6316"/>
            </a:avLst>
          </a:prstGeom>
          <a:solidFill>
            <a:srgbClr val="FFFFFF"/>
          </a:solidFill>
          <a:ln w="12700">
            <a:solidFill>
              <a:srgbClr val="E2E8F0"/>
            </a:solidFill>
            <a:prstDash val="solid"/>
          </a:ln>
        </p:spPr>
        <p:txBody>
          <a:bodyPr/>
          <a:lstStyle/>
          <a:p>
            <a:endParaRPr lang="en-IN"/>
          </a:p>
        </p:txBody>
      </p:sp>
      <p:sp>
        <p:nvSpPr>
          <p:cNvPr id="21" name="Text 19"/>
          <p:cNvSpPr/>
          <p:nvPr/>
        </p:nvSpPr>
        <p:spPr>
          <a:xfrm>
            <a:off x="1143000" y="5559552"/>
            <a:ext cx="4389120" cy="256032"/>
          </a:xfrm>
          <a:prstGeom prst="rect">
            <a:avLst/>
          </a:prstGeom>
          <a:noFill/>
          <a:ln/>
        </p:spPr>
        <p:txBody>
          <a:bodyPr wrap="square" rtlCol="0" anchor="ctr"/>
          <a:lstStyle/>
          <a:p>
            <a:pPr marL="0" indent="0">
              <a:buNone/>
            </a:pPr>
            <a:r>
              <a:rPr lang="en-US" sz="1050" b="1" dirty="0">
                <a:solidFill>
                  <a:srgbClr val="15803D"/>
                </a:solidFill>
                <a:latin typeface="Arial" pitchFamily="34" charset="0"/>
                <a:ea typeface="Arial" pitchFamily="34" charset="-122"/>
                <a:cs typeface="Arial" pitchFamily="34" charset="-120"/>
              </a:rPr>
              <a:t>EnverAI Artificer Citadel:</a:t>
            </a:r>
            <a:endParaRPr lang="en-US" sz="1050" dirty="0"/>
          </a:p>
        </p:txBody>
      </p:sp>
      <p:sp>
        <p:nvSpPr>
          <p:cNvPr id="22" name="Text 20"/>
          <p:cNvSpPr/>
          <p:nvPr/>
        </p:nvSpPr>
        <p:spPr>
          <a:xfrm>
            <a:off x="1143000" y="5815584"/>
            <a:ext cx="4389120" cy="475488"/>
          </a:xfrm>
          <a:prstGeom prst="rect">
            <a:avLst/>
          </a:prstGeom>
          <a:noFill/>
          <a:ln/>
        </p:spPr>
        <p:txBody>
          <a:bodyPr wrap="square" rtlCol="0" anchor="ctr"/>
          <a:lstStyle/>
          <a:p>
            <a:pPr marL="0" indent="0">
              <a:lnSpc>
                <a:spcPts val="1300"/>
              </a:lnSpc>
              <a:buNone/>
            </a:pPr>
            <a:r>
              <a:rPr lang="en-US" sz="920" dirty="0">
                <a:solidFill>
                  <a:srgbClr val="334155"/>
                </a:solidFill>
                <a:latin typeface="Arial" pitchFamily="34" charset="0"/>
                <a:ea typeface="Arial" pitchFamily="34" charset="-122"/>
                <a:cs typeface="Arial" pitchFamily="34" charset="-120"/>
              </a:rPr>
              <a:t>Combines high-speed agentic parsing, deterministic ratio math, NeMo guardrails, and line-item evidence citations in &lt; 155s.</a:t>
            </a:r>
            <a:endParaRPr lang="en-US" sz="920" dirty="0"/>
          </a:p>
        </p:txBody>
      </p:sp>
      <p:sp>
        <p:nvSpPr>
          <p:cNvPr id="23" name="Shape 21"/>
          <p:cNvSpPr/>
          <p:nvPr/>
        </p:nvSpPr>
        <p:spPr>
          <a:xfrm>
            <a:off x="6248095" y="1371600"/>
            <a:ext cx="5212080" cy="5120640"/>
          </a:xfrm>
          <a:prstGeom prst="roundRect">
            <a:avLst>
              <a:gd name="adj" fmla="val 2143"/>
            </a:avLst>
          </a:prstGeom>
          <a:solidFill>
            <a:srgbClr val="F8FAFC"/>
          </a:solidFill>
          <a:ln w="15240">
            <a:solidFill>
              <a:srgbClr val="E2E8F0"/>
            </a:solidFill>
            <a:prstDash val="solid"/>
          </a:ln>
        </p:spPr>
        <p:txBody>
          <a:bodyPr/>
          <a:lstStyle/>
          <a:p>
            <a:endParaRPr lang="en-IN"/>
          </a:p>
        </p:txBody>
      </p:sp>
      <p:sp>
        <p:nvSpPr>
          <p:cNvPr id="24" name="Shape 22"/>
          <p:cNvSpPr/>
          <p:nvPr/>
        </p:nvSpPr>
        <p:spPr>
          <a:xfrm>
            <a:off x="6522415" y="1554480"/>
            <a:ext cx="4663440" cy="347472"/>
          </a:xfrm>
          <a:prstGeom prst="roundRect">
            <a:avLst>
              <a:gd name="adj" fmla="val 15789"/>
            </a:avLst>
          </a:prstGeom>
          <a:solidFill>
            <a:srgbClr val="F0FDF4"/>
          </a:solidFill>
          <a:ln w="12700">
            <a:solidFill>
              <a:srgbClr val="E2E8F0"/>
            </a:solidFill>
            <a:prstDash val="solid"/>
          </a:ln>
        </p:spPr>
        <p:txBody>
          <a:bodyPr/>
          <a:lstStyle/>
          <a:p>
            <a:endParaRPr lang="en-IN"/>
          </a:p>
        </p:txBody>
      </p:sp>
      <p:sp>
        <p:nvSpPr>
          <p:cNvPr id="25" name="Text 23"/>
          <p:cNvSpPr/>
          <p:nvPr/>
        </p:nvSpPr>
        <p:spPr>
          <a:xfrm>
            <a:off x="6613855" y="1554480"/>
            <a:ext cx="4480560" cy="347472"/>
          </a:xfrm>
          <a:prstGeom prst="rect">
            <a:avLst/>
          </a:prstGeom>
          <a:noFill/>
          <a:ln/>
        </p:spPr>
        <p:txBody>
          <a:bodyPr wrap="square" rtlCol="0" anchor="ctr"/>
          <a:lstStyle/>
          <a:p>
            <a:pPr marL="0" indent="0">
              <a:buNone/>
            </a:pPr>
            <a:r>
              <a:rPr lang="en-US" sz="920" b="1" dirty="0">
                <a:solidFill>
                  <a:srgbClr val="15803D"/>
                </a:solidFill>
                <a:latin typeface="Arial" pitchFamily="34" charset="0"/>
                <a:ea typeface="Arial" pitchFamily="34" charset="-122"/>
                <a:cs typeface="Arial" pitchFamily="34" charset="-120"/>
              </a:rPr>
              <a:t>2. IF A FOUNDATION MODEL SHIPS THIS TOMORROW, WHY DO WE WIN?</a:t>
            </a:r>
            <a:endParaRPr lang="en-US" sz="920" dirty="0"/>
          </a:p>
        </p:txBody>
      </p:sp>
      <p:sp>
        <p:nvSpPr>
          <p:cNvPr id="26" name="Text 24"/>
          <p:cNvSpPr/>
          <p:nvPr/>
        </p:nvSpPr>
        <p:spPr>
          <a:xfrm>
            <a:off x="6522415" y="2011680"/>
            <a:ext cx="4663440" cy="502920"/>
          </a:xfrm>
          <a:prstGeom prst="rect">
            <a:avLst/>
          </a:prstGeom>
          <a:noFill/>
          <a:ln/>
        </p:spPr>
        <p:txBody>
          <a:bodyPr wrap="square" rtlCol="0" anchor="ctr"/>
          <a:lstStyle/>
          <a:p>
            <a:pPr marL="0" indent="0">
              <a:buNone/>
            </a:pPr>
            <a:r>
              <a:rPr lang="en-US" sz="1450" b="1" dirty="0">
                <a:solidFill>
                  <a:srgbClr val="0F172A"/>
                </a:solidFill>
                <a:latin typeface="Arial" pitchFamily="34" charset="0"/>
                <a:ea typeface="Arial" pitchFamily="34" charset="-122"/>
                <a:cs typeface="Arial" pitchFamily="34" charset="-120"/>
              </a:rPr>
              <a:t>India Stack Moat, Decoupled Math &amp; Institutional Trust</a:t>
            </a:r>
            <a:endParaRPr lang="en-US" sz="1450" dirty="0"/>
          </a:p>
        </p:txBody>
      </p:sp>
      <p:sp>
        <p:nvSpPr>
          <p:cNvPr id="27" name="Text 25"/>
          <p:cNvSpPr/>
          <p:nvPr/>
        </p:nvSpPr>
        <p:spPr>
          <a:xfrm>
            <a:off x="6522415" y="2560320"/>
            <a:ext cx="4663440" cy="3749040"/>
          </a:xfrm>
          <a:prstGeom prst="rect">
            <a:avLst/>
          </a:prstGeom>
          <a:noFill/>
          <a:ln/>
        </p:spPr>
        <p:txBody>
          <a:bodyPr wrap="square" rtlCol="0" anchor="ctr"/>
          <a:lstStyle/>
          <a:p>
            <a:pPr marL="0" indent="0">
              <a:lnSpc>
                <a:spcPts val="1500"/>
              </a:lnSpc>
              <a:buNone/>
            </a:pPr>
            <a:r>
              <a:rPr lang="en-US" sz="1000" b="1" dirty="0">
                <a:solidFill>
                  <a:srgbClr val="15803D"/>
                </a:solidFill>
                <a:latin typeface="Arial" pitchFamily="34" charset="0"/>
                <a:ea typeface="Arial" pitchFamily="34" charset="-122"/>
                <a:cs typeface="Arial" pitchFamily="34" charset="-120"/>
              </a:rPr>
              <a:t>Four Defensibility Moats Against Foundation Models:
</a:t>
            </a:r>
            <a:r>
              <a:rPr lang="en-US" sz="1000" b="1" dirty="0">
                <a:solidFill>
                  <a:srgbClr val="0F172A"/>
                </a:solidFill>
                <a:latin typeface="Arial" pitchFamily="34" charset="0"/>
                <a:ea typeface="Arial" pitchFamily="34" charset="-122"/>
                <a:cs typeface="Arial" pitchFamily="34" charset="-120"/>
              </a:rPr>
              <a:t>1. India Stack &amp; Regulatory Domain Moat: </a:t>
            </a:r>
            <a:r>
              <a:rPr lang="en-US" sz="1000" dirty="0">
                <a:solidFill>
                  <a:srgbClr val="334155"/>
                </a:solidFill>
                <a:latin typeface="Arial" pitchFamily="34" charset="0"/>
                <a:ea typeface="Arial" pitchFamily="34" charset="-122"/>
                <a:cs typeface="Arial" pitchFamily="34" charset="-120"/>
              </a:rPr>
              <a:t>General LLMs do not understand RBI Fair Lending mandates, Account Aggregator consent flows, or Indian tax nuances (GSTR-1 vs 3B turnover reconciliation).
</a:t>
            </a:r>
            <a:r>
              <a:rPr lang="en-US" sz="1000" b="1" dirty="0">
                <a:solidFill>
                  <a:srgbClr val="0F172A"/>
                </a:solidFill>
                <a:latin typeface="Arial" pitchFamily="34" charset="0"/>
                <a:ea typeface="Arial" pitchFamily="34" charset="-122"/>
                <a:cs typeface="Arial" pitchFamily="34" charset="-120"/>
              </a:rPr>
              <a:t>2. Decoupled Persona Architecture: </a:t>
            </a:r>
            <a:r>
              <a:rPr lang="en-US" sz="1000" dirty="0">
                <a:solidFill>
                  <a:srgbClr val="334155"/>
                </a:solidFill>
                <a:latin typeface="Arial" pitchFamily="34" charset="0"/>
                <a:ea typeface="Arial" pitchFamily="34" charset="-122"/>
                <a:cs typeface="Arial" pitchFamily="34" charset="-120"/>
              </a:rPr>
              <a:t>A single LLM prompt fails on high-density financial arithmetic. We decouple ingestion (Fetcha), deterministic math (Geek), and synthesis (Orc).
</a:t>
            </a:r>
            <a:r>
              <a:rPr lang="en-US" sz="1000" b="1" dirty="0">
                <a:solidFill>
                  <a:srgbClr val="0F172A"/>
                </a:solidFill>
                <a:latin typeface="Arial" pitchFamily="34" charset="0"/>
                <a:ea typeface="Arial" pitchFamily="34" charset="-122"/>
                <a:cs typeface="Arial" pitchFamily="34" charset="-120"/>
              </a:rPr>
              <a:t>3. Enterprise Security Citadel: </a:t>
            </a:r>
            <a:r>
              <a:rPr lang="en-US" sz="1000" dirty="0">
                <a:solidFill>
                  <a:srgbClr val="334155"/>
                </a:solidFill>
                <a:latin typeface="Arial" pitchFamily="34" charset="0"/>
                <a:ea typeface="Arial" pitchFamily="34" charset="-122"/>
                <a:cs typeface="Arial" pitchFamily="34" charset="-120"/>
              </a:rPr>
              <a:t>Turnkey enterprise governance: Google SSO domain locks, Citadel password walls, 5-minute silent sentinels, and Slack SecOps alerts.
</a:t>
            </a:r>
            <a:r>
              <a:rPr lang="en-US" sz="1000" b="1" dirty="0">
                <a:solidFill>
                  <a:srgbClr val="0F172A"/>
                </a:solidFill>
                <a:latin typeface="Arial" pitchFamily="34" charset="0"/>
                <a:ea typeface="Arial" pitchFamily="34" charset="-122"/>
                <a:cs typeface="Arial" pitchFamily="34" charset="-120"/>
              </a:rPr>
              <a:t>4. Fine-Tuned Domain Data Flywheel: </a:t>
            </a:r>
            <a:r>
              <a:rPr lang="en-US" sz="1000" dirty="0">
                <a:solidFill>
                  <a:srgbClr val="334155"/>
                </a:solidFill>
                <a:latin typeface="Arial" pitchFamily="34" charset="0"/>
                <a:ea typeface="Arial" pitchFamily="34" charset="-122"/>
                <a:cs typeface="Arial" pitchFamily="34" charset="-120"/>
              </a:rPr>
              <a:t>Continually tuned on Indian MSME transactional ledgers and loan default correlation benchmarks.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92608"/>
            <a:ext cx="4114800" cy="320040"/>
          </a:xfrm>
          <a:prstGeom prst="rect">
            <a:avLst/>
          </a:prstGeom>
          <a:noFill/>
          <a:ln/>
        </p:spPr>
        <p:txBody>
          <a:bodyPr wrap="square" rtlCol="0" anchor="ctr"/>
          <a:lstStyle/>
          <a:p>
            <a:pPr marL="0" indent="0">
              <a:buNone/>
            </a:pPr>
            <a:r>
              <a:rPr lang="en-US" sz="1300" b="1" dirty="0">
                <a:solidFill>
                  <a:srgbClr val="1E293B"/>
                </a:solidFill>
                <a:latin typeface="Arial" pitchFamily="34" charset="0"/>
                <a:ea typeface="Arial" pitchFamily="34" charset="-122"/>
                <a:cs typeface="Arial" pitchFamily="34" charset="-120"/>
              </a:rPr>
              <a:t>BITSoM vertex  |  H2S</a:t>
            </a:r>
            <a:endParaRPr lang="en-US" sz="1300" dirty="0"/>
          </a:p>
        </p:txBody>
      </p:sp>
      <p:sp>
        <p:nvSpPr>
          <p:cNvPr id="3" name="Text 1"/>
          <p:cNvSpPr/>
          <p:nvPr/>
        </p:nvSpPr>
        <p:spPr>
          <a:xfrm>
            <a:off x="6858000" y="292608"/>
            <a:ext cx="4572000" cy="320040"/>
          </a:xfrm>
          <a:prstGeom prst="rect">
            <a:avLst/>
          </a:prstGeom>
          <a:noFill/>
          <a:ln/>
        </p:spPr>
        <p:txBody>
          <a:bodyPr wrap="square" rtlCol="0" anchor="ctr"/>
          <a:lstStyle/>
          <a:p>
            <a:pPr marL="0" indent="0" algn="r">
              <a:buNone/>
            </a:pPr>
            <a:r>
              <a:rPr lang="en-US" sz="1300" b="1" dirty="0">
                <a:solidFill>
                  <a:srgbClr val="F05A28"/>
                </a:solidFill>
                <a:latin typeface="Arial" pitchFamily="34" charset="0"/>
                <a:ea typeface="Arial" pitchFamily="34" charset="-122"/>
                <a:cs typeface="Arial" pitchFamily="34" charset="-120"/>
              </a:rPr>
              <a:t>Builders Pitch Fest 2026</a:t>
            </a:r>
            <a:endParaRPr lang="en-US" sz="1300" dirty="0"/>
          </a:p>
        </p:txBody>
      </p:sp>
      <p:sp>
        <p:nvSpPr>
          <p:cNvPr id="4" name="Shape 2"/>
          <p:cNvSpPr/>
          <p:nvPr/>
        </p:nvSpPr>
        <p:spPr>
          <a:xfrm>
            <a:off x="731520" y="658368"/>
            <a:ext cx="10728655" cy="0"/>
          </a:xfrm>
          <a:prstGeom prst="line">
            <a:avLst/>
          </a:prstGeom>
          <a:noFill/>
          <a:ln w="12700">
            <a:solidFill>
              <a:srgbClr val="E2E8F0"/>
            </a:solidFill>
            <a:prstDash val="solid"/>
          </a:ln>
        </p:spPr>
        <p:txBody>
          <a:bodyPr/>
          <a:lstStyle/>
          <a:p>
            <a:endParaRPr lang="en-IN"/>
          </a:p>
        </p:txBody>
      </p:sp>
      <p:sp>
        <p:nvSpPr>
          <p:cNvPr id="5" name="Text 3"/>
          <p:cNvSpPr/>
          <p:nvPr/>
        </p:nvSpPr>
        <p:spPr>
          <a:xfrm>
            <a:off x="731520" y="777240"/>
            <a:ext cx="10728655" cy="502920"/>
          </a:xfrm>
          <a:prstGeom prst="rect">
            <a:avLst/>
          </a:prstGeom>
          <a:noFill/>
          <a:ln/>
        </p:spPr>
        <p:txBody>
          <a:bodyPr wrap="square" rtlCol="0" anchor="ctr"/>
          <a:lstStyle/>
          <a:p>
            <a:pPr marL="0" indent="0">
              <a:buNone/>
            </a:pPr>
            <a:r>
              <a:rPr lang="en-US" sz="2200" b="1" dirty="0">
                <a:solidFill>
                  <a:srgbClr val="0F172A"/>
                </a:solidFill>
                <a:latin typeface="Arial" pitchFamily="34" charset="0"/>
                <a:ea typeface="Arial" pitchFamily="34" charset="-122"/>
                <a:cs typeface="Arial" pitchFamily="34" charset="-120"/>
              </a:rPr>
              <a:t>Vision &amp; Roadmap</a:t>
            </a:r>
            <a:endParaRPr lang="en-US" sz="2200" dirty="0"/>
          </a:p>
        </p:txBody>
      </p:sp>
      <p:sp>
        <p:nvSpPr>
          <p:cNvPr id="6" name="Shape 4"/>
          <p:cNvSpPr/>
          <p:nvPr/>
        </p:nvSpPr>
        <p:spPr>
          <a:xfrm>
            <a:off x="0" y="6748272"/>
            <a:ext cx="12191695" cy="109728"/>
          </a:xfrm>
          <a:prstGeom prst="rect">
            <a:avLst/>
          </a:prstGeom>
          <a:solidFill>
            <a:srgbClr val="F05A28"/>
          </a:solidFill>
          <a:ln w="12700">
            <a:solidFill>
              <a:srgbClr val="F05A28"/>
            </a:solidFill>
            <a:prstDash val="solid"/>
          </a:ln>
        </p:spPr>
        <p:txBody>
          <a:bodyPr/>
          <a:lstStyle/>
          <a:p>
            <a:endParaRPr lang="en-IN"/>
          </a:p>
        </p:txBody>
      </p:sp>
      <p:sp>
        <p:nvSpPr>
          <p:cNvPr id="7" name="Shape 5"/>
          <p:cNvSpPr/>
          <p:nvPr/>
        </p:nvSpPr>
        <p:spPr>
          <a:xfrm>
            <a:off x="731520" y="1371600"/>
            <a:ext cx="5212080" cy="5120640"/>
          </a:xfrm>
          <a:prstGeom prst="roundRect">
            <a:avLst>
              <a:gd name="adj" fmla="val 2143"/>
            </a:avLst>
          </a:prstGeom>
          <a:solidFill>
            <a:srgbClr val="F8FAFC"/>
          </a:solidFill>
          <a:ln w="15240">
            <a:solidFill>
              <a:srgbClr val="E2E8F0"/>
            </a:solidFill>
            <a:prstDash val="solid"/>
          </a:ln>
        </p:spPr>
        <p:txBody>
          <a:bodyPr/>
          <a:lstStyle/>
          <a:p>
            <a:endParaRPr lang="en-IN"/>
          </a:p>
        </p:txBody>
      </p:sp>
      <p:sp>
        <p:nvSpPr>
          <p:cNvPr id="8" name="Shape 6"/>
          <p:cNvSpPr/>
          <p:nvPr/>
        </p:nvSpPr>
        <p:spPr>
          <a:xfrm>
            <a:off x="1005840" y="1554480"/>
            <a:ext cx="4663440" cy="347472"/>
          </a:xfrm>
          <a:prstGeom prst="roundRect">
            <a:avLst>
              <a:gd name="adj" fmla="val 15789"/>
            </a:avLst>
          </a:prstGeom>
          <a:solidFill>
            <a:srgbClr val="FFF7ED"/>
          </a:solidFill>
          <a:ln w="12700">
            <a:solidFill>
              <a:srgbClr val="FDBA74"/>
            </a:solidFill>
            <a:prstDash val="solid"/>
          </a:ln>
        </p:spPr>
        <p:txBody>
          <a:bodyPr/>
          <a:lstStyle/>
          <a:p>
            <a:endParaRPr lang="en-IN"/>
          </a:p>
        </p:txBody>
      </p:sp>
      <p:sp>
        <p:nvSpPr>
          <p:cNvPr id="9" name="Text 7"/>
          <p:cNvSpPr/>
          <p:nvPr/>
        </p:nvSpPr>
        <p:spPr>
          <a:xfrm>
            <a:off x="1097280" y="1554480"/>
            <a:ext cx="4480560" cy="347472"/>
          </a:xfrm>
          <a:prstGeom prst="rect">
            <a:avLst/>
          </a:prstGeom>
          <a:noFill/>
          <a:ln/>
        </p:spPr>
        <p:txBody>
          <a:bodyPr wrap="square" rtlCol="0" anchor="ctr"/>
          <a:lstStyle/>
          <a:p>
            <a:pPr marL="0" indent="0">
              <a:buNone/>
            </a:pPr>
            <a:r>
              <a:rPr lang="en-US" sz="950" b="1" dirty="0">
                <a:solidFill>
                  <a:srgbClr val="C2410C"/>
                </a:solidFill>
                <a:latin typeface="Arial" pitchFamily="34" charset="0"/>
                <a:ea typeface="Arial" pitchFamily="34" charset="-122"/>
                <a:cs typeface="Arial" pitchFamily="34" charset="-120"/>
              </a:rPr>
              <a:t>1. WHAT ARE YOUR NEXT MAJOR PRODUCT &amp; BUSINESS MILESTONES?</a:t>
            </a:r>
            <a:endParaRPr lang="en-US" sz="950" dirty="0"/>
          </a:p>
        </p:txBody>
      </p:sp>
      <p:sp>
        <p:nvSpPr>
          <p:cNvPr id="10" name="Text 8"/>
          <p:cNvSpPr/>
          <p:nvPr/>
        </p:nvSpPr>
        <p:spPr>
          <a:xfrm>
            <a:off x="1005840" y="2011680"/>
            <a:ext cx="4663440" cy="502920"/>
          </a:xfrm>
          <a:prstGeom prst="rect">
            <a:avLst/>
          </a:prstGeom>
          <a:noFill/>
          <a:ln/>
        </p:spPr>
        <p:txBody>
          <a:bodyPr wrap="square" rtlCol="0" anchor="ctr"/>
          <a:lstStyle/>
          <a:p>
            <a:pPr marL="0" indent="0">
              <a:buNone/>
            </a:pPr>
            <a:r>
              <a:rPr lang="en-US" sz="1500" b="1" dirty="0">
                <a:solidFill>
                  <a:srgbClr val="0F172A"/>
                </a:solidFill>
                <a:latin typeface="Arial" pitchFamily="34" charset="0"/>
                <a:ea typeface="Arial" pitchFamily="34" charset="-122"/>
                <a:cs typeface="Arial" pitchFamily="34" charset="-120"/>
              </a:rPr>
              <a:t>12-Month Institutional Scaling Trajectory</a:t>
            </a:r>
            <a:endParaRPr lang="en-US" sz="1500" dirty="0"/>
          </a:p>
        </p:txBody>
      </p:sp>
      <p:sp>
        <p:nvSpPr>
          <p:cNvPr id="11" name="Shape 9"/>
          <p:cNvSpPr/>
          <p:nvPr/>
        </p:nvSpPr>
        <p:spPr>
          <a:xfrm>
            <a:off x="1005840" y="2606040"/>
            <a:ext cx="4663440" cy="1143000"/>
          </a:xfrm>
          <a:prstGeom prst="roundRect">
            <a:avLst>
              <a:gd name="adj" fmla="val 6400"/>
            </a:avLst>
          </a:prstGeom>
          <a:solidFill>
            <a:srgbClr val="FFFFFF"/>
          </a:solidFill>
          <a:ln w="12700">
            <a:solidFill>
              <a:srgbClr val="E2E8F0"/>
            </a:solidFill>
            <a:prstDash val="solid"/>
          </a:ln>
        </p:spPr>
        <p:txBody>
          <a:bodyPr/>
          <a:lstStyle/>
          <a:p>
            <a:endParaRPr lang="en-IN"/>
          </a:p>
        </p:txBody>
      </p:sp>
      <p:sp>
        <p:nvSpPr>
          <p:cNvPr id="12" name="Text 10"/>
          <p:cNvSpPr/>
          <p:nvPr/>
        </p:nvSpPr>
        <p:spPr>
          <a:xfrm>
            <a:off x="1143000" y="2697480"/>
            <a:ext cx="4389120" cy="274320"/>
          </a:xfrm>
          <a:prstGeom prst="rect">
            <a:avLst/>
          </a:prstGeom>
          <a:noFill/>
          <a:ln/>
        </p:spPr>
        <p:txBody>
          <a:bodyPr wrap="square" rtlCol="0" anchor="ctr"/>
          <a:lstStyle/>
          <a:p>
            <a:pPr marL="0" indent="0">
              <a:buNone/>
            </a:pPr>
            <a:r>
              <a:rPr lang="en-US" sz="1100" b="1" dirty="0">
                <a:solidFill>
                  <a:srgbClr val="C2410C"/>
                </a:solidFill>
                <a:latin typeface="Arial" pitchFamily="34" charset="0"/>
                <a:ea typeface="Arial" pitchFamily="34" charset="-122"/>
                <a:cs typeface="Arial" pitchFamily="34" charset="-120"/>
              </a:rPr>
              <a:t>Q3 2026: Production Certification &amp; AA Integration</a:t>
            </a:r>
            <a:endParaRPr lang="en-US" sz="1100" dirty="0"/>
          </a:p>
        </p:txBody>
      </p:sp>
      <p:sp>
        <p:nvSpPr>
          <p:cNvPr id="13" name="Text 11"/>
          <p:cNvSpPr/>
          <p:nvPr/>
        </p:nvSpPr>
        <p:spPr>
          <a:xfrm>
            <a:off x="1143000" y="2990088"/>
            <a:ext cx="4389120" cy="685800"/>
          </a:xfrm>
          <a:prstGeom prst="rect">
            <a:avLst/>
          </a:prstGeom>
          <a:noFill/>
          <a:ln/>
        </p:spPr>
        <p:txBody>
          <a:bodyPr wrap="square" rtlCol="0" anchor="ctr"/>
          <a:lstStyle/>
          <a:p>
            <a:pPr marL="0" indent="0">
              <a:lnSpc>
                <a:spcPts val="1400"/>
              </a:lnSpc>
              <a:buNone/>
            </a:pPr>
            <a:r>
              <a:rPr lang="en-US" sz="950" dirty="0">
                <a:solidFill>
                  <a:srgbClr val="334155"/>
                </a:solidFill>
                <a:latin typeface="Arial" pitchFamily="34" charset="0"/>
                <a:ea typeface="Arial" pitchFamily="34" charset="-122"/>
                <a:cs typeface="Arial" pitchFamily="34" charset="-120"/>
              </a:rPr>
              <a:t>• Direct SDK integration with Sahamati Account Aggregators (Setu, Anumati, Finvu).</a:t>
            </a:r>
            <a:endParaRPr lang="en-US" sz="950" dirty="0"/>
          </a:p>
          <a:p>
            <a:pPr marL="0" indent="0">
              <a:lnSpc>
                <a:spcPts val="1400"/>
              </a:lnSpc>
              <a:buNone/>
            </a:pPr>
            <a:r>
              <a:rPr lang="en-US" sz="950" dirty="0">
                <a:solidFill>
                  <a:srgbClr val="334155"/>
                </a:solidFill>
                <a:latin typeface="Arial" pitchFamily="34" charset="0"/>
                <a:ea typeface="Arial" pitchFamily="34" charset="-122"/>
                <a:cs typeface="Arial" pitchFamily="34" charset="-120"/>
              </a:rPr>
              <a:t>• Complete SOC2 Type II and ISO 27001 banking security audits.</a:t>
            </a:r>
            <a:endParaRPr lang="en-US" sz="950" dirty="0"/>
          </a:p>
        </p:txBody>
      </p:sp>
      <p:sp>
        <p:nvSpPr>
          <p:cNvPr id="14" name="Shape 12"/>
          <p:cNvSpPr/>
          <p:nvPr/>
        </p:nvSpPr>
        <p:spPr>
          <a:xfrm>
            <a:off x="1005840" y="3840480"/>
            <a:ext cx="4663440" cy="1143000"/>
          </a:xfrm>
          <a:prstGeom prst="roundRect">
            <a:avLst>
              <a:gd name="adj" fmla="val 6400"/>
            </a:avLst>
          </a:prstGeom>
          <a:solidFill>
            <a:srgbClr val="FFFFFF"/>
          </a:solidFill>
          <a:ln w="12700">
            <a:solidFill>
              <a:srgbClr val="E2E8F0"/>
            </a:solidFill>
            <a:prstDash val="solid"/>
          </a:ln>
        </p:spPr>
        <p:txBody>
          <a:bodyPr/>
          <a:lstStyle/>
          <a:p>
            <a:endParaRPr lang="en-IN"/>
          </a:p>
        </p:txBody>
      </p:sp>
      <p:sp>
        <p:nvSpPr>
          <p:cNvPr id="15" name="Text 13"/>
          <p:cNvSpPr/>
          <p:nvPr/>
        </p:nvSpPr>
        <p:spPr>
          <a:xfrm>
            <a:off x="1143000" y="3931920"/>
            <a:ext cx="4389120" cy="274320"/>
          </a:xfrm>
          <a:prstGeom prst="rect">
            <a:avLst/>
          </a:prstGeom>
          <a:noFill/>
          <a:ln/>
        </p:spPr>
        <p:txBody>
          <a:bodyPr wrap="square" rtlCol="0" anchor="ctr"/>
          <a:lstStyle/>
          <a:p>
            <a:pPr marL="0" indent="0">
              <a:buNone/>
            </a:pPr>
            <a:r>
              <a:rPr lang="en-US" sz="1100" b="1" dirty="0">
                <a:solidFill>
                  <a:srgbClr val="1E40AF"/>
                </a:solidFill>
                <a:latin typeface="Arial" pitchFamily="34" charset="0"/>
                <a:ea typeface="Arial" pitchFamily="34" charset="-122"/>
                <a:cs typeface="Arial" pitchFamily="34" charset="-120"/>
              </a:rPr>
              <a:t>Q4 2026: Institutional Pilot Deployments</a:t>
            </a:r>
            <a:endParaRPr lang="en-US" sz="1100" dirty="0"/>
          </a:p>
        </p:txBody>
      </p:sp>
      <p:sp>
        <p:nvSpPr>
          <p:cNvPr id="16" name="Text 14"/>
          <p:cNvSpPr/>
          <p:nvPr/>
        </p:nvSpPr>
        <p:spPr>
          <a:xfrm>
            <a:off x="1143000" y="4224528"/>
            <a:ext cx="4389120" cy="685800"/>
          </a:xfrm>
          <a:prstGeom prst="rect">
            <a:avLst/>
          </a:prstGeom>
          <a:noFill/>
          <a:ln/>
        </p:spPr>
        <p:txBody>
          <a:bodyPr wrap="square" rtlCol="0" anchor="ctr"/>
          <a:lstStyle/>
          <a:p>
            <a:pPr marL="0" indent="0">
              <a:lnSpc>
                <a:spcPts val="1400"/>
              </a:lnSpc>
              <a:buNone/>
            </a:pPr>
            <a:r>
              <a:rPr lang="en-US" sz="950" dirty="0">
                <a:solidFill>
                  <a:srgbClr val="334155"/>
                </a:solidFill>
                <a:latin typeface="Arial" pitchFamily="34" charset="0"/>
                <a:ea typeface="Arial" pitchFamily="34" charset="-122"/>
                <a:cs typeface="Arial" pitchFamily="34" charset="-120"/>
              </a:rPr>
              <a:t>• Launch paid shadow-underwriting pilots with 3 Small Finance Banks (SFBs) &amp; NBFCs.</a:t>
            </a:r>
            <a:endParaRPr lang="en-US" sz="950" dirty="0"/>
          </a:p>
          <a:p>
            <a:pPr marL="0" indent="0">
              <a:lnSpc>
                <a:spcPts val="1400"/>
              </a:lnSpc>
              <a:buNone/>
            </a:pPr>
            <a:r>
              <a:rPr lang="en-US" sz="950" dirty="0">
                <a:solidFill>
                  <a:srgbClr val="334155"/>
                </a:solidFill>
                <a:latin typeface="Arial" pitchFamily="34" charset="0"/>
                <a:ea typeface="Arial" pitchFamily="34" charset="-122"/>
                <a:cs typeface="Arial" pitchFamily="34" charset="-120"/>
              </a:rPr>
              <a:t>• Evaluate 50,000 live NTC loan files in parallel with human underwriters.</a:t>
            </a:r>
            <a:endParaRPr lang="en-US" sz="950" dirty="0"/>
          </a:p>
        </p:txBody>
      </p:sp>
      <p:sp>
        <p:nvSpPr>
          <p:cNvPr id="17" name="Shape 15"/>
          <p:cNvSpPr/>
          <p:nvPr/>
        </p:nvSpPr>
        <p:spPr>
          <a:xfrm>
            <a:off x="1005840" y="5074920"/>
            <a:ext cx="4663440" cy="1143000"/>
          </a:xfrm>
          <a:prstGeom prst="roundRect">
            <a:avLst>
              <a:gd name="adj" fmla="val 6400"/>
            </a:avLst>
          </a:prstGeom>
          <a:solidFill>
            <a:srgbClr val="FFFFFF"/>
          </a:solidFill>
          <a:ln w="12700">
            <a:solidFill>
              <a:srgbClr val="E2E8F0"/>
            </a:solidFill>
            <a:prstDash val="solid"/>
          </a:ln>
        </p:spPr>
        <p:txBody>
          <a:bodyPr/>
          <a:lstStyle/>
          <a:p>
            <a:endParaRPr lang="en-IN"/>
          </a:p>
        </p:txBody>
      </p:sp>
      <p:sp>
        <p:nvSpPr>
          <p:cNvPr id="18" name="Text 16"/>
          <p:cNvSpPr/>
          <p:nvPr/>
        </p:nvSpPr>
        <p:spPr>
          <a:xfrm>
            <a:off x="1143000" y="5166360"/>
            <a:ext cx="4389120" cy="274320"/>
          </a:xfrm>
          <a:prstGeom prst="rect">
            <a:avLst/>
          </a:prstGeom>
          <a:noFill/>
          <a:ln/>
        </p:spPr>
        <p:txBody>
          <a:bodyPr wrap="square" rtlCol="0" anchor="ctr"/>
          <a:lstStyle/>
          <a:p>
            <a:pPr marL="0" indent="0">
              <a:buNone/>
            </a:pPr>
            <a:r>
              <a:rPr lang="en-US" sz="1100" b="1" dirty="0">
                <a:solidFill>
                  <a:srgbClr val="15803D"/>
                </a:solidFill>
                <a:latin typeface="Arial" pitchFamily="34" charset="0"/>
                <a:ea typeface="Arial" pitchFamily="34" charset="-122"/>
                <a:cs typeface="Arial" pitchFamily="34" charset="-120"/>
              </a:rPr>
              <a:t>Q1-Q2 2027: Ecosystem Expansion (OCEN &amp; ULI)</a:t>
            </a:r>
            <a:endParaRPr lang="en-US" sz="1100" dirty="0"/>
          </a:p>
        </p:txBody>
      </p:sp>
      <p:sp>
        <p:nvSpPr>
          <p:cNvPr id="19" name="Text 17"/>
          <p:cNvSpPr/>
          <p:nvPr/>
        </p:nvSpPr>
        <p:spPr>
          <a:xfrm>
            <a:off x="1143000" y="5458968"/>
            <a:ext cx="4389120" cy="685800"/>
          </a:xfrm>
          <a:prstGeom prst="rect">
            <a:avLst/>
          </a:prstGeom>
          <a:noFill/>
          <a:ln/>
        </p:spPr>
        <p:txBody>
          <a:bodyPr wrap="square" rtlCol="0" anchor="ctr"/>
          <a:lstStyle/>
          <a:p>
            <a:pPr marL="0" indent="0">
              <a:lnSpc>
                <a:spcPts val="1400"/>
              </a:lnSpc>
              <a:buNone/>
            </a:pPr>
            <a:r>
              <a:rPr lang="en-US" sz="950" dirty="0">
                <a:solidFill>
                  <a:srgbClr val="334155"/>
                </a:solidFill>
                <a:latin typeface="Arial" pitchFamily="34" charset="0"/>
                <a:ea typeface="Arial" pitchFamily="34" charset="-122"/>
                <a:cs typeface="Arial" pitchFamily="34" charset="-120"/>
              </a:rPr>
              <a:t>• Release real-time pre-underwriting API for RBI Unified Lending Interface (ULI) and OCEN 4.0.</a:t>
            </a:r>
            <a:endParaRPr lang="en-US" sz="950" dirty="0"/>
          </a:p>
          <a:p>
            <a:pPr marL="0" indent="0">
              <a:lnSpc>
                <a:spcPts val="1400"/>
              </a:lnSpc>
              <a:buNone/>
            </a:pPr>
            <a:r>
              <a:rPr lang="en-US" sz="950" dirty="0">
                <a:solidFill>
                  <a:srgbClr val="334155"/>
                </a:solidFill>
                <a:latin typeface="Arial" pitchFamily="34" charset="0"/>
                <a:ea typeface="Arial" pitchFamily="34" charset="-122"/>
                <a:cs typeface="Arial" pitchFamily="34" charset="-120"/>
              </a:rPr>
              <a:t>• Deploy automated post-disbursal early-warning covenant tracking.</a:t>
            </a:r>
            <a:endParaRPr lang="en-US" sz="950" dirty="0"/>
          </a:p>
        </p:txBody>
      </p:sp>
      <p:sp>
        <p:nvSpPr>
          <p:cNvPr id="20" name="Shape 18"/>
          <p:cNvSpPr/>
          <p:nvPr/>
        </p:nvSpPr>
        <p:spPr>
          <a:xfrm>
            <a:off x="6248095" y="1371600"/>
            <a:ext cx="5212080" cy="5120640"/>
          </a:xfrm>
          <a:prstGeom prst="roundRect">
            <a:avLst>
              <a:gd name="adj" fmla="val 2143"/>
            </a:avLst>
          </a:prstGeom>
          <a:solidFill>
            <a:srgbClr val="F8FAFC"/>
          </a:solidFill>
          <a:ln w="15240">
            <a:solidFill>
              <a:srgbClr val="E2E8F0"/>
            </a:solidFill>
            <a:prstDash val="solid"/>
          </a:ln>
        </p:spPr>
        <p:txBody>
          <a:bodyPr/>
          <a:lstStyle/>
          <a:p>
            <a:endParaRPr lang="en-IN"/>
          </a:p>
        </p:txBody>
      </p:sp>
      <p:sp>
        <p:nvSpPr>
          <p:cNvPr id="21" name="Shape 19"/>
          <p:cNvSpPr/>
          <p:nvPr/>
        </p:nvSpPr>
        <p:spPr>
          <a:xfrm>
            <a:off x="6522415" y="1554480"/>
            <a:ext cx="4663440" cy="347472"/>
          </a:xfrm>
          <a:prstGeom prst="roundRect">
            <a:avLst>
              <a:gd name="adj" fmla="val 15789"/>
            </a:avLst>
          </a:prstGeom>
          <a:solidFill>
            <a:srgbClr val="F0FDF4"/>
          </a:solidFill>
          <a:ln w="12700">
            <a:solidFill>
              <a:srgbClr val="E2E8F0"/>
            </a:solidFill>
            <a:prstDash val="solid"/>
          </a:ln>
        </p:spPr>
        <p:txBody>
          <a:bodyPr/>
          <a:lstStyle/>
          <a:p>
            <a:endParaRPr lang="en-IN"/>
          </a:p>
        </p:txBody>
      </p:sp>
      <p:sp>
        <p:nvSpPr>
          <p:cNvPr id="22" name="Text 20"/>
          <p:cNvSpPr/>
          <p:nvPr/>
        </p:nvSpPr>
        <p:spPr>
          <a:xfrm>
            <a:off x="6613855" y="1554480"/>
            <a:ext cx="4480560" cy="347472"/>
          </a:xfrm>
          <a:prstGeom prst="rect">
            <a:avLst/>
          </a:prstGeom>
          <a:noFill/>
          <a:ln/>
        </p:spPr>
        <p:txBody>
          <a:bodyPr wrap="square" rtlCol="0" anchor="ctr"/>
          <a:lstStyle/>
          <a:p>
            <a:pPr marL="0" indent="0">
              <a:buNone/>
            </a:pPr>
            <a:r>
              <a:rPr lang="en-US" sz="1050" b="1" dirty="0">
                <a:solidFill>
                  <a:srgbClr val="15803D"/>
                </a:solidFill>
                <a:latin typeface="Arial" pitchFamily="34" charset="0"/>
                <a:ea typeface="Arial" pitchFamily="34" charset="-122"/>
                <a:cs typeface="Arial" pitchFamily="34" charset="-120"/>
              </a:rPr>
              <a:t>2. WHAT IS YOUR LONG-TERM VISION FOR THE STARTUP?</a:t>
            </a:r>
            <a:endParaRPr lang="en-US" sz="1050" dirty="0"/>
          </a:p>
        </p:txBody>
      </p:sp>
      <p:sp>
        <p:nvSpPr>
          <p:cNvPr id="23" name="Text 21"/>
          <p:cNvSpPr/>
          <p:nvPr/>
        </p:nvSpPr>
        <p:spPr>
          <a:xfrm>
            <a:off x="6522415" y="2011680"/>
            <a:ext cx="4663440" cy="502920"/>
          </a:xfrm>
          <a:prstGeom prst="rect">
            <a:avLst/>
          </a:prstGeom>
          <a:noFill/>
          <a:ln/>
        </p:spPr>
        <p:txBody>
          <a:bodyPr wrap="square" rtlCol="0" anchor="ctr"/>
          <a:lstStyle/>
          <a:p>
            <a:pPr marL="0" indent="0">
              <a:buNone/>
            </a:pPr>
            <a:r>
              <a:rPr lang="en-US" sz="1500" b="1" dirty="0">
                <a:solidFill>
                  <a:srgbClr val="0F172A"/>
                </a:solidFill>
                <a:latin typeface="Arial" pitchFamily="34" charset="0"/>
                <a:ea typeface="Arial" pitchFamily="34" charset="-122"/>
                <a:cs typeface="Arial" pitchFamily="34" charset="-120"/>
              </a:rPr>
              <a:t>The Autonomous Credit Operating System for Emerging Markets</a:t>
            </a:r>
            <a:endParaRPr lang="en-US" sz="1500" dirty="0"/>
          </a:p>
        </p:txBody>
      </p:sp>
      <p:sp>
        <p:nvSpPr>
          <p:cNvPr id="24" name="Text 22"/>
          <p:cNvSpPr/>
          <p:nvPr/>
        </p:nvSpPr>
        <p:spPr>
          <a:xfrm>
            <a:off x="6522415" y="2606040"/>
            <a:ext cx="4663440" cy="3657600"/>
          </a:xfrm>
          <a:prstGeom prst="rect">
            <a:avLst/>
          </a:prstGeom>
          <a:noFill/>
          <a:ln/>
        </p:spPr>
        <p:txBody>
          <a:bodyPr wrap="square" rtlCol="0" anchor="ctr"/>
          <a:lstStyle/>
          <a:p>
            <a:pPr marL="0" indent="0">
              <a:lnSpc>
                <a:spcPts val="1600"/>
              </a:lnSpc>
              <a:buNone/>
            </a:pPr>
            <a:r>
              <a:rPr lang="en-US" sz="1050" b="1" dirty="0">
                <a:solidFill>
                  <a:srgbClr val="0F172A"/>
                </a:solidFill>
                <a:latin typeface="Arial" pitchFamily="34" charset="0"/>
                <a:ea typeface="Arial" pitchFamily="34" charset="-122"/>
                <a:cs typeface="Arial" pitchFamily="34" charset="-120"/>
              </a:rPr>
              <a:t>• Global Emerging Markets Expansion: </a:t>
            </a:r>
            <a:r>
              <a:rPr lang="en-US" sz="1050" dirty="0">
                <a:solidFill>
                  <a:srgbClr val="334155"/>
                </a:solidFill>
                <a:latin typeface="Arial" pitchFamily="34" charset="0"/>
                <a:ea typeface="Arial" pitchFamily="34" charset="-122"/>
                <a:cs typeface="Arial" pitchFamily="34" charset="-120"/>
              </a:rPr>
              <a:t>Scale Artificer's alternate-data underwriting engine across Southeast Asia, Middle East, and Latin America where MSME credit deficits exceed $1.5 Trillion.
</a:t>
            </a:r>
            <a:r>
              <a:rPr lang="en-US" sz="1050" b="1" dirty="0">
                <a:solidFill>
                  <a:srgbClr val="0F172A"/>
                </a:solidFill>
                <a:latin typeface="Arial" pitchFamily="34" charset="0"/>
                <a:ea typeface="Arial" pitchFamily="34" charset="-122"/>
                <a:cs typeface="Arial" pitchFamily="34" charset="-120"/>
              </a:rPr>
              <a:t>• Democratizing $100 Billion+ in Inclusive Capital: </a:t>
            </a:r>
            <a:r>
              <a:rPr lang="en-US" sz="1050" dirty="0">
                <a:solidFill>
                  <a:srgbClr val="334155"/>
                </a:solidFill>
                <a:latin typeface="Arial" pitchFamily="34" charset="0"/>
                <a:ea typeface="Arial" pitchFamily="34" charset="-122"/>
                <a:cs typeface="Arial" pitchFamily="34" charset="-120"/>
              </a:rPr>
              <a:t>Eliminate collateral requirements for creditworthy small businesses, enabling 100 million micro-merchants to access formal credit at fair interest rates.
</a:t>
            </a:r>
            <a:r>
              <a:rPr lang="en-US" sz="1050" b="1" dirty="0">
                <a:solidFill>
                  <a:srgbClr val="0F172A"/>
                </a:solidFill>
                <a:latin typeface="Arial" pitchFamily="34" charset="0"/>
                <a:ea typeface="Arial" pitchFamily="34" charset="-122"/>
                <a:cs typeface="Arial" pitchFamily="34" charset="-120"/>
              </a:rPr>
              <a:t>• Ubiquitous Financial Risk Infrastructure: </a:t>
            </a:r>
            <a:r>
              <a:rPr lang="en-US" sz="1050" dirty="0">
                <a:solidFill>
                  <a:srgbClr val="334155"/>
                </a:solidFill>
                <a:latin typeface="Arial" pitchFamily="34" charset="0"/>
                <a:ea typeface="Arial" pitchFamily="34" charset="-122"/>
                <a:cs typeface="Arial" pitchFamily="34" charset="-120"/>
              </a:rPr>
              <a:t>Expand the EnverAI Agent OS from origination underwriting into automated loan servicing, dynamic credit line adjustments, and real-time fraud mitigation.</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92608"/>
            <a:ext cx="4114800" cy="320040"/>
          </a:xfrm>
          <a:prstGeom prst="rect">
            <a:avLst/>
          </a:prstGeom>
          <a:noFill/>
          <a:ln/>
        </p:spPr>
        <p:txBody>
          <a:bodyPr wrap="square" rtlCol="0" anchor="ctr"/>
          <a:lstStyle/>
          <a:p>
            <a:pPr marL="0" indent="0">
              <a:buNone/>
            </a:pPr>
            <a:r>
              <a:rPr lang="en-US" sz="1300" b="1" dirty="0">
                <a:solidFill>
                  <a:srgbClr val="1E293B"/>
                </a:solidFill>
                <a:latin typeface="Arial" pitchFamily="34" charset="0"/>
                <a:ea typeface="Arial" pitchFamily="34" charset="-122"/>
                <a:cs typeface="Arial" pitchFamily="34" charset="-120"/>
              </a:rPr>
              <a:t>BITSoM vertex  |  H2S</a:t>
            </a:r>
            <a:endParaRPr lang="en-US" sz="1300" dirty="0"/>
          </a:p>
        </p:txBody>
      </p:sp>
      <p:sp>
        <p:nvSpPr>
          <p:cNvPr id="3" name="Text 1"/>
          <p:cNvSpPr/>
          <p:nvPr/>
        </p:nvSpPr>
        <p:spPr>
          <a:xfrm>
            <a:off x="6858000" y="292608"/>
            <a:ext cx="4572000" cy="320040"/>
          </a:xfrm>
          <a:prstGeom prst="rect">
            <a:avLst/>
          </a:prstGeom>
          <a:noFill/>
          <a:ln/>
        </p:spPr>
        <p:txBody>
          <a:bodyPr wrap="square" rtlCol="0" anchor="ctr"/>
          <a:lstStyle/>
          <a:p>
            <a:pPr marL="0" indent="0" algn="r">
              <a:buNone/>
            </a:pPr>
            <a:r>
              <a:rPr lang="en-US" sz="1300" b="1" dirty="0">
                <a:solidFill>
                  <a:srgbClr val="F05A28"/>
                </a:solidFill>
                <a:latin typeface="Arial" pitchFamily="34" charset="0"/>
                <a:ea typeface="Arial" pitchFamily="34" charset="-122"/>
                <a:cs typeface="Arial" pitchFamily="34" charset="-120"/>
              </a:rPr>
              <a:t>Builders Pitch Fest 2026</a:t>
            </a:r>
            <a:endParaRPr lang="en-US" sz="1300" dirty="0"/>
          </a:p>
        </p:txBody>
      </p:sp>
      <p:sp>
        <p:nvSpPr>
          <p:cNvPr id="4" name="Shape 2"/>
          <p:cNvSpPr/>
          <p:nvPr/>
        </p:nvSpPr>
        <p:spPr>
          <a:xfrm>
            <a:off x="731520" y="658368"/>
            <a:ext cx="10728655" cy="0"/>
          </a:xfrm>
          <a:prstGeom prst="line">
            <a:avLst/>
          </a:prstGeom>
          <a:noFill/>
          <a:ln w="12700">
            <a:solidFill>
              <a:srgbClr val="E2E8F0"/>
            </a:solidFill>
            <a:prstDash val="solid"/>
          </a:ln>
        </p:spPr>
        <p:txBody>
          <a:bodyPr/>
          <a:lstStyle/>
          <a:p>
            <a:endParaRPr lang="en-IN"/>
          </a:p>
        </p:txBody>
      </p:sp>
      <p:sp>
        <p:nvSpPr>
          <p:cNvPr id="5" name="Text 3"/>
          <p:cNvSpPr/>
          <p:nvPr/>
        </p:nvSpPr>
        <p:spPr>
          <a:xfrm>
            <a:off x="731520" y="777240"/>
            <a:ext cx="10728655" cy="502920"/>
          </a:xfrm>
          <a:prstGeom prst="rect">
            <a:avLst/>
          </a:prstGeom>
          <a:noFill/>
          <a:ln/>
        </p:spPr>
        <p:txBody>
          <a:bodyPr wrap="square" rtlCol="0" anchor="ctr"/>
          <a:lstStyle/>
          <a:p>
            <a:pPr marL="0" indent="0">
              <a:buNone/>
            </a:pPr>
            <a:r>
              <a:rPr lang="en-US" sz="2200" b="1" dirty="0">
                <a:solidFill>
                  <a:srgbClr val="0F172A"/>
                </a:solidFill>
                <a:latin typeface="Arial" pitchFamily="34" charset="0"/>
                <a:ea typeface="Arial" pitchFamily="34" charset="-122"/>
                <a:cs typeface="Arial" pitchFamily="34" charset="-120"/>
              </a:rPr>
              <a:t>Team</a:t>
            </a:r>
            <a:endParaRPr lang="en-US" sz="2200" dirty="0"/>
          </a:p>
        </p:txBody>
      </p:sp>
      <p:sp>
        <p:nvSpPr>
          <p:cNvPr id="6" name="Shape 4"/>
          <p:cNvSpPr/>
          <p:nvPr/>
        </p:nvSpPr>
        <p:spPr>
          <a:xfrm>
            <a:off x="0" y="6748272"/>
            <a:ext cx="12191695" cy="109728"/>
          </a:xfrm>
          <a:prstGeom prst="rect">
            <a:avLst/>
          </a:prstGeom>
          <a:solidFill>
            <a:srgbClr val="F05A28"/>
          </a:solidFill>
          <a:ln w="12700">
            <a:solidFill>
              <a:srgbClr val="F05A28"/>
            </a:solidFill>
            <a:prstDash val="solid"/>
          </a:ln>
        </p:spPr>
        <p:txBody>
          <a:bodyPr/>
          <a:lstStyle/>
          <a:p>
            <a:endParaRPr lang="en-IN"/>
          </a:p>
        </p:txBody>
      </p:sp>
      <p:sp>
        <p:nvSpPr>
          <p:cNvPr id="7" name="Shape 5"/>
          <p:cNvSpPr/>
          <p:nvPr/>
        </p:nvSpPr>
        <p:spPr>
          <a:xfrm>
            <a:off x="731520" y="1371600"/>
            <a:ext cx="5212080" cy="5120640"/>
          </a:xfrm>
          <a:prstGeom prst="roundRect">
            <a:avLst>
              <a:gd name="adj" fmla="val 2143"/>
            </a:avLst>
          </a:prstGeom>
          <a:solidFill>
            <a:srgbClr val="F8FAFC"/>
          </a:solidFill>
          <a:ln w="15240">
            <a:solidFill>
              <a:srgbClr val="E2E8F0"/>
            </a:solidFill>
            <a:prstDash val="solid"/>
          </a:ln>
        </p:spPr>
        <p:txBody>
          <a:bodyPr/>
          <a:lstStyle/>
          <a:p>
            <a:endParaRPr lang="en-IN"/>
          </a:p>
        </p:txBody>
      </p:sp>
      <p:sp>
        <p:nvSpPr>
          <p:cNvPr id="8" name="Shape 6"/>
          <p:cNvSpPr/>
          <p:nvPr/>
        </p:nvSpPr>
        <p:spPr>
          <a:xfrm>
            <a:off x="1005840" y="1554480"/>
            <a:ext cx="4663440" cy="347472"/>
          </a:xfrm>
          <a:prstGeom prst="roundRect">
            <a:avLst>
              <a:gd name="adj" fmla="val 15789"/>
            </a:avLst>
          </a:prstGeom>
          <a:solidFill>
            <a:srgbClr val="FFF7ED"/>
          </a:solidFill>
          <a:ln w="12700">
            <a:solidFill>
              <a:srgbClr val="FDBA74"/>
            </a:solidFill>
            <a:prstDash val="solid"/>
          </a:ln>
        </p:spPr>
        <p:txBody>
          <a:bodyPr/>
          <a:lstStyle/>
          <a:p>
            <a:endParaRPr lang="en-IN"/>
          </a:p>
        </p:txBody>
      </p:sp>
      <p:sp>
        <p:nvSpPr>
          <p:cNvPr id="9" name="Text 7"/>
          <p:cNvSpPr/>
          <p:nvPr/>
        </p:nvSpPr>
        <p:spPr>
          <a:xfrm>
            <a:off x="1097280" y="1554480"/>
            <a:ext cx="4480560" cy="347472"/>
          </a:xfrm>
          <a:prstGeom prst="rect">
            <a:avLst/>
          </a:prstGeom>
          <a:noFill/>
          <a:ln/>
        </p:spPr>
        <p:txBody>
          <a:bodyPr wrap="square" rtlCol="0" anchor="ctr"/>
          <a:lstStyle/>
          <a:p>
            <a:pPr marL="0" indent="0">
              <a:buNone/>
            </a:pPr>
            <a:r>
              <a:rPr lang="en-US" sz="950" b="1" dirty="0">
                <a:solidFill>
                  <a:srgbClr val="C2410C"/>
                </a:solidFill>
                <a:latin typeface="Arial" pitchFamily="34" charset="0"/>
                <a:ea typeface="Arial" pitchFamily="34" charset="-122"/>
                <a:cs typeface="Arial" pitchFamily="34" charset="-120"/>
              </a:rPr>
              <a:t>1. WHY IS YOUR TEAM UNIQUELY POSITIONED TO SOLVE THIS?</a:t>
            </a:r>
            <a:endParaRPr lang="en-US" sz="950" dirty="0"/>
          </a:p>
        </p:txBody>
      </p:sp>
      <p:sp>
        <p:nvSpPr>
          <p:cNvPr id="10" name="Text 8"/>
          <p:cNvSpPr/>
          <p:nvPr/>
        </p:nvSpPr>
        <p:spPr>
          <a:xfrm>
            <a:off x="1005840" y="2011680"/>
            <a:ext cx="4663440" cy="502920"/>
          </a:xfrm>
          <a:prstGeom prst="rect">
            <a:avLst/>
          </a:prstGeom>
          <a:noFill/>
          <a:ln/>
        </p:spPr>
        <p:txBody>
          <a:bodyPr wrap="square" rtlCol="0" anchor="ctr"/>
          <a:lstStyle/>
          <a:p>
            <a:pPr marL="0" indent="0">
              <a:buNone/>
            </a:pPr>
            <a:r>
              <a:rPr lang="en-US" sz="1450" b="1" dirty="0">
                <a:solidFill>
                  <a:srgbClr val="0F172A"/>
                </a:solidFill>
                <a:latin typeface="Arial" pitchFamily="34" charset="0"/>
                <a:ea typeface="Arial" pitchFamily="34" charset="-122"/>
                <a:cs typeface="Arial" pitchFamily="34" charset="-120"/>
              </a:rPr>
              <a:t>Rare Intersection of FinTech, Multi-Agent AI &amp; System Rigor</a:t>
            </a:r>
            <a:endParaRPr lang="en-US" sz="1450" dirty="0"/>
          </a:p>
        </p:txBody>
      </p:sp>
      <p:sp>
        <p:nvSpPr>
          <p:cNvPr id="11" name="Text 9"/>
          <p:cNvSpPr/>
          <p:nvPr/>
        </p:nvSpPr>
        <p:spPr>
          <a:xfrm>
            <a:off x="1005840" y="2560320"/>
            <a:ext cx="4663440" cy="3749040"/>
          </a:xfrm>
          <a:prstGeom prst="rect">
            <a:avLst/>
          </a:prstGeom>
          <a:noFill/>
          <a:ln/>
        </p:spPr>
        <p:txBody>
          <a:bodyPr wrap="square" rtlCol="0" anchor="ctr"/>
          <a:lstStyle/>
          <a:p>
            <a:pPr marL="0" indent="0">
              <a:lnSpc>
                <a:spcPts val="1500"/>
              </a:lnSpc>
              <a:buNone/>
            </a:pPr>
            <a:r>
              <a:rPr lang="en-US" sz="1020" b="1" dirty="0">
                <a:solidFill>
                  <a:srgbClr val="0F172A"/>
                </a:solidFill>
                <a:latin typeface="Arial" pitchFamily="34" charset="0"/>
                <a:ea typeface="Arial" pitchFamily="34" charset="-122"/>
                <a:cs typeface="Arial" pitchFamily="34" charset="-120"/>
              </a:rPr>
              <a:t>• Proven Execution Velocity: </a:t>
            </a:r>
            <a:r>
              <a:rPr lang="en-US" sz="1020" dirty="0">
                <a:solidFill>
                  <a:srgbClr val="334155"/>
                </a:solidFill>
                <a:latin typeface="Arial" pitchFamily="34" charset="0"/>
                <a:ea typeface="Arial" pitchFamily="34" charset="-122"/>
                <a:cs typeface="Arial" pitchFamily="34" charset="-120"/>
              </a:rPr>
              <a:t>Designed, engineered, benchmarked, and deployed a production-grade multi-agent underwriting platform in record time, validated on 1,000+ real-world financial records.
</a:t>
            </a:r>
            <a:r>
              <a:rPr lang="en-US" sz="1020" b="1" dirty="0">
                <a:solidFill>
                  <a:srgbClr val="0F172A"/>
                </a:solidFill>
                <a:latin typeface="Arial" pitchFamily="34" charset="0"/>
                <a:ea typeface="Arial" pitchFamily="34" charset="-122"/>
                <a:cs typeface="Arial" pitchFamily="34" charset="-120"/>
              </a:rPr>
              <a:t>• Obsession with Explainable AI &amp; Zero Hallucinations: </a:t>
            </a:r>
            <a:r>
              <a:rPr lang="en-US" sz="1020" dirty="0">
                <a:solidFill>
                  <a:srgbClr val="334155"/>
                </a:solidFill>
                <a:latin typeface="Arial" pitchFamily="34" charset="0"/>
                <a:ea typeface="Arial" pitchFamily="34" charset="-122"/>
                <a:cs typeface="Arial" pitchFamily="34" charset="-120"/>
              </a:rPr>
              <a:t>Unlike teams building generic chatbots, we engineered isolated persona segregation and deterministic mathematical guardrails to satisfy stringent banking audit standards.
</a:t>
            </a:r>
            <a:r>
              <a:rPr lang="en-US" sz="1020" b="1" dirty="0">
                <a:solidFill>
                  <a:srgbClr val="0F172A"/>
                </a:solidFill>
                <a:latin typeface="Arial" pitchFamily="34" charset="0"/>
                <a:ea typeface="Arial" pitchFamily="34" charset="-122"/>
                <a:cs typeface="Arial" pitchFamily="34" charset="-120"/>
              </a:rPr>
              <a:t>• Deep Understanding of Credit Realities: </a:t>
            </a:r>
            <a:r>
              <a:rPr lang="en-US" sz="1020" dirty="0">
                <a:solidFill>
                  <a:srgbClr val="334155"/>
                </a:solidFill>
                <a:latin typeface="Arial" pitchFamily="34" charset="0"/>
                <a:ea typeface="Arial" pitchFamily="34" charset="-122"/>
                <a:cs typeface="Arial" pitchFamily="34" charset="-120"/>
              </a:rPr>
              <a:t>We understand that MSME lending isn't just about parsing text — it requires evaluating liquidity buffers, tax compliance regularities, and business resilience under macro stress.</a:t>
            </a:r>
            <a:endParaRPr lang="en-US" sz="1020" dirty="0"/>
          </a:p>
        </p:txBody>
      </p:sp>
      <p:sp>
        <p:nvSpPr>
          <p:cNvPr id="12" name="Shape 10"/>
          <p:cNvSpPr/>
          <p:nvPr/>
        </p:nvSpPr>
        <p:spPr>
          <a:xfrm>
            <a:off x="6248095" y="1371600"/>
            <a:ext cx="5212080" cy="5120640"/>
          </a:xfrm>
          <a:prstGeom prst="roundRect">
            <a:avLst>
              <a:gd name="adj" fmla="val 2143"/>
            </a:avLst>
          </a:prstGeom>
          <a:solidFill>
            <a:srgbClr val="F8FAFC"/>
          </a:solidFill>
          <a:ln w="15240">
            <a:solidFill>
              <a:srgbClr val="E2E8F0"/>
            </a:solidFill>
            <a:prstDash val="solid"/>
          </a:ln>
        </p:spPr>
        <p:txBody>
          <a:bodyPr/>
          <a:lstStyle/>
          <a:p>
            <a:endParaRPr lang="en-IN"/>
          </a:p>
        </p:txBody>
      </p:sp>
      <p:sp>
        <p:nvSpPr>
          <p:cNvPr id="13" name="Shape 11"/>
          <p:cNvSpPr/>
          <p:nvPr/>
        </p:nvSpPr>
        <p:spPr>
          <a:xfrm>
            <a:off x="6522415" y="1554480"/>
            <a:ext cx="4663440" cy="347472"/>
          </a:xfrm>
          <a:prstGeom prst="roundRect">
            <a:avLst>
              <a:gd name="adj" fmla="val 15789"/>
            </a:avLst>
          </a:prstGeom>
          <a:solidFill>
            <a:srgbClr val="F0FDF4"/>
          </a:solidFill>
          <a:ln w="12700">
            <a:solidFill>
              <a:srgbClr val="E2E8F0"/>
            </a:solidFill>
            <a:prstDash val="solid"/>
          </a:ln>
        </p:spPr>
        <p:txBody>
          <a:bodyPr/>
          <a:lstStyle/>
          <a:p>
            <a:endParaRPr lang="en-IN"/>
          </a:p>
        </p:txBody>
      </p:sp>
      <p:sp>
        <p:nvSpPr>
          <p:cNvPr id="14" name="Text 12"/>
          <p:cNvSpPr/>
          <p:nvPr/>
        </p:nvSpPr>
        <p:spPr>
          <a:xfrm>
            <a:off x="6613855" y="1554480"/>
            <a:ext cx="4480560" cy="347472"/>
          </a:xfrm>
          <a:prstGeom prst="rect">
            <a:avLst/>
          </a:prstGeom>
          <a:noFill/>
          <a:ln/>
        </p:spPr>
        <p:txBody>
          <a:bodyPr wrap="square" rtlCol="0" anchor="ctr"/>
          <a:lstStyle/>
          <a:p>
            <a:pPr marL="0" indent="0">
              <a:buNone/>
            </a:pPr>
            <a:r>
              <a:rPr lang="en-US" sz="920" b="1" dirty="0">
                <a:solidFill>
                  <a:srgbClr val="15803D"/>
                </a:solidFill>
                <a:latin typeface="Arial" pitchFamily="34" charset="0"/>
                <a:ea typeface="Arial" pitchFamily="34" charset="-122"/>
                <a:cs typeface="Arial" pitchFamily="34" charset="-120"/>
              </a:rPr>
              <a:t>2. WHAT DOMAIN &amp; TECHNICAL EXPERTISE DOES THE TEAM BRING?</a:t>
            </a:r>
            <a:endParaRPr lang="en-US" sz="920" dirty="0"/>
          </a:p>
        </p:txBody>
      </p:sp>
      <p:sp>
        <p:nvSpPr>
          <p:cNvPr id="15" name="Text 13"/>
          <p:cNvSpPr/>
          <p:nvPr/>
        </p:nvSpPr>
        <p:spPr>
          <a:xfrm>
            <a:off x="6522415" y="2011680"/>
            <a:ext cx="4663440" cy="502920"/>
          </a:xfrm>
          <a:prstGeom prst="rect">
            <a:avLst/>
          </a:prstGeom>
          <a:noFill/>
          <a:ln/>
        </p:spPr>
        <p:txBody>
          <a:bodyPr wrap="square" rtlCol="0" anchor="ctr"/>
          <a:lstStyle/>
          <a:p>
            <a:pPr marL="0" indent="0">
              <a:buNone/>
            </a:pPr>
            <a:r>
              <a:rPr lang="en-US" sz="1450" b="1" dirty="0">
                <a:solidFill>
                  <a:srgbClr val="0F172A"/>
                </a:solidFill>
                <a:latin typeface="Arial" pitchFamily="34" charset="0"/>
                <a:ea typeface="Arial" pitchFamily="34" charset="-122"/>
                <a:cs typeface="Arial" pitchFamily="34" charset="-120"/>
              </a:rPr>
              <a:t>Technical Depth Across Google Vertex AI &amp; Banking Tech</a:t>
            </a:r>
            <a:endParaRPr lang="en-US" sz="1450" dirty="0"/>
          </a:p>
        </p:txBody>
      </p:sp>
      <p:sp>
        <p:nvSpPr>
          <p:cNvPr id="16" name="Shape 14"/>
          <p:cNvSpPr/>
          <p:nvPr/>
        </p:nvSpPr>
        <p:spPr>
          <a:xfrm>
            <a:off x="6522415" y="2606040"/>
            <a:ext cx="4663440" cy="1143000"/>
          </a:xfrm>
          <a:prstGeom prst="roundRect">
            <a:avLst>
              <a:gd name="adj" fmla="val 6400"/>
            </a:avLst>
          </a:prstGeom>
          <a:solidFill>
            <a:srgbClr val="FFFFFF"/>
          </a:solidFill>
          <a:ln w="12700">
            <a:solidFill>
              <a:srgbClr val="E2E8F0"/>
            </a:solidFill>
            <a:prstDash val="solid"/>
          </a:ln>
        </p:spPr>
        <p:txBody>
          <a:bodyPr/>
          <a:lstStyle/>
          <a:p>
            <a:endParaRPr lang="en-IN"/>
          </a:p>
        </p:txBody>
      </p:sp>
      <p:sp>
        <p:nvSpPr>
          <p:cNvPr id="17" name="Text 15"/>
          <p:cNvSpPr/>
          <p:nvPr/>
        </p:nvSpPr>
        <p:spPr>
          <a:xfrm>
            <a:off x="6659575" y="2697480"/>
            <a:ext cx="4389120" cy="274320"/>
          </a:xfrm>
          <a:prstGeom prst="rect">
            <a:avLst/>
          </a:prstGeom>
          <a:noFill/>
          <a:ln/>
        </p:spPr>
        <p:txBody>
          <a:bodyPr wrap="square" rtlCol="0" anchor="ctr"/>
          <a:lstStyle/>
          <a:p>
            <a:pPr marL="0" indent="0">
              <a:buNone/>
            </a:pPr>
            <a:r>
              <a:rPr lang="en-US" sz="1100" b="1" dirty="0">
                <a:solidFill>
                  <a:srgbClr val="C2410C"/>
                </a:solidFill>
                <a:latin typeface="Arial" pitchFamily="34" charset="0"/>
                <a:ea typeface="Arial" pitchFamily="34" charset="-122"/>
                <a:cs typeface="Arial" pitchFamily="34" charset="-120"/>
              </a:rPr>
              <a:t>Multi-Agent AI &amp; LLM Engineering</a:t>
            </a:r>
            <a:endParaRPr lang="en-US" sz="1100" dirty="0"/>
          </a:p>
        </p:txBody>
      </p:sp>
      <p:sp>
        <p:nvSpPr>
          <p:cNvPr id="18" name="Text 16"/>
          <p:cNvSpPr/>
          <p:nvPr/>
        </p:nvSpPr>
        <p:spPr>
          <a:xfrm>
            <a:off x="6659575" y="2990088"/>
            <a:ext cx="4389120" cy="685800"/>
          </a:xfrm>
          <a:prstGeom prst="rect">
            <a:avLst/>
          </a:prstGeom>
          <a:noFill/>
          <a:ln/>
        </p:spPr>
        <p:txBody>
          <a:bodyPr wrap="square" rtlCol="0" anchor="ctr"/>
          <a:lstStyle/>
          <a:p>
            <a:pPr marL="0" indent="0">
              <a:lnSpc>
                <a:spcPts val="1400"/>
              </a:lnSpc>
              <a:buNone/>
            </a:pPr>
            <a:r>
              <a:rPr lang="en-US" sz="950" dirty="0">
                <a:solidFill>
                  <a:srgbClr val="334155"/>
                </a:solidFill>
                <a:latin typeface="Arial" pitchFamily="34" charset="0"/>
                <a:ea typeface="Arial" pitchFamily="34" charset="-122"/>
                <a:cs typeface="Arial" pitchFamily="34" charset="-120"/>
              </a:rPr>
              <a:t>Expertise in Google Gemini 2.5 Flash &amp; Pro, Vertex AI SDK, prompt isolation, NeMo guardrail implementations, and structured JSON output guarantees.</a:t>
            </a:r>
            <a:endParaRPr lang="en-US" sz="950" dirty="0"/>
          </a:p>
        </p:txBody>
      </p:sp>
      <p:sp>
        <p:nvSpPr>
          <p:cNvPr id="19" name="Shape 17"/>
          <p:cNvSpPr/>
          <p:nvPr/>
        </p:nvSpPr>
        <p:spPr>
          <a:xfrm>
            <a:off x="6522415" y="3840480"/>
            <a:ext cx="4663440" cy="1143000"/>
          </a:xfrm>
          <a:prstGeom prst="roundRect">
            <a:avLst>
              <a:gd name="adj" fmla="val 6400"/>
            </a:avLst>
          </a:prstGeom>
          <a:solidFill>
            <a:srgbClr val="FFFFFF"/>
          </a:solidFill>
          <a:ln w="12700">
            <a:solidFill>
              <a:srgbClr val="E2E8F0"/>
            </a:solidFill>
            <a:prstDash val="solid"/>
          </a:ln>
        </p:spPr>
        <p:txBody>
          <a:bodyPr/>
          <a:lstStyle/>
          <a:p>
            <a:endParaRPr lang="en-IN"/>
          </a:p>
        </p:txBody>
      </p:sp>
      <p:sp>
        <p:nvSpPr>
          <p:cNvPr id="20" name="Text 18"/>
          <p:cNvSpPr/>
          <p:nvPr/>
        </p:nvSpPr>
        <p:spPr>
          <a:xfrm>
            <a:off x="6659575" y="3931920"/>
            <a:ext cx="4389120" cy="274320"/>
          </a:xfrm>
          <a:prstGeom prst="rect">
            <a:avLst/>
          </a:prstGeom>
          <a:noFill/>
          <a:ln/>
        </p:spPr>
        <p:txBody>
          <a:bodyPr wrap="square" rtlCol="0" anchor="ctr"/>
          <a:lstStyle/>
          <a:p>
            <a:pPr marL="0" indent="0">
              <a:buNone/>
            </a:pPr>
            <a:r>
              <a:rPr lang="en-US" sz="1100" b="1" dirty="0">
                <a:solidFill>
                  <a:srgbClr val="1E40AF"/>
                </a:solidFill>
                <a:latin typeface="Arial" pitchFamily="34" charset="0"/>
                <a:ea typeface="Arial" pitchFamily="34" charset="-122"/>
                <a:cs typeface="Arial" pitchFamily="34" charset="-120"/>
              </a:rPr>
              <a:t>Full-Stack Enterprise Cloud Architecture</a:t>
            </a:r>
            <a:endParaRPr lang="en-US" sz="1100" dirty="0"/>
          </a:p>
        </p:txBody>
      </p:sp>
      <p:sp>
        <p:nvSpPr>
          <p:cNvPr id="21" name="Text 19"/>
          <p:cNvSpPr/>
          <p:nvPr/>
        </p:nvSpPr>
        <p:spPr>
          <a:xfrm>
            <a:off x="6659575" y="4224528"/>
            <a:ext cx="4389120" cy="685800"/>
          </a:xfrm>
          <a:prstGeom prst="rect">
            <a:avLst/>
          </a:prstGeom>
          <a:noFill/>
          <a:ln/>
        </p:spPr>
        <p:txBody>
          <a:bodyPr wrap="square" rtlCol="0" anchor="ctr"/>
          <a:lstStyle/>
          <a:p>
            <a:pPr marL="0" indent="0">
              <a:lnSpc>
                <a:spcPts val="1400"/>
              </a:lnSpc>
              <a:buNone/>
            </a:pPr>
            <a:r>
              <a:rPr lang="en-US" sz="950" dirty="0">
                <a:solidFill>
                  <a:srgbClr val="334155"/>
                </a:solidFill>
                <a:latin typeface="Arial" pitchFamily="34" charset="0"/>
                <a:ea typeface="Arial" pitchFamily="34" charset="-122"/>
                <a:cs typeface="Arial" pitchFamily="34" charset="-120"/>
              </a:rPr>
              <a:t>High-throughput Node.js/Express backends, React 19 frontends, Server-Sent Events (SSE) telemetry, Firebase, and enterprise Docker/VPC deployments.</a:t>
            </a:r>
            <a:endParaRPr lang="en-US" sz="950" dirty="0"/>
          </a:p>
        </p:txBody>
      </p:sp>
      <p:sp>
        <p:nvSpPr>
          <p:cNvPr id="22" name="Shape 20"/>
          <p:cNvSpPr/>
          <p:nvPr/>
        </p:nvSpPr>
        <p:spPr>
          <a:xfrm>
            <a:off x="6522415" y="5074920"/>
            <a:ext cx="4663440" cy="1143000"/>
          </a:xfrm>
          <a:prstGeom prst="roundRect">
            <a:avLst>
              <a:gd name="adj" fmla="val 6400"/>
            </a:avLst>
          </a:prstGeom>
          <a:solidFill>
            <a:srgbClr val="FFFFFF"/>
          </a:solidFill>
          <a:ln w="12700">
            <a:solidFill>
              <a:srgbClr val="E2E8F0"/>
            </a:solidFill>
            <a:prstDash val="solid"/>
          </a:ln>
        </p:spPr>
        <p:txBody>
          <a:bodyPr/>
          <a:lstStyle/>
          <a:p>
            <a:endParaRPr lang="en-IN"/>
          </a:p>
        </p:txBody>
      </p:sp>
      <p:sp>
        <p:nvSpPr>
          <p:cNvPr id="23" name="Text 21"/>
          <p:cNvSpPr/>
          <p:nvPr/>
        </p:nvSpPr>
        <p:spPr>
          <a:xfrm>
            <a:off x="6659575" y="5166360"/>
            <a:ext cx="4389120" cy="274320"/>
          </a:xfrm>
          <a:prstGeom prst="rect">
            <a:avLst/>
          </a:prstGeom>
          <a:noFill/>
          <a:ln/>
        </p:spPr>
        <p:txBody>
          <a:bodyPr wrap="square" rtlCol="0" anchor="ctr"/>
          <a:lstStyle/>
          <a:p>
            <a:pPr marL="0" indent="0">
              <a:buNone/>
            </a:pPr>
            <a:r>
              <a:rPr lang="en-US" sz="1100" b="1" dirty="0">
                <a:solidFill>
                  <a:srgbClr val="15803D"/>
                </a:solidFill>
                <a:latin typeface="Arial" pitchFamily="34" charset="0"/>
                <a:ea typeface="Arial" pitchFamily="34" charset="-122"/>
                <a:cs typeface="Arial" pitchFamily="34" charset="-120"/>
              </a:rPr>
              <a:t>Indian FinTech &amp; Regulatory Mastery</a:t>
            </a:r>
            <a:endParaRPr lang="en-US" sz="1100" dirty="0"/>
          </a:p>
        </p:txBody>
      </p:sp>
      <p:sp>
        <p:nvSpPr>
          <p:cNvPr id="24" name="Text 22"/>
          <p:cNvSpPr/>
          <p:nvPr/>
        </p:nvSpPr>
        <p:spPr>
          <a:xfrm>
            <a:off x="6659575" y="5458968"/>
            <a:ext cx="4389120" cy="685800"/>
          </a:xfrm>
          <a:prstGeom prst="rect">
            <a:avLst/>
          </a:prstGeom>
          <a:noFill/>
          <a:ln/>
        </p:spPr>
        <p:txBody>
          <a:bodyPr wrap="square" rtlCol="0" anchor="ctr"/>
          <a:lstStyle/>
          <a:p>
            <a:pPr marL="0" indent="0">
              <a:lnSpc>
                <a:spcPts val="1400"/>
              </a:lnSpc>
              <a:buNone/>
            </a:pPr>
            <a:r>
              <a:rPr lang="en-US" sz="950" dirty="0">
                <a:solidFill>
                  <a:srgbClr val="334155"/>
                </a:solidFill>
                <a:latin typeface="Arial" pitchFamily="34" charset="0"/>
                <a:ea typeface="Arial" pitchFamily="34" charset="-122"/>
                <a:cs typeface="Arial" pitchFamily="34" charset="-120"/>
              </a:rPr>
              <a:t>Comprehensive knowledge of RBI digital lending regulations, Account Aggregator consent models, GSTN schemas, and banking core integration.</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92608"/>
            <a:ext cx="4114800" cy="320040"/>
          </a:xfrm>
          <a:prstGeom prst="rect">
            <a:avLst/>
          </a:prstGeom>
          <a:noFill/>
          <a:ln/>
        </p:spPr>
        <p:txBody>
          <a:bodyPr wrap="square" rtlCol="0" anchor="ctr"/>
          <a:lstStyle/>
          <a:p>
            <a:pPr marL="0" indent="0">
              <a:buNone/>
            </a:pPr>
            <a:r>
              <a:rPr lang="en-US" sz="1300" b="1" dirty="0">
                <a:solidFill>
                  <a:srgbClr val="1E293B"/>
                </a:solidFill>
                <a:latin typeface="Arial" pitchFamily="34" charset="0"/>
                <a:ea typeface="Arial" pitchFamily="34" charset="-122"/>
                <a:cs typeface="Arial" pitchFamily="34" charset="-120"/>
              </a:rPr>
              <a:t>BITSoM vertex  |  H2S</a:t>
            </a:r>
            <a:endParaRPr lang="en-US" sz="1300" dirty="0"/>
          </a:p>
        </p:txBody>
      </p:sp>
      <p:sp>
        <p:nvSpPr>
          <p:cNvPr id="3" name="Text 1"/>
          <p:cNvSpPr/>
          <p:nvPr/>
        </p:nvSpPr>
        <p:spPr>
          <a:xfrm>
            <a:off x="6858000" y="292608"/>
            <a:ext cx="4572000" cy="320040"/>
          </a:xfrm>
          <a:prstGeom prst="rect">
            <a:avLst/>
          </a:prstGeom>
          <a:noFill/>
          <a:ln/>
        </p:spPr>
        <p:txBody>
          <a:bodyPr wrap="square" rtlCol="0" anchor="ctr"/>
          <a:lstStyle/>
          <a:p>
            <a:pPr marL="0" indent="0" algn="r">
              <a:buNone/>
            </a:pPr>
            <a:r>
              <a:rPr lang="en-US" sz="1300" b="1" dirty="0">
                <a:solidFill>
                  <a:srgbClr val="F05A28"/>
                </a:solidFill>
                <a:latin typeface="Arial" pitchFamily="34" charset="0"/>
                <a:ea typeface="Arial" pitchFamily="34" charset="-122"/>
                <a:cs typeface="Arial" pitchFamily="34" charset="-120"/>
              </a:rPr>
              <a:t>Builders Pitch Fest 2026</a:t>
            </a:r>
            <a:endParaRPr lang="en-US" sz="1300" dirty="0"/>
          </a:p>
        </p:txBody>
      </p:sp>
      <p:sp>
        <p:nvSpPr>
          <p:cNvPr id="4" name="Shape 2"/>
          <p:cNvSpPr/>
          <p:nvPr/>
        </p:nvSpPr>
        <p:spPr>
          <a:xfrm>
            <a:off x="731520" y="658368"/>
            <a:ext cx="10728655" cy="0"/>
          </a:xfrm>
          <a:prstGeom prst="line">
            <a:avLst/>
          </a:prstGeom>
          <a:noFill/>
          <a:ln w="12700">
            <a:solidFill>
              <a:srgbClr val="E2E8F0"/>
            </a:solidFill>
            <a:prstDash val="solid"/>
          </a:ln>
        </p:spPr>
        <p:txBody>
          <a:bodyPr/>
          <a:lstStyle/>
          <a:p>
            <a:endParaRPr lang="en-IN"/>
          </a:p>
        </p:txBody>
      </p:sp>
      <p:sp>
        <p:nvSpPr>
          <p:cNvPr id="5" name="Text 3"/>
          <p:cNvSpPr/>
          <p:nvPr/>
        </p:nvSpPr>
        <p:spPr>
          <a:xfrm>
            <a:off x="731520" y="777240"/>
            <a:ext cx="10728655" cy="502920"/>
          </a:xfrm>
          <a:prstGeom prst="rect">
            <a:avLst/>
          </a:prstGeom>
          <a:noFill/>
          <a:ln/>
        </p:spPr>
        <p:txBody>
          <a:bodyPr wrap="square" rtlCol="0" anchor="ctr"/>
          <a:lstStyle/>
          <a:p>
            <a:pPr marL="0" indent="0">
              <a:buNone/>
            </a:pPr>
            <a:r>
              <a:rPr lang="en-US" sz="2200" b="1" dirty="0">
                <a:solidFill>
                  <a:srgbClr val="0F172A"/>
                </a:solidFill>
                <a:latin typeface="Arial" pitchFamily="34" charset="0"/>
                <a:ea typeface="Arial" pitchFamily="34" charset="-122"/>
                <a:cs typeface="Arial" pitchFamily="34" charset="-120"/>
              </a:rPr>
              <a:t>Why BITSoM Vertex?</a:t>
            </a:r>
            <a:endParaRPr lang="en-US" sz="2200" dirty="0"/>
          </a:p>
        </p:txBody>
      </p:sp>
      <p:sp>
        <p:nvSpPr>
          <p:cNvPr id="6" name="Shape 4"/>
          <p:cNvSpPr/>
          <p:nvPr/>
        </p:nvSpPr>
        <p:spPr>
          <a:xfrm>
            <a:off x="0" y="6748272"/>
            <a:ext cx="12191695" cy="109728"/>
          </a:xfrm>
          <a:prstGeom prst="rect">
            <a:avLst/>
          </a:prstGeom>
          <a:solidFill>
            <a:srgbClr val="F05A28"/>
          </a:solidFill>
          <a:ln w="12700">
            <a:solidFill>
              <a:srgbClr val="F05A28"/>
            </a:solidFill>
            <a:prstDash val="solid"/>
          </a:ln>
        </p:spPr>
        <p:txBody>
          <a:bodyPr/>
          <a:lstStyle/>
          <a:p>
            <a:endParaRPr lang="en-IN"/>
          </a:p>
        </p:txBody>
      </p:sp>
      <p:sp>
        <p:nvSpPr>
          <p:cNvPr id="7" name="Shape 5"/>
          <p:cNvSpPr/>
          <p:nvPr/>
        </p:nvSpPr>
        <p:spPr>
          <a:xfrm>
            <a:off x="731520" y="1371600"/>
            <a:ext cx="5212080" cy="5120640"/>
          </a:xfrm>
          <a:prstGeom prst="roundRect">
            <a:avLst>
              <a:gd name="adj" fmla="val 2143"/>
            </a:avLst>
          </a:prstGeom>
          <a:solidFill>
            <a:srgbClr val="F8FAFC"/>
          </a:solidFill>
          <a:ln w="15240">
            <a:solidFill>
              <a:srgbClr val="E2E8F0"/>
            </a:solidFill>
            <a:prstDash val="solid"/>
          </a:ln>
        </p:spPr>
        <p:txBody>
          <a:bodyPr/>
          <a:lstStyle/>
          <a:p>
            <a:endParaRPr lang="en-IN"/>
          </a:p>
        </p:txBody>
      </p:sp>
      <p:sp>
        <p:nvSpPr>
          <p:cNvPr id="8" name="Shape 6"/>
          <p:cNvSpPr/>
          <p:nvPr/>
        </p:nvSpPr>
        <p:spPr>
          <a:xfrm>
            <a:off x="1005840" y="1554480"/>
            <a:ext cx="4663440" cy="347472"/>
          </a:xfrm>
          <a:prstGeom prst="roundRect">
            <a:avLst>
              <a:gd name="adj" fmla="val 15789"/>
            </a:avLst>
          </a:prstGeom>
          <a:solidFill>
            <a:srgbClr val="FFF7ED"/>
          </a:solidFill>
          <a:ln w="12700">
            <a:solidFill>
              <a:srgbClr val="FDBA74"/>
            </a:solidFill>
            <a:prstDash val="solid"/>
          </a:ln>
        </p:spPr>
        <p:txBody>
          <a:bodyPr/>
          <a:lstStyle/>
          <a:p>
            <a:endParaRPr lang="en-IN"/>
          </a:p>
        </p:txBody>
      </p:sp>
      <p:sp>
        <p:nvSpPr>
          <p:cNvPr id="9" name="Text 7"/>
          <p:cNvSpPr/>
          <p:nvPr/>
        </p:nvSpPr>
        <p:spPr>
          <a:xfrm>
            <a:off x="1097280" y="1554480"/>
            <a:ext cx="4480560" cy="347472"/>
          </a:xfrm>
          <a:prstGeom prst="rect">
            <a:avLst/>
          </a:prstGeom>
          <a:noFill/>
          <a:ln/>
        </p:spPr>
        <p:txBody>
          <a:bodyPr wrap="square" rtlCol="0" anchor="ctr"/>
          <a:lstStyle/>
          <a:p>
            <a:pPr marL="0" indent="0">
              <a:buNone/>
            </a:pPr>
            <a:r>
              <a:rPr lang="en-US" sz="950" b="1" dirty="0">
                <a:solidFill>
                  <a:srgbClr val="C2410C"/>
                </a:solidFill>
                <a:latin typeface="Arial" pitchFamily="34" charset="0"/>
                <a:ea typeface="Arial" pitchFamily="34" charset="-122"/>
                <a:cs typeface="Arial" pitchFamily="34" charset="-120"/>
              </a:rPr>
              <a:t>1. WHY HAVE YOU APPLIED TO THE BITSOM VERTEX PROGRAMME?</a:t>
            </a:r>
            <a:endParaRPr lang="en-US" sz="950" dirty="0"/>
          </a:p>
        </p:txBody>
      </p:sp>
      <p:sp>
        <p:nvSpPr>
          <p:cNvPr id="10" name="Text 8"/>
          <p:cNvSpPr/>
          <p:nvPr/>
        </p:nvSpPr>
        <p:spPr>
          <a:xfrm>
            <a:off x="1005840" y="2011680"/>
            <a:ext cx="4663440" cy="502920"/>
          </a:xfrm>
          <a:prstGeom prst="rect">
            <a:avLst/>
          </a:prstGeom>
          <a:noFill/>
          <a:ln/>
        </p:spPr>
        <p:txBody>
          <a:bodyPr wrap="square" rtlCol="0" anchor="ctr"/>
          <a:lstStyle/>
          <a:p>
            <a:pPr marL="0" indent="0">
              <a:buNone/>
            </a:pPr>
            <a:r>
              <a:rPr lang="en-US" sz="1500" b="1" dirty="0">
                <a:solidFill>
                  <a:srgbClr val="0F172A"/>
                </a:solidFill>
                <a:latin typeface="Arial" pitchFamily="34" charset="0"/>
                <a:ea typeface="Arial" pitchFamily="34" charset="-122"/>
                <a:cs typeface="Arial" pitchFamily="34" charset="-120"/>
              </a:rPr>
              <a:t>Institutional Mentorship &amp; Banking Network</a:t>
            </a:r>
            <a:endParaRPr lang="en-US" sz="1500" dirty="0"/>
          </a:p>
        </p:txBody>
      </p:sp>
      <p:sp>
        <p:nvSpPr>
          <p:cNvPr id="11" name="Text 9"/>
          <p:cNvSpPr/>
          <p:nvPr/>
        </p:nvSpPr>
        <p:spPr>
          <a:xfrm>
            <a:off x="1005840" y="2560320"/>
            <a:ext cx="4663440" cy="3749040"/>
          </a:xfrm>
          <a:prstGeom prst="rect">
            <a:avLst/>
          </a:prstGeom>
          <a:noFill/>
          <a:ln/>
        </p:spPr>
        <p:txBody>
          <a:bodyPr wrap="square" rtlCol="0" anchor="ctr"/>
          <a:lstStyle/>
          <a:p>
            <a:pPr marL="0" indent="0">
              <a:lnSpc>
                <a:spcPts val="1500"/>
              </a:lnSpc>
              <a:buNone/>
            </a:pPr>
            <a:r>
              <a:rPr lang="en-US" sz="1000" b="1" dirty="0">
                <a:solidFill>
                  <a:srgbClr val="0F172A"/>
                </a:solidFill>
                <a:latin typeface="Arial" pitchFamily="34" charset="0"/>
                <a:ea typeface="Arial" pitchFamily="34" charset="-122"/>
                <a:cs typeface="Arial" pitchFamily="34" charset="-120"/>
              </a:rPr>
              <a:t>• Mentorship from Senior Banking Leaders: </a:t>
            </a:r>
            <a:r>
              <a:rPr lang="en-US" sz="1000" dirty="0">
                <a:solidFill>
                  <a:srgbClr val="334155"/>
                </a:solidFill>
                <a:latin typeface="Arial" pitchFamily="34" charset="0"/>
                <a:ea typeface="Arial" pitchFamily="34" charset="-122"/>
                <a:cs typeface="Arial" pitchFamily="34" charset="-120"/>
              </a:rPr>
              <a:t>Direct guidance from veteran Chief Risk Officers (CROs) and FinTech leaders to refine our 300-900 scoring calibration and enterprise GTM playbook.
</a:t>
            </a:r>
            <a:r>
              <a:rPr lang="en-US" sz="1000" b="1" dirty="0">
                <a:solidFill>
                  <a:srgbClr val="0F172A"/>
                </a:solidFill>
                <a:latin typeface="Arial" pitchFamily="34" charset="0"/>
                <a:ea typeface="Arial" pitchFamily="34" charset="-122"/>
                <a:cs typeface="Arial" pitchFamily="34" charset="-120"/>
              </a:rPr>
              <a:t>• Building on FITT, Jubilant &amp; Hub71 Validation: </a:t>
            </a:r>
            <a:r>
              <a:rPr lang="en-US" sz="1000" dirty="0">
                <a:solidFill>
                  <a:srgbClr val="334155"/>
                </a:solidFill>
                <a:latin typeface="Arial" pitchFamily="34" charset="0"/>
                <a:ea typeface="Arial" pitchFamily="34" charset="-122"/>
                <a:cs typeface="Arial" pitchFamily="34" charset="-120"/>
              </a:rPr>
              <a:t>Having earned selection for FITT (IIT Delhi) and Jubilant Life Foundation incubators, and completed the Hub71 Validation Workshop, BITSoM Vertex provides the specific commercial banking bridge and institutional trust to close enterprise bank pilots.
</a:t>
            </a:r>
            <a:r>
              <a:rPr lang="en-US" sz="1000" b="1" dirty="0">
                <a:solidFill>
                  <a:srgbClr val="0F172A"/>
                </a:solidFill>
                <a:latin typeface="Arial" pitchFamily="34" charset="0"/>
                <a:ea typeface="Arial" pitchFamily="34" charset="-122"/>
                <a:cs typeface="Arial" pitchFamily="34" charset="-120"/>
              </a:rPr>
              <a:t>• Regulatory Sandbox Navigation: </a:t>
            </a:r>
            <a:r>
              <a:rPr lang="en-US" sz="1000" dirty="0">
                <a:solidFill>
                  <a:srgbClr val="334155"/>
                </a:solidFill>
                <a:latin typeface="Arial" pitchFamily="34" charset="0"/>
                <a:ea typeface="Arial" pitchFamily="34" charset="-122"/>
                <a:cs typeface="Arial" pitchFamily="34" charset="-120"/>
              </a:rPr>
              <a:t>Strategic mentorship to fast-track inclusion into RBI regulatory sandbox cohorts and structured institutional co-lending partnerships.</a:t>
            </a:r>
            <a:endParaRPr lang="en-US" sz="1000" dirty="0"/>
          </a:p>
        </p:txBody>
      </p:sp>
      <p:sp>
        <p:nvSpPr>
          <p:cNvPr id="12" name="Shape 10"/>
          <p:cNvSpPr/>
          <p:nvPr/>
        </p:nvSpPr>
        <p:spPr>
          <a:xfrm>
            <a:off x="6248095" y="1371600"/>
            <a:ext cx="5212080" cy="5120640"/>
          </a:xfrm>
          <a:prstGeom prst="roundRect">
            <a:avLst>
              <a:gd name="adj" fmla="val 2143"/>
            </a:avLst>
          </a:prstGeom>
          <a:solidFill>
            <a:srgbClr val="F8FAFC"/>
          </a:solidFill>
          <a:ln w="15240">
            <a:solidFill>
              <a:srgbClr val="E2E8F0"/>
            </a:solidFill>
            <a:prstDash val="solid"/>
          </a:ln>
        </p:spPr>
        <p:txBody>
          <a:bodyPr/>
          <a:lstStyle/>
          <a:p>
            <a:endParaRPr lang="en-IN"/>
          </a:p>
        </p:txBody>
      </p:sp>
      <p:sp>
        <p:nvSpPr>
          <p:cNvPr id="13" name="Shape 11"/>
          <p:cNvSpPr/>
          <p:nvPr/>
        </p:nvSpPr>
        <p:spPr>
          <a:xfrm>
            <a:off x="6522415" y="1554480"/>
            <a:ext cx="4663440" cy="347472"/>
          </a:xfrm>
          <a:prstGeom prst="roundRect">
            <a:avLst>
              <a:gd name="adj" fmla="val 15789"/>
            </a:avLst>
          </a:prstGeom>
          <a:solidFill>
            <a:srgbClr val="F0FDF4"/>
          </a:solidFill>
          <a:ln w="12700">
            <a:solidFill>
              <a:srgbClr val="E2E8F0"/>
            </a:solidFill>
            <a:prstDash val="solid"/>
          </a:ln>
        </p:spPr>
        <p:txBody>
          <a:bodyPr/>
          <a:lstStyle/>
          <a:p>
            <a:endParaRPr lang="en-IN"/>
          </a:p>
        </p:txBody>
      </p:sp>
      <p:sp>
        <p:nvSpPr>
          <p:cNvPr id="14" name="Text 12"/>
          <p:cNvSpPr/>
          <p:nvPr/>
        </p:nvSpPr>
        <p:spPr>
          <a:xfrm>
            <a:off x="6613855" y="1554480"/>
            <a:ext cx="4480560" cy="347472"/>
          </a:xfrm>
          <a:prstGeom prst="rect">
            <a:avLst/>
          </a:prstGeom>
          <a:noFill/>
          <a:ln/>
        </p:spPr>
        <p:txBody>
          <a:bodyPr wrap="square" rtlCol="0" anchor="ctr"/>
          <a:lstStyle/>
          <a:p>
            <a:pPr marL="0" indent="0">
              <a:buNone/>
            </a:pPr>
            <a:r>
              <a:rPr lang="en-US" sz="1000" b="1" dirty="0">
                <a:solidFill>
                  <a:srgbClr val="15803D"/>
                </a:solidFill>
                <a:latin typeface="Arial" pitchFamily="34" charset="0"/>
                <a:ea typeface="Arial" pitchFamily="34" charset="-122"/>
                <a:cs typeface="Arial" pitchFamily="34" charset="-120"/>
              </a:rPr>
              <a:t>2. WHICH CHALLENGE IS CURRENTLY LIMITING YOUR GROWTH?</a:t>
            </a:r>
            <a:endParaRPr lang="en-US" sz="1000" dirty="0"/>
          </a:p>
        </p:txBody>
      </p:sp>
      <p:sp>
        <p:nvSpPr>
          <p:cNvPr id="15" name="Text 13"/>
          <p:cNvSpPr/>
          <p:nvPr/>
        </p:nvSpPr>
        <p:spPr>
          <a:xfrm>
            <a:off x="6522415" y="2011680"/>
            <a:ext cx="4663440" cy="502920"/>
          </a:xfrm>
          <a:prstGeom prst="rect">
            <a:avLst/>
          </a:prstGeom>
          <a:noFill/>
          <a:ln/>
        </p:spPr>
        <p:txBody>
          <a:bodyPr wrap="square" rtlCol="0" anchor="ctr"/>
          <a:lstStyle/>
          <a:p>
            <a:pPr marL="0" indent="0">
              <a:buNone/>
            </a:pPr>
            <a:r>
              <a:rPr lang="en-US" sz="1450" b="1" dirty="0">
                <a:solidFill>
                  <a:srgbClr val="0F172A"/>
                </a:solidFill>
                <a:latin typeface="Arial" pitchFamily="34" charset="0"/>
                <a:ea typeface="Arial" pitchFamily="34" charset="-122"/>
                <a:cs typeface="Arial" pitchFamily="34" charset="-120"/>
              </a:rPr>
              <a:t>Enterprise Banking Procurement Cycles &amp; Live Sandbox Access</a:t>
            </a:r>
            <a:endParaRPr lang="en-US" sz="1450" dirty="0"/>
          </a:p>
        </p:txBody>
      </p:sp>
      <p:sp>
        <p:nvSpPr>
          <p:cNvPr id="16" name="Text 14"/>
          <p:cNvSpPr/>
          <p:nvPr/>
        </p:nvSpPr>
        <p:spPr>
          <a:xfrm>
            <a:off x="6522415" y="2560320"/>
            <a:ext cx="4663440" cy="3749040"/>
          </a:xfrm>
          <a:prstGeom prst="rect">
            <a:avLst/>
          </a:prstGeom>
          <a:noFill/>
          <a:ln/>
        </p:spPr>
        <p:txBody>
          <a:bodyPr wrap="square" rtlCol="0" anchor="ctr"/>
          <a:lstStyle/>
          <a:p>
            <a:pPr marL="0" indent="0">
              <a:lnSpc>
                <a:spcPts val="1500"/>
              </a:lnSpc>
              <a:buNone/>
            </a:pPr>
            <a:r>
              <a:rPr lang="en-US" sz="1020" b="1" dirty="0">
                <a:solidFill>
                  <a:srgbClr val="0F172A"/>
                </a:solidFill>
                <a:latin typeface="Arial" pitchFamily="34" charset="0"/>
                <a:ea typeface="Arial" pitchFamily="34" charset="-122"/>
                <a:cs typeface="Arial" pitchFamily="34" charset="-120"/>
              </a:rPr>
              <a:t>• Long Enterprise Sales Cycles (6 to 9 Months): </a:t>
            </a:r>
            <a:r>
              <a:rPr lang="en-US" sz="1020" dirty="0">
                <a:solidFill>
                  <a:srgbClr val="334155"/>
                </a:solidFill>
                <a:latin typeface="Arial" pitchFamily="34" charset="0"/>
                <a:ea typeface="Arial" pitchFamily="34" charset="-122"/>
                <a:cs typeface="Arial" pitchFamily="34" charset="-120"/>
              </a:rPr>
              <a:t>Selling to commercial banks requires navigating bureaucratic committee procurement. BITSoM Vertex provides executive access to CROs/CCOs, shrinking sales cycles from months to weeks.
</a:t>
            </a:r>
            <a:r>
              <a:rPr lang="en-US" sz="1020" b="1" dirty="0">
                <a:solidFill>
                  <a:srgbClr val="0F172A"/>
                </a:solidFill>
                <a:latin typeface="Arial" pitchFamily="34" charset="0"/>
                <a:ea typeface="Arial" pitchFamily="34" charset="-122"/>
                <a:cs typeface="Arial" pitchFamily="34" charset="-120"/>
              </a:rPr>
              <a:t>• Access to Live Institutional Shadow-Underwriting: </a:t>
            </a:r>
            <a:r>
              <a:rPr lang="en-US" sz="1020" dirty="0">
                <a:solidFill>
                  <a:srgbClr val="334155"/>
                </a:solidFill>
                <a:latin typeface="Arial" pitchFamily="34" charset="0"/>
                <a:ea typeface="Arial" pitchFamily="34" charset="-122"/>
                <a:cs typeface="Arial" pitchFamily="34" charset="-120"/>
              </a:rPr>
              <a:t>While our engine is validated on 1,000+ real records, we need formal banking sandbox partnerships to evaluate live loan files in parallel with human underwriting teams to establish statistical default-prediction proofs.
</a:t>
            </a:r>
            <a:r>
              <a:rPr lang="en-US" sz="1020" b="1" dirty="0">
                <a:solidFill>
                  <a:srgbClr val="0F172A"/>
                </a:solidFill>
                <a:latin typeface="Arial" pitchFamily="34" charset="0"/>
                <a:ea typeface="Arial" pitchFamily="34" charset="-122"/>
                <a:cs typeface="Arial" pitchFamily="34" charset="-120"/>
              </a:rPr>
              <a:t>• Vertex Catalytic Value: </a:t>
            </a:r>
            <a:r>
              <a:rPr lang="en-US" sz="1020" dirty="0">
                <a:solidFill>
                  <a:srgbClr val="334155"/>
                </a:solidFill>
                <a:latin typeface="Arial" pitchFamily="34" charset="0"/>
                <a:ea typeface="Arial" pitchFamily="34" charset="-122"/>
                <a:cs typeface="Arial" pitchFamily="34" charset="-120"/>
              </a:rPr>
              <a:t>Provides the ecosystem backing to transition Artificer from validated prototype to deployed banking infrastructure.</a:t>
            </a:r>
            <a:endParaRPr lang="en-US" sz="10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92608"/>
            <a:ext cx="4114800" cy="320040"/>
          </a:xfrm>
          <a:prstGeom prst="rect">
            <a:avLst/>
          </a:prstGeom>
          <a:noFill/>
          <a:ln/>
        </p:spPr>
        <p:txBody>
          <a:bodyPr wrap="square" rtlCol="0" anchor="ctr"/>
          <a:lstStyle/>
          <a:p>
            <a:pPr marL="0" indent="0">
              <a:buNone/>
            </a:pPr>
            <a:r>
              <a:rPr lang="en-US" sz="1300" b="1" dirty="0">
                <a:solidFill>
                  <a:srgbClr val="1E293B"/>
                </a:solidFill>
                <a:latin typeface="Arial" pitchFamily="34" charset="0"/>
                <a:ea typeface="Arial" pitchFamily="34" charset="-122"/>
                <a:cs typeface="Arial" pitchFamily="34" charset="-120"/>
              </a:rPr>
              <a:t>BITSoM vertex  |  H2S</a:t>
            </a:r>
            <a:endParaRPr lang="en-US" sz="1300" dirty="0"/>
          </a:p>
        </p:txBody>
      </p:sp>
      <p:sp>
        <p:nvSpPr>
          <p:cNvPr id="3" name="Text 1"/>
          <p:cNvSpPr/>
          <p:nvPr/>
        </p:nvSpPr>
        <p:spPr>
          <a:xfrm>
            <a:off x="6858000" y="292608"/>
            <a:ext cx="4572000" cy="320040"/>
          </a:xfrm>
          <a:prstGeom prst="rect">
            <a:avLst/>
          </a:prstGeom>
          <a:noFill/>
          <a:ln/>
        </p:spPr>
        <p:txBody>
          <a:bodyPr wrap="square" rtlCol="0" anchor="ctr"/>
          <a:lstStyle/>
          <a:p>
            <a:pPr marL="0" indent="0" algn="r">
              <a:buNone/>
            </a:pPr>
            <a:r>
              <a:rPr lang="en-US" sz="1300" b="1" dirty="0">
                <a:solidFill>
                  <a:srgbClr val="F05A28"/>
                </a:solidFill>
                <a:latin typeface="Arial" pitchFamily="34" charset="0"/>
                <a:ea typeface="Arial" pitchFamily="34" charset="-122"/>
                <a:cs typeface="Arial" pitchFamily="34" charset="-120"/>
              </a:rPr>
              <a:t>Builders Pitch Fest 2026</a:t>
            </a:r>
            <a:endParaRPr lang="en-US" sz="1300" dirty="0"/>
          </a:p>
        </p:txBody>
      </p:sp>
      <p:sp>
        <p:nvSpPr>
          <p:cNvPr id="4" name="Shape 2"/>
          <p:cNvSpPr/>
          <p:nvPr/>
        </p:nvSpPr>
        <p:spPr>
          <a:xfrm>
            <a:off x="731520" y="658368"/>
            <a:ext cx="10728655" cy="0"/>
          </a:xfrm>
          <a:prstGeom prst="line">
            <a:avLst/>
          </a:prstGeom>
          <a:noFill/>
          <a:ln w="12700">
            <a:solidFill>
              <a:srgbClr val="E2E8F0"/>
            </a:solidFill>
            <a:prstDash val="solid"/>
          </a:ln>
        </p:spPr>
        <p:txBody>
          <a:bodyPr/>
          <a:lstStyle/>
          <a:p>
            <a:endParaRPr lang="en-IN"/>
          </a:p>
        </p:txBody>
      </p:sp>
      <p:sp>
        <p:nvSpPr>
          <p:cNvPr id="5" name="Text 3"/>
          <p:cNvSpPr/>
          <p:nvPr/>
        </p:nvSpPr>
        <p:spPr>
          <a:xfrm>
            <a:off x="731520" y="777240"/>
            <a:ext cx="10728655" cy="502920"/>
          </a:xfrm>
          <a:prstGeom prst="rect">
            <a:avLst/>
          </a:prstGeom>
          <a:noFill/>
          <a:ln/>
        </p:spPr>
        <p:txBody>
          <a:bodyPr wrap="square" rtlCol="0" anchor="ctr"/>
          <a:lstStyle/>
          <a:p>
            <a:pPr marL="0" indent="0">
              <a:buNone/>
            </a:pPr>
            <a:r>
              <a:rPr lang="en-US" sz="2200" b="1" dirty="0">
                <a:solidFill>
                  <a:srgbClr val="0F172A"/>
                </a:solidFill>
                <a:latin typeface="Arial" pitchFamily="34" charset="0"/>
                <a:ea typeface="Arial" pitchFamily="34" charset="-122"/>
                <a:cs typeface="Arial" pitchFamily="34" charset="-120"/>
              </a:rPr>
              <a:t>Supporting Material</a:t>
            </a:r>
            <a:endParaRPr lang="en-US" sz="2200" dirty="0"/>
          </a:p>
        </p:txBody>
      </p:sp>
      <p:sp>
        <p:nvSpPr>
          <p:cNvPr id="6" name="Shape 4"/>
          <p:cNvSpPr/>
          <p:nvPr/>
        </p:nvSpPr>
        <p:spPr>
          <a:xfrm>
            <a:off x="0" y="6748272"/>
            <a:ext cx="12191695" cy="109728"/>
          </a:xfrm>
          <a:prstGeom prst="rect">
            <a:avLst/>
          </a:prstGeom>
          <a:solidFill>
            <a:srgbClr val="F05A28"/>
          </a:solidFill>
          <a:ln w="12700">
            <a:solidFill>
              <a:srgbClr val="F05A28"/>
            </a:solidFill>
            <a:prstDash val="solid"/>
          </a:ln>
        </p:spPr>
        <p:txBody>
          <a:bodyPr/>
          <a:lstStyle/>
          <a:p>
            <a:endParaRPr lang="en-IN"/>
          </a:p>
        </p:txBody>
      </p:sp>
      <p:sp>
        <p:nvSpPr>
          <p:cNvPr id="7" name="Shape 5"/>
          <p:cNvSpPr/>
          <p:nvPr/>
        </p:nvSpPr>
        <p:spPr>
          <a:xfrm>
            <a:off x="731520" y="1371600"/>
            <a:ext cx="10728655" cy="5120640"/>
          </a:xfrm>
          <a:prstGeom prst="roundRect">
            <a:avLst>
              <a:gd name="adj" fmla="val 2143"/>
            </a:avLst>
          </a:prstGeom>
          <a:solidFill>
            <a:srgbClr val="F8FAFC"/>
          </a:solidFill>
          <a:ln w="15240">
            <a:solidFill>
              <a:srgbClr val="E2E8F0"/>
            </a:solidFill>
            <a:prstDash val="solid"/>
          </a:ln>
        </p:spPr>
        <p:txBody>
          <a:bodyPr/>
          <a:lstStyle/>
          <a:p>
            <a:endParaRPr lang="en-IN"/>
          </a:p>
        </p:txBody>
      </p:sp>
      <p:sp>
        <p:nvSpPr>
          <p:cNvPr id="8" name="Text 6"/>
          <p:cNvSpPr/>
          <p:nvPr/>
        </p:nvSpPr>
        <p:spPr>
          <a:xfrm>
            <a:off x="1005840" y="1554480"/>
            <a:ext cx="10058400" cy="320040"/>
          </a:xfrm>
          <a:prstGeom prst="rect">
            <a:avLst/>
          </a:prstGeom>
          <a:noFill/>
          <a:ln/>
        </p:spPr>
        <p:txBody>
          <a:bodyPr wrap="square" rtlCol="0" anchor="ctr"/>
          <a:lstStyle/>
          <a:p>
            <a:pPr marL="0" indent="0">
              <a:buNone/>
            </a:pPr>
            <a:r>
              <a:rPr lang="en-US" sz="1200" b="1" dirty="0">
                <a:solidFill>
                  <a:srgbClr val="C2410C"/>
                </a:solidFill>
                <a:latin typeface="Arial" pitchFamily="34" charset="0"/>
                <a:ea typeface="Arial" pitchFamily="34" charset="-122"/>
                <a:cs typeface="Arial" pitchFamily="34" charset="-120"/>
              </a:rPr>
              <a:t>PROJECT ARTIFACTS, LIVE PROTOTYPE &amp; VERIFICATION LINKS</a:t>
            </a:r>
            <a:endParaRPr lang="en-US" sz="1200" dirty="0"/>
          </a:p>
        </p:txBody>
      </p:sp>
      <p:sp>
        <p:nvSpPr>
          <p:cNvPr id="9" name="Shape 7"/>
          <p:cNvSpPr/>
          <p:nvPr/>
        </p:nvSpPr>
        <p:spPr>
          <a:xfrm>
            <a:off x="263897" y="1947672"/>
            <a:ext cx="10180015" cy="658368"/>
          </a:xfrm>
          <a:prstGeom prst="roundRect">
            <a:avLst>
              <a:gd name="adj" fmla="val 11111"/>
            </a:avLst>
          </a:prstGeom>
          <a:solidFill>
            <a:srgbClr val="FFFFFF"/>
          </a:solidFill>
          <a:ln w="12700">
            <a:solidFill>
              <a:srgbClr val="E2E8F0"/>
            </a:solidFill>
            <a:prstDash val="solid"/>
          </a:ln>
        </p:spPr>
        <p:txBody>
          <a:bodyPr/>
          <a:lstStyle/>
          <a:p>
            <a:endParaRPr lang="en-IN"/>
          </a:p>
        </p:txBody>
      </p:sp>
      <p:sp>
        <p:nvSpPr>
          <p:cNvPr id="10" name="Text 8"/>
          <p:cNvSpPr/>
          <p:nvPr/>
        </p:nvSpPr>
        <p:spPr>
          <a:xfrm>
            <a:off x="1188720" y="2039112"/>
            <a:ext cx="3657600" cy="256032"/>
          </a:xfrm>
          <a:prstGeom prst="rect">
            <a:avLst/>
          </a:prstGeom>
          <a:noFill/>
          <a:ln/>
        </p:spPr>
        <p:txBody>
          <a:bodyPr wrap="square" rtlCol="0" anchor="ctr"/>
          <a:lstStyle/>
          <a:p>
            <a:pPr marL="0" indent="0">
              <a:buNone/>
            </a:pPr>
            <a:r>
              <a:rPr lang="en-US" sz="1100" b="1" dirty="0">
                <a:solidFill>
                  <a:srgbClr val="1E40AF"/>
                </a:solidFill>
                <a:latin typeface="Arial" pitchFamily="34" charset="0"/>
                <a:ea typeface="Arial" pitchFamily="34" charset="-122"/>
                <a:cs typeface="Arial" pitchFamily="34" charset="-120"/>
              </a:rPr>
              <a:t>Deployed Project Link:</a:t>
            </a:r>
            <a:endParaRPr lang="en-US" sz="1100" dirty="0"/>
          </a:p>
        </p:txBody>
      </p:sp>
      <p:sp>
        <p:nvSpPr>
          <p:cNvPr id="11" name="Text 9"/>
          <p:cNvSpPr/>
          <p:nvPr/>
        </p:nvSpPr>
        <p:spPr>
          <a:xfrm>
            <a:off x="1188720" y="2295144"/>
            <a:ext cx="9692640" cy="256032"/>
          </a:xfrm>
          <a:prstGeom prst="rect">
            <a:avLst/>
          </a:prstGeom>
          <a:noFill/>
          <a:ln/>
        </p:spPr>
        <p:txBody>
          <a:bodyPr wrap="square" rtlCol="0" anchor="ctr"/>
          <a:lstStyle/>
          <a:p>
            <a:r>
              <a:rPr lang="en-US" sz="1000" dirty="0"/>
              <a:t>https://artificer.enveraitech.in</a:t>
            </a:r>
          </a:p>
        </p:txBody>
      </p:sp>
      <p:sp>
        <p:nvSpPr>
          <p:cNvPr id="12" name="Shape 10"/>
          <p:cNvSpPr/>
          <p:nvPr/>
        </p:nvSpPr>
        <p:spPr>
          <a:xfrm>
            <a:off x="1005840" y="2715768"/>
            <a:ext cx="10180015" cy="658368"/>
          </a:xfrm>
          <a:prstGeom prst="roundRect">
            <a:avLst>
              <a:gd name="adj" fmla="val 11111"/>
            </a:avLst>
          </a:prstGeom>
          <a:solidFill>
            <a:srgbClr val="FFFFFF"/>
          </a:solidFill>
          <a:ln w="12700">
            <a:solidFill>
              <a:srgbClr val="E2E8F0"/>
            </a:solidFill>
            <a:prstDash val="solid"/>
          </a:ln>
        </p:spPr>
        <p:txBody>
          <a:bodyPr/>
          <a:lstStyle/>
          <a:p>
            <a:endParaRPr lang="en-IN"/>
          </a:p>
        </p:txBody>
      </p:sp>
      <p:sp>
        <p:nvSpPr>
          <p:cNvPr id="13" name="Text 11"/>
          <p:cNvSpPr/>
          <p:nvPr/>
        </p:nvSpPr>
        <p:spPr>
          <a:xfrm>
            <a:off x="1188720" y="2788920"/>
            <a:ext cx="3657600" cy="256032"/>
          </a:xfrm>
          <a:prstGeom prst="rect">
            <a:avLst/>
          </a:prstGeom>
          <a:noFill/>
          <a:ln/>
        </p:spPr>
        <p:txBody>
          <a:bodyPr wrap="square" rtlCol="0" anchor="ctr"/>
          <a:lstStyle/>
          <a:p>
            <a:pPr marL="0" indent="0">
              <a:buNone/>
            </a:pPr>
            <a:r>
              <a:rPr lang="en-US" sz="1100" b="1" dirty="0">
                <a:solidFill>
                  <a:srgbClr val="C2410C"/>
                </a:solidFill>
                <a:latin typeface="Arial" pitchFamily="34" charset="0"/>
                <a:ea typeface="Arial" pitchFamily="34" charset="-122"/>
                <a:cs typeface="Arial" pitchFamily="34" charset="-120"/>
              </a:rPr>
              <a:t>Project Demo Video (3–5 Minutes):</a:t>
            </a:r>
            <a:endParaRPr lang="en-US" sz="1100" dirty="0"/>
          </a:p>
        </p:txBody>
      </p:sp>
      <p:sp>
        <p:nvSpPr>
          <p:cNvPr id="14" name="Text 12"/>
          <p:cNvSpPr/>
          <p:nvPr/>
        </p:nvSpPr>
        <p:spPr>
          <a:xfrm>
            <a:off x="1188720" y="3044952"/>
            <a:ext cx="9692640" cy="256032"/>
          </a:xfrm>
          <a:prstGeom prst="rect">
            <a:avLst/>
          </a:prstGeom>
          <a:noFill/>
          <a:ln/>
        </p:spPr>
        <p:txBody>
          <a:bodyPr wrap="square" rtlCol="0" anchor="ctr"/>
          <a:lstStyle/>
          <a:p>
            <a:pPr marL="0" indent="0">
              <a:buNone/>
            </a:pPr>
            <a:r>
              <a:rPr lang="en-US" sz="1000" dirty="0">
                <a:solidFill>
                  <a:srgbClr val="334155"/>
                </a:solidFill>
                <a:latin typeface="Arial" pitchFamily="34" charset="0"/>
                <a:ea typeface="Arial" pitchFamily="34" charset="-122"/>
                <a:cs typeface="Arial" pitchFamily="34" charset="-120"/>
              </a:rPr>
              <a:t>High-definition walkthrough showcasing multi-agent ingestion, financial ratio matrix, and Conversational XAI Drawer.</a:t>
            </a:r>
            <a:endParaRPr lang="en-US" sz="1000" dirty="0"/>
          </a:p>
        </p:txBody>
      </p:sp>
      <p:sp>
        <p:nvSpPr>
          <p:cNvPr id="15" name="Shape 13"/>
          <p:cNvSpPr/>
          <p:nvPr/>
        </p:nvSpPr>
        <p:spPr>
          <a:xfrm>
            <a:off x="1005840" y="3465576"/>
            <a:ext cx="10180015" cy="658368"/>
          </a:xfrm>
          <a:prstGeom prst="roundRect">
            <a:avLst>
              <a:gd name="adj" fmla="val 11111"/>
            </a:avLst>
          </a:prstGeom>
          <a:solidFill>
            <a:srgbClr val="FFFFFF"/>
          </a:solidFill>
          <a:ln w="12700">
            <a:solidFill>
              <a:srgbClr val="E2E8F0"/>
            </a:solidFill>
            <a:prstDash val="solid"/>
          </a:ln>
        </p:spPr>
        <p:txBody>
          <a:bodyPr/>
          <a:lstStyle/>
          <a:p>
            <a:endParaRPr lang="en-IN"/>
          </a:p>
        </p:txBody>
      </p:sp>
      <p:sp>
        <p:nvSpPr>
          <p:cNvPr id="16" name="Text 14"/>
          <p:cNvSpPr/>
          <p:nvPr/>
        </p:nvSpPr>
        <p:spPr>
          <a:xfrm>
            <a:off x="1188720" y="3538728"/>
            <a:ext cx="3657600" cy="256032"/>
          </a:xfrm>
          <a:prstGeom prst="rect">
            <a:avLst/>
          </a:prstGeom>
          <a:noFill/>
          <a:ln/>
        </p:spPr>
        <p:txBody>
          <a:bodyPr wrap="square" rtlCol="0" anchor="ctr"/>
          <a:lstStyle/>
          <a:p>
            <a:pPr marL="0" indent="0">
              <a:buNone/>
            </a:pPr>
            <a:r>
              <a:rPr lang="en-US" sz="1100" b="1" dirty="0">
                <a:solidFill>
                  <a:srgbClr val="15803D"/>
                </a:solidFill>
                <a:latin typeface="Arial" pitchFamily="34" charset="0"/>
                <a:ea typeface="Arial" pitchFamily="34" charset="-122"/>
                <a:cs typeface="Arial" pitchFamily="34" charset="-120"/>
              </a:rPr>
              <a:t>Website:</a:t>
            </a:r>
            <a:endParaRPr lang="en-US" sz="1100" dirty="0"/>
          </a:p>
        </p:txBody>
      </p:sp>
      <p:sp>
        <p:nvSpPr>
          <p:cNvPr id="17" name="Text 15"/>
          <p:cNvSpPr/>
          <p:nvPr/>
        </p:nvSpPr>
        <p:spPr>
          <a:xfrm>
            <a:off x="1188720" y="3794760"/>
            <a:ext cx="9692640" cy="256032"/>
          </a:xfrm>
          <a:prstGeom prst="rect">
            <a:avLst/>
          </a:prstGeom>
          <a:noFill/>
          <a:ln/>
        </p:spPr>
        <p:txBody>
          <a:bodyPr wrap="square" rtlCol="0" anchor="ctr"/>
          <a:lstStyle/>
          <a:p>
            <a:pPr marL="0" indent="0">
              <a:buNone/>
            </a:pPr>
            <a:r>
              <a:rPr lang="en-US" sz="1000" dirty="0">
                <a:solidFill>
                  <a:srgbClr val="334155"/>
                </a:solidFill>
                <a:latin typeface="Arial" pitchFamily="34" charset="0"/>
                <a:ea typeface="Arial" pitchFamily="34" charset="-122"/>
                <a:cs typeface="Arial" pitchFamily="34" charset="-120"/>
              </a:rPr>
              <a:t>https://enveraitech.com</a:t>
            </a:r>
            <a:endParaRPr lang="en-US" sz="1000" dirty="0"/>
          </a:p>
        </p:txBody>
      </p:sp>
      <p:sp>
        <p:nvSpPr>
          <p:cNvPr id="18" name="Shape 16"/>
          <p:cNvSpPr/>
          <p:nvPr/>
        </p:nvSpPr>
        <p:spPr>
          <a:xfrm>
            <a:off x="1005840" y="4215384"/>
            <a:ext cx="10180015" cy="658368"/>
          </a:xfrm>
          <a:prstGeom prst="roundRect">
            <a:avLst>
              <a:gd name="adj" fmla="val 11111"/>
            </a:avLst>
          </a:prstGeom>
          <a:solidFill>
            <a:srgbClr val="FFFFFF"/>
          </a:solidFill>
          <a:ln w="12700">
            <a:solidFill>
              <a:srgbClr val="E2E8F0"/>
            </a:solidFill>
            <a:prstDash val="solid"/>
          </a:ln>
        </p:spPr>
        <p:txBody>
          <a:bodyPr/>
          <a:lstStyle/>
          <a:p>
            <a:endParaRPr lang="en-IN"/>
          </a:p>
        </p:txBody>
      </p:sp>
      <p:sp>
        <p:nvSpPr>
          <p:cNvPr id="19" name="Text 17"/>
          <p:cNvSpPr/>
          <p:nvPr/>
        </p:nvSpPr>
        <p:spPr>
          <a:xfrm>
            <a:off x="1188720" y="4288536"/>
            <a:ext cx="3657600" cy="256032"/>
          </a:xfrm>
          <a:prstGeom prst="rect">
            <a:avLst/>
          </a:prstGeom>
          <a:noFill/>
          <a:ln/>
        </p:spPr>
        <p:txBody>
          <a:bodyPr wrap="square" rtlCol="0" anchor="ctr"/>
          <a:lstStyle/>
          <a:p>
            <a:pPr marL="0" indent="0">
              <a:buNone/>
            </a:pPr>
            <a:r>
              <a:rPr lang="en-US" sz="1100" b="1" dirty="0">
                <a:solidFill>
                  <a:srgbClr val="0F172A"/>
                </a:solidFill>
                <a:latin typeface="Arial" pitchFamily="34" charset="0"/>
                <a:ea typeface="Arial" pitchFamily="34" charset="-122"/>
                <a:cs typeface="Arial" pitchFamily="34" charset="-120"/>
              </a:rPr>
              <a:t>GitHub Repository:</a:t>
            </a:r>
            <a:endParaRPr lang="en-US" sz="1100" dirty="0"/>
          </a:p>
        </p:txBody>
      </p:sp>
      <p:sp>
        <p:nvSpPr>
          <p:cNvPr id="20" name="Text 18"/>
          <p:cNvSpPr/>
          <p:nvPr/>
        </p:nvSpPr>
        <p:spPr>
          <a:xfrm>
            <a:off x="1188720" y="4544568"/>
            <a:ext cx="9692640" cy="256032"/>
          </a:xfrm>
          <a:prstGeom prst="rect">
            <a:avLst/>
          </a:prstGeom>
          <a:noFill/>
          <a:ln/>
        </p:spPr>
        <p:txBody>
          <a:bodyPr wrap="square" rtlCol="0" anchor="ctr"/>
          <a:lstStyle/>
          <a:p>
            <a:pPr marL="0" indent="0">
              <a:buNone/>
            </a:pPr>
            <a:r>
              <a:rPr lang="en-US" sz="1000" dirty="0">
                <a:solidFill>
                  <a:srgbClr val="334155"/>
                </a:solidFill>
                <a:latin typeface="Arial" pitchFamily="34" charset="0"/>
                <a:ea typeface="Arial" pitchFamily="34" charset="-122"/>
                <a:cs typeface="Arial" pitchFamily="34" charset="-120"/>
              </a:rPr>
              <a:t>https://github.com/Amaan-cmd/IDBI-Artificer</a:t>
            </a:r>
            <a:endParaRPr lang="en-US" sz="1000" dirty="0"/>
          </a:p>
        </p:txBody>
      </p:sp>
      <p:sp>
        <p:nvSpPr>
          <p:cNvPr id="21" name="Shape 19"/>
          <p:cNvSpPr/>
          <p:nvPr/>
        </p:nvSpPr>
        <p:spPr>
          <a:xfrm>
            <a:off x="1005840" y="4965192"/>
            <a:ext cx="10180015" cy="658368"/>
          </a:xfrm>
          <a:prstGeom prst="roundRect">
            <a:avLst>
              <a:gd name="adj" fmla="val 11111"/>
            </a:avLst>
          </a:prstGeom>
          <a:solidFill>
            <a:srgbClr val="FFFFFF"/>
          </a:solidFill>
          <a:ln w="12700">
            <a:solidFill>
              <a:srgbClr val="E2E8F0"/>
            </a:solidFill>
            <a:prstDash val="solid"/>
          </a:ln>
        </p:spPr>
        <p:txBody>
          <a:bodyPr/>
          <a:lstStyle/>
          <a:p>
            <a:endParaRPr lang="en-IN"/>
          </a:p>
        </p:txBody>
      </p:sp>
      <p:sp>
        <p:nvSpPr>
          <p:cNvPr id="22" name="Text 20"/>
          <p:cNvSpPr/>
          <p:nvPr/>
        </p:nvSpPr>
        <p:spPr>
          <a:xfrm>
            <a:off x="1188720" y="5038344"/>
            <a:ext cx="3657600" cy="256032"/>
          </a:xfrm>
          <a:prstGeom prst="rect">
            <a:avLst/>
          </a:prstGeom>
          <a:noFill/>
          <a:ln/>
        </p:spPr>
        <p:txBody>
          <a:bodyPr wrap="square" rtlCol="0" anchor="ctr"/>
          <a:lstStyle/>
          <a:p>
            <a:pPr marL="0" indent="0">
              <a:buNone/>
            </a:pPr>
            <a:r>
              <a:rPr lang="en-US" sz="1100" b="1" dirty="0">
                <a:solidFill>
                  <a:srgbClr val="1E40AF"/>
                </a:solidFill>
                <a:latin typeface="Arial" pitchFamily="34" charset="0"/>
                <a:ea typeface="Arial" pitchFamily="34" charset="-122"/>
                <a:cs typeface="Arial" pitchFamily="34" charset="-120"/>
              </a:rPr>
              <a:t>Product Documentation:</a:t>
            </a:r>
            <a:endParaRPr lang="en-US" sz="1100" dirty="0"/>
          </a:p>
        </p:txBody>
      </p:sp>
      <p:sp>
        <p:nvSpPr>
          <p:cNvPr id="23" name="Text 21"/>
          <p:cNvSpPr/>
          <p:nvPr/>
        </p:nvSpPr>
        <p:spPr>
          <a:xfrm>
            <a:off x="1188720" y="5294376"/>
            <a:ext cx="9692640" cy="256032"/>
          </a:xfrm>
          <a:prstGeom prst="rect">
            <a:avLst/>
          </a:prstGeom>
          <a:noFill/>
          <a:ln/>
        </p:spPr>
        <p:txBody>
          <a:bodyPr wrap="square" rtlCol="0" anchor="ctr"/>
          <a:lstStyle/>
          <a:p>
            <a:pPr marL="0" indent="0">
              <a:buNone/>
            </a:pPr>
            <a:r>
              <a:rPr lang="en-US" sz="1000" dirty="0">
                <a:solidFill>
                  <a:srgbClr val="334155"/>
                </a:solidFill>
                <a:latin typeface="Arial" pitchFamily="34" charset="0"/>
                <a:ea typeface="Arial" pitchFamily="34" charset="-122"/>
                <a:cs typeface="Arial" pitchFamily="34" charset="-120"/>
              </a:rPr>
              <a:t>Comprehensive technical specifications in repository root. (Login Deets </a:t>
            </a:r>
            <a:r>
              <a:rPr lang="en-US" sz="1000" dirty="0" err="1">
                <a:solidFill>
                  <a:srgbClr val="334155"/>
                </a:solidFill>
                <a:latin typeface="Arial" pitchFamily="34" charset="0"/>
                <a:ea typeface="Arial" pitchFamily="34" charset="-122"/>
                <a:cs typeface="Arial" pitchFamily="34" charset="-120"/>
              </a:rPr>
              <a:t>Andalaus</a:t>
            </a:r>
            <a:r>
              <a:rPr lang="en-US" sz="1000" dirty="0">
                <a:solidFill>
                  <a:srgbClr val="334155"/>
                </a:solidFill>
                <a:latin typeface="Arial" pitchFamily="34" charset="0"/>
                <a:ea typeface="Arial" pitchFamily="34" charset="-122"/>
                <a:cs typeface="Arial" pitchFamily="34" charset="-120"/>
              </a:rPr>
              <a:t> / Citadel@296</a:t>
            </a:r>
            <a:endParaRPr lang="en-US" sz="1000" dirty="0"/>
          </a:p>
        </p:txBody>
      </p:sp>
      <p:sp>
        <p:nvSpPr>
          <p:cNvPr id="24" name="Shape 22"/>
          <p:cNvSpPr/>
          <p:nvPr/>
        </p:nvSpPr>
        <p:spPr>
          <a:xfrm>
            <a:off x="1005840" y="5715000"/>
            <a:ext cx="10180015" cy="658368"/>
          </a:xfrm>
          <a:prstGeom prst="roundRect">
            <a:avLst>
              <a:gd name="adj" fmla="val 11111"/>
            </a:avLst>
          </a:prstGeom>
          <a:solidFill>
            <a:srgbClr val="FFFFFF"/>
          </a:solidFill>
          <a:ln w="12700">
            <a:solidFill>
              <a:srgbClr val="E2E8F0"/>
            </a:solidFill>
            <a:prstDash val="solid"/>
          </a:ln>
        </p:spPr>
        <p:txBody>
          <a:bodyPr/>
          <a:lstStyle/>
          <a:p>
            <a:endParaRPr lang="en-IN"/>
          </a:p>
        </p:txBody>
      </p:sp>
      <p:sp>
        <p:nvSpPr>
          <p:cNvPr id="25" name="Text 23"/>
          <p:cNvSpPr/>
          <p:nvPr/>
        </p:nvSpPr>
        <p:spPr>
          <a:xfrm>
            <a:off x="1188720" y="5788152"/>
            <a:ext cx="3657600" cy="256032"/>
          </a:xfrm>
          <a:prstGeom prst="rect">
            <a:avLst/>
          </a:prstGeom>
          <a:noFill/>
          <a:ln/>
        </p:spPr>
        <p:txBody>
          <a:bodyPr wrap="square" rtlCol="0" anchor="ctr"/>
          <a:lstStyle/>
          <a:p>
            <a:pPr marL="0" indent="0">
              <a:buNone/>
            </a:pPr>
            <a:r>
              <a:rPr lang="en-US" sz="1100" b="1" dirty="0">
                <a:solidFill>
                  <a:srgbClr val="C2410C"/>
                </a:solidFill>
                <a:latin typeface="Arial" pitchFamily="34" charset="0"/>
                <a:ea typeface="Arial" pitchFamily="34" charset="-122"/>
                <a:cs typeface="Arial" pitchFamily="34" charset="-120"/>
              </a:rPr>
              <a:t>Contact Details:</a:t>
            </a:r>
            <a:endParaRPr lang="en-US" sz="1100" dirty="0"/>
          </a:p>
        </p:txBody>
      </p:sp>
      <p:sp>
        <p:nvSpPr>
          <p:cNvPr id="26" name="Text 24"/>
          <p:cNvSpPr/>
          <p:nvPr/>
        </p:nvSpPr>
        <p:spPr>
          <a:xfrm>
            <a:off x="1188720" y="6044184"/>
            <a:ext cx="9692640" cy="256032"/>
          </a:xfrm>
          <a:prstGeom prst="rect">
            <a:avLst/>
          </a:prstGeom>
          <a:noFill/>
          <a:ln/>
        </p:spPr>
        <p:txBody>
          <a:bodyPr wrap="square" rtlCol="0" anchor="ctr"/>
          <a:lstStyle/>
          <a:p>
            <a:pPr marL="0" indent="0">
              <a:buNone/>
            </a:pPr>
            <a:r>
              <a:rPr lang="en-US" sz="1000" dirty="0">
                <a:solidFill>
                  <a:srgbClr val="334155"/>
                </a:solidFill>
                <a:latin typeface="Arial" pitchFamily="34" charset="0"/>
                <a:ea typeface="Arial" pitchFamily="34" charset="-122"/>
                <a:cs typeface="Arial" pitchFamily="34" charset="-120"/>
              </a:rPr>
              <a:t>Founding Team • daddy@enveraitech.com / umai@enveraitech.com • EnverAI </a:t>
            </a:r>
            <a:r>
              <a:rPr lang="en-US" sz="1000">
                <a:solidFill>
                  <a:srgbClr val="334155"/>
                </a:solidFill>
                <a:latin typeface="Arial" pitchFamily="34" charset="0"/>
                <a:ea typeface="Arial" pitchFamily="34" charset="-122"/>
                <a:cs typeface="Arial" pitchFamily="34" charset="-120"/>
              </a:rPr>
              <a:t>Tech Pvt Ltd.</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411480"/>
            <a:ext cx="4572000" cy="365760"/>
          </a:xfrm>
          <a:prstGeom prst="rect">
            <a:avLst/>
          </a:prstGeom>
          <a:noFill/>
          <a:ln/>
        </p:spPr>
        <p:txBody>
          <a:bodyPr wrap="square" rtlCol="0" anchor="ctr"/>
          <a:lstStyle/>
          <a:p>
            <a:pPr marL="0" indent="0">
              <a:buNone/>
            </a:pPr>
            <a:r>
              <a:rPr lang="en-US" sz="1500" b="1" dirty="0">
                <a:solidFill>
                  <a:srgbClr val="1E293B"/>
                </a:solidFill>
                <a:latin typeface="Arial" pitchFamily="34" charset="0"/>
                <a:ea typeface="Arial" pitchFamily="34" charset="-122"/>
                <a:cs typeface="Arial" pitchFamily="34" charset="-120"/>
              </a:rPr>
              <a:t>BITSoM vertex  |  H2S</a:t>
            </a:r>
            <a:endParaRPr lang="en-US" sz="1500" dirty="0"/>
          </a:p>
        </p:txBody>
      </p:sp>
      <p:sp>
        <p:nvSpPr>
          <p:cNvPr id="3" name="Text 1"/>
          <p:cNvSpPr/>
          <p:nvPr/>
        </p:nvSpPr>
        <p:spPr>
          <a:xfrm>
            <a:off x="6858000" y="411480"/>
            <a:ext cx="4572000" cy="365760"/>
          </a:xfrm>
          <a:prstGeom prst="rect">
            <a:avLst/>
          </a:prstGeom>
          <a:noFill/>
          <a:ln/>
        </p:spPr>
        <p:txBody>
          <a:bodyPr wrap="square" rtlCol="0" anchor="ctr"/>
          <a:lstStyle/>
          <a:p>
            <a:pPr marL="0" indent="0" algn="r">
              <a:buNone/>
            </a:pPr>
            <a:r>
              <a:rPr lang="en-US" sz="1500" b="1" dirty="0">
                <a:solidFill>
                  <a:srgbClr val="F05A28"/>
                </a:solidFill>
                <a:latin typeface="Arial" pitchFamily="34" charset="0"/>
                <a:ea typeface="Arial" pitchFamily="34" charset="-122"/>
                <a:cs typeface="Arial" pitchFamily="34" charset="-120"/>
              </a:rPr>
              <a:t>Builders Pitch Fest 2026</a:t>
            </a:r>
            <a:endParaRPr lang="en-US" sz="1500" dirty="0"/>
          </a:p>
        </p:txBody>
      </p:sp>
      <p:sp>
        <p:nvSpPr>
          <p:cNvPr id="4" name="Shape 2"/>
          <p:cNvSpPr/>
          <p:nvPr/>
        </p:nvSpPr>
        <p:spPr>
          <a:xfrm>
            <a:off x="0" y="2971800"/>
            <a:ext cx="12191695" cy="73152"/>
          </a:xfrm>
          <a:prstGeom prst="rect">
            <a:avLst/>
          </a:prstGeom>
          <a:solidFill>
            <a:srgbClr val="F05A28"/>
          </a:solidFill>
          <a:ln w="12700">
            <a:solidFill>
              <a:srgbClr val="F05A28"/>
            </a:solidFill>
            <a:prstDash val="solid"/>
          </a:ln>
        </p:spPr>
        <p:txBody>
          <a:bodyPr/>
          <a:lstStyle/>
          <a:p>
            <a:endParaRPr lang="en-IN"/>
          </a:p>
        </p:txBody>
      </p:sp>
      <p:sp>
        <p:nvSpPr>
          <p:cNvPr id="5" name="Text 3"/>
          <p:cNvSpPr/>
          <p:nvPr/>
        </p:nvSpPr>
        <p:spPr>
          <a:xfrm>
            <a:off x="731520" y="1005840"/>
            <a:ext cx="7315200" cy="1645920"/>
          </a:xfrm>
          <a:prstGeom prst="rect">
            <a:avLst/>
          </a:prstGeom>
          <a:noFill/>
          <a:ln/>
        </p:spPr>
        <p:txBody>
          <a:bodyPr wrap="square" rtlCol="0" anchor="ctr"/>
          <a:lstStyle/>
          <a:p>
            <a:pPr marL="0" indent="0">
              <a:lnSpc>
                <a:spcPts val="4200"/>
              </a:lnSpc>
              <a:buNone/>
            </a:pPr>
            <a:r>
              <a:rPr lang="en-US" sz="3800" b="1" dirty="0">
                <a:solidFill>
                  <a:srgbClr val="F05A28"/>
                </a:solidFill>
                <a:latin typeface="Arial" pitchFamily="34" charset="0"/>
                <a:ea typeface="Arial" pitchFamily="34" charset="-122"/>
                <a:cs typeface="Arial" pitchFamily="34" charset="-120"/>
              </a:rPr>
              <a:t>Builders</a:t>
            </a:r>
            <a:endParaRPr lang="en-US" sz="3800" dirty="0"/>
          </a:p>
          <a:p>
            <a:pPr marL="0" indent="0">
              <a:lnSpc>
                <a:spcPts val="4200"/>
              </a:lnSpc>
              <a:buNone/>
            </a:pPr>
            <a:r>
              <a:rPr lang="en-US" sz="3800" b="1" dirty="0">
                <a:solidFill>
                  <a:srgbClr val="F05A28"/>
                </a:solidFill>
                <a:latin typeface="Arial" pitchFamily="34" charset="0"/>
                <a:ea typeface="Arial" pitchFamily="34" charset="-122"/>
                <a:cs typeface="Arial" pitchFamily="34" charset="-120"/>
              </a:rPr>
              <a:t>Pitch Fest 2026</a:t>
            </a:r>
            <a:endParaRPr lang="en-US" sz="3800" dirty="0"/>
          </a:p>
        </p:txBody>
      </p:sp>
      <p:sp>
        <p:nvSpPr>
          <p:cNvPr id="6" name="Shape 4"/>
          <p:cNvSpPr/>
          <p:nvPr/>
        </p:nvSpPr>
        <p:spPr>
          <a:xfrm>
            <a:off x="731520" y="3246120"/>
            <a:ext cx="10728655" cy="3017520"/>
          </a:xfrm>
          <a:prstGeom prst="roundRect">
            <a:avLst>
              <a:gd name="adj" fmla="val 3636"/>
            </a:avLst>
          </a:prstGeom>
          <a:solidFill>
            <a:srgbClr val="F8FAFC"/>
          </a:solidFill>
          <a:ln w="15240">
            <a:solidFill>
              <a:srgbClr val="E2E8F0"/>
            </a:solidFill>
            <a:prstDash val="solid"/>
          </a:ln>
        </p:spPr>
        <p:txBody>
          <a:bodyPr/>
          <a:lstStyle/>
          <a:p>
            <a:endParaRPr lang="en-IN"/>
          </a:p>
        </p:txBody>
      </p:sp>
      <p:sp>
        <p:nvSpPr>
          <p:cNvPr id="7" name="Text 5"/>
          <p:cNvSpPr/>
          <p:nvPr/>
        </p:nvSpPr>
        <p:spPr>
          <a:xfrm>
            <a:off x="1097280" y="3520440"/>
            <a:ext cx="7315200" cy="731520"/>
          </a:xfrm>
          <a:prstGeom prst="rect">
            <a:avLst/>
          </a:prstGeom>
          <a:noFill/>
          <a:ln/>
        </p:spPr>
        <p:txBody>
          <a:bodyPr wrap="square" rtlCol="0" anchor="ctr"/>
          <a:lstStyle/>
          <a:p>
            <a:pPr marL="0" indent="0">
              <a:buNone/>
            </a:pPr>
            <a:r>
              <a:rPr lang="en-US" sz="4400" b="1" dirty="0">
                <a:solidFill>
                  <a:srgbClr val="0F172A"/>
                </a:solidFill>
                <a:latin typeface="Arial" pitchFamily="34" charset="0"/>
                <a:ea typeface="Arial" pitchFamily="34" charset="-122"/>
                <a:cs typeface="Arial" pitchFamily="34" charset="-120"/>
              </a:rPr>
              <a:t>THANK YOU</a:t>
            </a:r>
            <a:endParaRPr lang="en-US" sz="4400" dirty="0"/>
          </a:p>
        </p:txBody>
      </p:sp>
      <p:sp>
        <p:nvSpPr>
          <p:cNvPr id="8" name="Text 6"/>
          <p:cNvSpPr/>
          <p:nvPr/>
        </p:nvSpPr>
        <p:spPr>
          <a:xfrm>
            <a:off x="1097280" y="4297680"/>
            <a:ext cx="9875520" cy="457200"/>
          </a:xfrm>
          <a:prstGeom prst="rect">
            <a:avLst/>
          </a:prstGeom>
          <a:noFill/>
          <a:ln/>
        </p:spPr>
        <p:txBody>
          <a:bodyPr wrap="square" rtlCol="0" anchor="ctr"/>
          <a:lstStyle/>
          <a:p>
            <a:pPr marL="0" indent="0">
              <a:buNone/>
            </a:pPr>
            <a:r>
              <a:rPr lang="en-US" sz="1600" b="1" dirty="0">
                <a:solidFill>
                  <a:srgbClr val="C2410C"/>
                </a:solidFill>
                <a:latin typeface="Arial" pitchFamily="34" charset="0"/>
                <a:ea typeface="Arial" pitchFamily="34" charset="-122"/>
                <a:cs typeface="Arial" pitchFamily="34" charset="-120"/>
              </a:rPr>
              <a:t>EnverAI Artificer: Autonomous, Explainable MSME Credit Intelligence</a:t>
            </a:r>
            <a:endParaRPr lang="en-US" sz="1600" dirty="0"/>
          </a:p>
        </p:txBody>
      </p:sp>
      <p:sp>
        <p:nvSpPr>
          <p:cNvPr id="9" name="Text 7"/>
          <p:cNvSpPr/>
          <p:nvPr/>
        </p:nvSpPr>
        <p:spPr>
          <a:xfrm>
            <a:off x="1097280" y="4800600"/>
            <a:ext cx="9875520" cy="640080"/>
          </a:xfrm>
          <a:prstGeom prst="rect">
            <a:avLst/>
          </a:prstGeom>
          <a:noFill/>
          <a:ln/>
        </p:spPr>
        <p:txBody>
          <a:bodyPr wrap="square" rtlCol="0" anchor="ctr"/>
          <a:lstStyle/>
          <a:p>
            <a:pPr marL="0" indent="0">
              <a:lnSpc>
                <a:spcPts val="1800"/>
              </a:lnSpc>
              <a:buNone/>
            </a:pPr>
            <a:r>
              <a:rPr lang="en-US" sz="1200" dirty="0">
                <a:solidFill>
                  <a:srgbClr val="334155"/>
                </a:solidFill>
                <a:latin typeface="Arial" pitchFamily="34" charset="0"/>
                <a:ea typeface="Arial" pitchFamily="34" charset="-122"/>
                <a:cs typeface="Arial" pitchFamily="34" charset="-120"/>
              </a:rPr>
              <a:t>We are excited to partner with BITSoM Vertex to unlock $300 Billion in MSME credit.</a:t>
            </a:r>
            <a:endParaRPr lang="en-US" sz="1200" dirty="0"/>
          </a:p>
          <a:p>
            <a:pPr marL="0" indent="0">
              <a:lnSpc>
                <a:spcPts val="1800"/>
              </a:lnSpc>
              <a:buNone/>
            </a:pPr>
            <a:r>
              <a:rPr lang="en-US" sz="1200" dirty="0">
                <a:solidFill>
                  <a:srgbClr val="334155"/>
                </a:solidFill>
                <a:latin typeface="Arial" pitchFamily="34" charset="0"/>
                <a:ea typeface="Arial" pitchFamily="34" charset="-122"/>
                <a:cs typeface="Arial" pitchFamily="34" charset="-120"/>
              </a:rPr>
              <a:t>Ready for reviewer questions, prototype demonstration, and deep-dive technical evaluation.</a:t>
            </a:r>
            <a:endParaRPr lang="en-US" sz="1200" dirty="0"/>
          </a:p>
        </p:txBody>
      </p:sp>
      <p:sp>
        <p:nvSpPr>
          <p:cNvPr id="10" name="Text 8"/>
          <p:cNvSpPr/>
          <p:nvPr/>
        </p:nvSpPr>
        <p:spPr>
          <a:xfrm>
            <a:off x="1097280" y="5669280"/>
            <a:ext cx="9875520" cy="320040"/>
          </a:xfrm>
          <a:prstGeom prst="rect">
            <a:avLst/>
          </a:prstGeom>
          <a:noFill/>
          <a:ln/>
        </p:spPr>
        <p:txBody>
          <a:bodyPr wrap="square" rtlCol="0" anchor="ctr"/>
          <a:lstStyle/>
          <a:p>
            <a:pPr marL="0" indent="0">
              <a:buNone/>
            </a:pPr>
            <a:r>
              <a:rPr lang="en-US" sz="1100" dirty="0">
                <a:solidFill>
                  <a:srgbClr val="64748B"/>
                </a:solidFill>
                <a:latin typeface="Arial" pitchFamily="34" charset="0"/>
                <a:ea typeface="Arial" pitchFamily="34" charset="-122"/>
                <a:cs typeface="Arial" pitchFamily="34" charset="-120"/>
              </a:rPr>
              <a:t>Contact: daddy@enveraitech.com • Website: enveraitech.com • GitHub: github.com/Amaan-cmd/IDBI-Artificer</a:t>
            </a:r>
            <a:endParaRPr lang="en-US" sz="1100" dirty="0"/>
          </a:p>
        </p:txBody>
      </p:sp>
      <p:sp>
        <p:nvSpPr>
          <p:cNvPr id="11" name="Shape 9"/>
          <p:cNvSpPr/>
          <p:nvPr/>
        </p:nvSpPr>
        <p:spPr>
          <a:xfrm>
            <a:off x="0" y="6748272"/>
            <a:ext cx="12191695" cy="109728"/>
          </a:xfrm>
          <a:prstGeom prst="rect">
            <a:avLst/>
          </a:prstGeom>
          <a:solidFill>
            <a:srgbClr val="F05A28"/>
          </a:solidFill>
          <a:ln w="12700">
            <a:solidFill>
              <a:srgbClr val="F05A28"/>
            </a:solidFill>
            <a:prstDash val="solid"/>
          </a:ln>
        </p:spPr>
        <p:txBody>
          <a:bodyPr/>
          <a:lstStyle/>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2957</Words>
  <Application>Microsoft Office PowerPoint</Application>
  <PresentationFormat>Widescreen</PresentationFormat>
  <Paragraphs>187</Paragraphs>
  <Slides>13</Slides>
  <Notes>13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13</vt:i4>
      </vt:variant>
    </vt:vector>
  </HeadingPairs>
  <TitlesOfParts>
    <vt:vector size="15"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EnverAI Tech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EnverAI Artificer - BITSoM Vertex Builders Pitch Fest 2026</dc:title>
  <dc:subject>Autonomous MSME Credit Intelligence &amp; Underwriting Citadel</dc:subject>
  <dc:creator>EnverAI Tech Inc.</dc:creator>
  <cp:lastModifiedBy>Shaikh Amaan</cp:lastModifiedBy>
  <cp:revision>1</cp:revision>
  <dcterms:created xsi:type="dcterms:W3CDTF">2026-09-05T07:57:26Z</dcterms:created>
  <dcterms:modified xsi:type="dcterms:W3CDTF">2026-09-06T06:33:33Z</dcterms:modified>
</cp:coreProperties>
</file>